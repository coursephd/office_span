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ink/ink1.xml" ContentType="application/inkml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4.xml" ContentType="application/vnd.openxmlformats-officedocument.presentationml.notesSlide+xml"/>
  <Override PartName="/ppt/tags/tag37.xml" ContentType="application/vnd.openxmlformats-officedocument.presentationml.tags+xml"/>
  <Override PartName="/ppt/notesSlides/notesSlide5.xml" ContentType="application/vnd.openxmlformats-officedocument.presentationml.notesSlide+xml"/>
  <Override PartName="/ppt/ink/ink2.xml" ContentType="application/inkml+xml"/>
  <Override PartName="/ppt/tags/tag38.xml" ContentType="application/vnd.openxmlformats-officedocument.presentationml.tags+xml"/>
  <Override PartName="/ppt/notesSlides/notesSlide6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8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9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0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1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2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3.xml" ContentType="application/vnd.openxmlformats-officedocument.presentationml.notesSlide+xml"/>
  <Override PartName="/ppt/tags/tag102.xml" ContentType="application/vnd.openxmlformats-officedocument.presentationml.tags+xml"/>
  <Override PartName="/ppt/notesSlides/notesSlide14.xml" ContentType="application/vnd.openxmlformats-officedocument.presentationml.notesSlide+xml"/>
  <Override PartName="/ppt/ink/ink3.xml" ContentType="application/inkml+xml"/>
  <Override PartName="/ppt/tags/tag103.xml" ContentType="application/vnd.openxmlformats-officedocument.presentationml.tags+xml"/>
  <Override PartName="/ppt/notesSlides/notesSlide15.xml" ContentType="application/vnd.openxmlformats-officedocument.presentationml.notesSlide+xml"/>
  <Override PartName="/ppt/tags/tag104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23" r:id="rId2"/>
    <p:sldId id="373" r:id="rId3"/>
    <p:sldId id="334" r:id="rId4"/>
    <p:sldId id="327" r:id="rId5"/>
    <p:sldId id="328" r:id="rId6"/>
    <p:sldId id="371" r:id="rId7"/>
    <p:sldId id="374" r:id="rId8"/>
    <p:sldId id="335" r:id="rId9"/>
    <p:sldId id="336" r:id="rId10"/>
    <p:sldId id="369" r:id="rId11"/>
    <p:sldId id="345" r:id="rId12"/>
    <p:sldId id="346" r:id="rId13"/>
    <p:sldId id="353" r:id="rId14"/>
    <p:sldId id="354" r:id="rId15"/>
    <p:sldId id="361" r:id="rId16"/>
    <p:sldId id="362" r:id="rId17"/>
    <p:sldId id="355" r:id="rId18"/>
    <p:sldId id="356" r:id="rId19"/>
    <p:sldId id="357" r:id="rId20"/>
    <p:sldId id="358" r:id="rId21"/>
    <p:sldId id="370" r:id="rId22"/>
    <p:sldId id="366" r:id="rId23"/>
    <p:sldId id="367" r:id="rId24"/>
    <p:sldId id="350" r:id="rId25"/>
  </p:sldIdLst>
  <p:sldSz cx="9144000" cy="6858000" type="screen4x3"/>
  <p:notesSz cx="6794500" cy="990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orient="horz" pos="3744" userDrawn="1">
          <p15:clr>
            <a:srgbClr val="A4A3A4"/>
          </p15:clr>
        </p15:guide>
        <p15:guide id="3" orient="horz" pos="3792" userDrawn="1">
          <p15:clr>
            <a:srgbClr val="A4A3A4"/>
          </p15:clr>
        </p15:guide>
        <p15:guide id="4" pos="1728" userDrawn="1">
          <p15:clr>
            <a:srgbClr val="A4A3A4"/>
          </p15:clr>
        </p15:guide>
        <p15:guide id="5" pos="2928" userDrawn="1">
          <p15:clr>
            <a:srgbClr val="A4A3A4"/>
          </p15:clr>
        </p15:guide>
        <p15:guide id="6" pos="576" userDrawn="1">
          <p15:clr>
            <a:srgbClr val="A4A3A4"/>
          </p15:clr>
        </p15:guide>
        <p15:guide id="7" pos="2832" userDrawn="1">
          <p15:clr>
            <a:srgbClr val="A4A3A4"/>
          </p15:clr>
        </p15:guide>
        <p15:guide id="8" pos="3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25" userDrawn="1">
          <p15:clr>
            <a:srgbClr val="A4A3A4"/>
          </p15:clr>
        </p15:guide>
        <p15:guide id="2" pos="2253" userDrawn="1">
          <p15:clr>
            <a:srgbClr val="A4A3A4"/>
          </p15:clr>
        </p15:guide>
        <p15:guide id="3" orient="horz" pos="2952" userDrawn="1">
          <p15:clr>
            <a:srgbClr val="A4A3A4"/>
          </p15:clr>
        </p15:guide>
        <p15:guide id="4" pos="2232" userDrawn="1">
          <p15:clr>
            <a:srgbClr val="A4A3A4"/>
          </p15:clr>
        </p15:guide>
        <p15:guide id="5" orient="horz" pos="2880">
          <p15:clr>
            <a:srgbClr val="A4A3A4"/>
          </p15:clr>
        </p15:guide>
        <p15:guide id="6" orient="horz" pos="3120">
          <p15:clr>
            <a:srgbClr val="A4A3A4"/>
          </p15:clr>
        </p15:guide>
        <p15:guide id="7" pos="2160">
          <p15:clr>
            <a:srgbClr val="A4A3A4"/>
          </p15:clr>
        </p15:guide>
        <p15:guide id="8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ornhoefer, Claudia" initials="DC" lastIdx="16" clrIdx="0"/>
  <p:cmAuthor id="1" name="Linares, Gonzalo" initials="LG" lastIdx="1" clrIdx="1"/>
  <p:cmAuthor id="2" name="Gallagher, James" initials="GJ" lastIdx="5" clrIdx="2"/>
  <p:cmAuthor id="3" name="Kenny, Dermot" initials="KD" lastIdx="8" clrIdx="3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93C7"/>
    <a:srgbClr val="3983BD"/>
    <a:srgbClr val="0099FF"/>
    <a:srgbClr val="006666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5780E6-A8F4-46B0-B82D-9E7F56C639EF}">
  <a:tblStyle styleId="{1C5780E6-A8F4-46B0-B82D-9E7F56C639EF}" styleName="Novartis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646464"/>
              </a:solidFill>
            </a:ln>
          </a:top>
          <a:bottom>
            <a:ln w="6350">
              <a:solidFill>
                <a:srgbClr val="646464"/>
              </a:solidFill>
            </a:ln>
          </a:bottom>
          <a:insideH>
            <a:ln w="6350">
              <a:solidFill>
                <a:srgbClr val="64646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noFill/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 b="on">
        <a:fontRef idx="minor"/>
        <a:srgbClr val="000000"/>
      </a:tcTxStyle>
      <a:tcStyle>
        <a:tcBdr/>
      </a:tcStyle>
    </a:lastCol>
    <a:firstCol>
      <a:tcTxStyle b="on">
        <a:fontRef idx="minor"/>
        <a:srgbClr val="000000"/>
      </a:tcTxStyle>
      <a:tcStyle>
        <a:tcBdr/>
      </a:tcStyle>
    </a:firstCol>
    <a:lastRow>
      <a:tcTxStyle b="on">
        <a:fontRef idx="min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inor"/>
        <a:srgbClr val="0460A9"/>
      </a:tcTxStyle>
      <a:tcStyle>
        <a:tcBdr>
          <a:top>
            <a:ln>
              <a:noFill/>
            </a:ln>
          </a:top>
          <a:bottom>
            <a:ln w="19050">
              <a:solidFill>
                <a:srgbClr val="0460A9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2987" autoAdjust="0"/>
  </p:normalViewPr>
  <p:slideViewPr>
    <p:cSldViewPr showGuides="1">
      <p:cViewPr varScale="1">
        <p:scale>
          <a:sx n="79" d="100"/>
          <a:sy n="79" d="100"/>
        </p:scale>
        <p:origin x="1541" y="82"/>
      </p:cViewPr>
      <p:guideLst>
        <p:guide orient="horz" pos="288"/>
        <p:guide orient="horz" pos="3744"/>
        <p:guide orient="horz" pos="3792"/>
        <p:guide pos="1728"/>
        <p:guide pos="2928"/>
        <p:guide pos="576"/>
        <p:guide pos="2832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07" d="100"/>
          <a:sy n="107" d="100"/>
        </p:scale>
        <p:origin x="-5200" y="-104"/>
      </p:cViewPr>
      <p:guideLst>
        <p:guide orient="horz" pos="2725"/>
        <p:guide pos="2253"/>
        <p:guide orient="horz" pos="2952"/>
        <p:guide pos="2232"/>
        <p:guide orient="horz" pos="2880"/>
        <p:guide orient="horz" pos="3120"/>
        <p:guide pos="216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PHCHBS-S3047.EU.NOVARTIS.NET\HINESCH2$\data\DO\Webcasts\James%20of%20Copy%20of%20Acheivements%20in%20Q3-Q4%202017_Collated%20(00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695772610467907"/>
          <c:y val="1.0864477812991857E-2"/>
          <c:w val="0.78700991536562415"/>
          <c:h val="0.78919880763649164"/>
        </c:manualLayout>
      </c:layout>
      <c:barChart>
        <c:barDir val="bar"/>
        <c:grouping val="stacked"/>
        <c:varyColors val="0"/>
        <c:ser>
          <c:idx val="0"/>
          <c:order val="0"/>
          <c:tx>
            <c:v>All clusters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Visual!$M$5:$M$17</c:f>
              <c:strCache>
                <c:ptCount val="13"/>
                <c:pt idx="0">
                  <c:v>Approval</c:v>
                </c:pt>
                <c:pt idx="1">
                  <c:v>CRT</c:v>
                </c:pt>
                <c:pt idx="2">
                  <c:v>CSR</c:v>
                </c:pt>
                <c:pt idx="3">
                  <c:v>FIR</c:v>
                </c:pt>
                <c:pt idx="4">
                  <c:v>SCS/SCE</c:v>
                </c:pt>
                <c:pt idx="5">
                  <c:v>Submission</c:v>
                </c:pt>
                <c:pt idx="6">
                  <c:v>DCF</c:v>
                </c:pt>
                <c:pt idx="7">
                  <c:v>Other</c:v>
                </c:pt>
                <c:pt idx="8">
                  <c:v>DBL</c:v>
                </c:pt>
                <c:pt idx="9">
                  <c:v>Go-Live</c:v>
                </c:pt>
                <c:pt idx="10">
                  <c:v>iDBL </c:v>
                </c:pt>
                <c:pt idx="11">
                  <c:v>PMDA GCP inspection</c:v>
                </c:pt>
                <c:pt idx="12">
                  <c:v>Snapshot</c:v>
                </c:pt>
              </c:strCache>
            </c:strRef>
          </c:cat>
          <c:val>
            <c:numRef>
              <c:f>Visual!$N$5:$N$17</c:f>
              <c:numCache>
                <c:formatCode>General</c:formatCode>
                <c:ptCount val="13"/>
                <c:pt idx="0">
                  <c:v>8</c:v>
                </c:pt>
                <c:pt idx="1">
                  <c:v>3</c:v>
                </c:pt>
                <c:pt idx="2">
                  <c:v>24</c:v>
                </c:pt>
                <c:pt idx="3">
                  <c:v>13</c:v>
                </c:pt>
                <c:pt idx="4">
                  <c:v>10</c:v>
                </c:pt>
                <c:pt idx="5">
                  <c:v>18</c:v>
                </c:pt>
                <c:pt idx="6">
                  <c:v>5</c:v>
                </c:pt>
                <c:pt idx="7">
                  <c:v>24</c:v>
                </c:pt>
                <c:pt idx="8">
                  <c:v>18</c:v>
                </c:pt>
                <c:pt idx="9">
                  <c:v>13</c:v>
                </c:pt>
                <c:pt idx="10">
                  <c:v>2</c:v>
                </c:pt>
                <c:pt idx="11">
                  <c:v>1</c:v>
                </c:pt>
                <c:pt idx="12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F90-4443-BB4F-94CF8DE90EE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73075904"/>
        <c:axId val="373079040"/>
      </c:barChart>
      <c:catAx>
        <c:axId val="3730759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3079040"/>
        <c:crosses val="autoZero"/>
        <c:auto val="1"/>
        <c:lblAlgn val="ctr"/>
        <c:lblOffset val="100"/>
        <c:noMultiLvlLbl val="0"/>
      </c:catAx>
      <c:valAx>
        <c:axId val="373079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3075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B60FF-ACF0-5A4A-9C79-4881E6B16567}" type="datetimeFigureOut">
              <a:rPr lang="en-US" smtClean="0">
                <a:latin typeface="Arial"/>
              </a:rPr>
              <a:pPr/>
              <a:t>11/10/2017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BA786-EB35-BA4C-A7F7-24740D3067F1}" type="slidenum">
              <a:rPr lang="en-US" smtClean="0">
                <a:latin typeface="Arial"/>
              </a:rPr>
              <a:pPr/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9947232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86" units="cm"/>
          <inkml:channel name="Y" type="integer" max="1579" units="cm"/>
          <inkml:channel name="T" type="integer" max="2.14748E9" units="dev"/>
        </inkml:traceFormat>
        <inkml:channelProperties>
          <inkml:channelProperty channel="X" name="resolution" value="101.08853" units="1/cm"/>
          <inkml:channelProperty channel="Y" name="resolution" value="101.93674" units="1/cm"/>
          <inkml:channelProperty channel="T" name="resolution" value="1" units="1/dev"/>
        </inkml:channelProperties>
      </inkml:inkSource>
      <inkml:timestamp xml:id="ts0" timeString="2017-09-08T13:38:38.229"/>
    </inkml:context>
    <inkml:brush xml:id="br0">
      <inkml:brushProperty name="width" value="0.05833" units="cm"/>
      <inkml:brushProperty name="height" value="0.05833" units="cm"/>
      <inkml:brushProperty name="color" value="#FFFFFF"/>
      <inkml:brushProperty name="fitToCurve" value="1"/>
    </inkml:brush>
  </inkml:definitions>
  <inkml:trace contextRef="#ctx0" brushRef="#br0">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86" units="cm"/>
          <inkml:channel name="Y" type="integer" max="1579" units="cm"/>
          <inkml:channel name="T" type="integer" max="2.14748E9" units="dev"/>
        </inkml:traceFormat>
        <inkml:channelProperties>
          <inkml:channelProperty channel="X" name="resolution" value="101.08853" units="1/cm"/>
          <inkml:channelProperty channel="Y" name="resolution" value="101.93674" units="1/cm"/>
          <inkml:channelProperty channel="T" name="resolution" value="1" units="1/dev"/>
        </inkml:channelProperties>
      </inkml:inkSource>
      <inkml:timestamp xml:id="ts0" timeString="2017-09-08T13:38:38.229"/>
    </inkml:context>
    <inkml:brush xml:id="br0">
      <inkml:brushProperty name="width" value="0.05833" units="cm"/>
      <inkml:brushProperty name="height" value="0.05833" units="cm"/>
      <inkml:brushProperty name="color" value="#FFFFFF"/>
      <inkml:brushProperty name="fitToCurve" value="1"/>
    </inkml:brush>
  </inkml:definitions>
  <inkml:trace contextRef="#ctx0" brushRef="#br0">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86" units="cm"/>
          <inkml:channel name="Y" type="integer" max="1579" units="cm"/>
          <inkml:channel name="T" type="integer" max="2.14748E9" units="dev"/>
        </inkml:traceFormat>
        <inkml:channelProperties>
          <inkml:channelProperty channel="X" name="resolution" value="101.08853" units="1/cm"/>
          <inkml:channelProperty channel="Y" name="resolution" value="101.93674" units="1/cm"/>
          <inkml:channelProperty channel="T" name="resolution" value="1" units="1/dev"/>
        </inkml:channelProperties>
      </inkml:inkSource>
      <inkml:timestamp xml:id="ts0" timeString="2017-09-08T13:38:38.229"/>
    </inkml:context>
    <inkml:brush xml:id="br0">
      <inkml:brushProperty name="width" value="0.05833" units="cm"/>
      <inkml:brushProperty name="height" value="0.05833" units="cm"/>
      <inkml:brushProperty name="color" value="#FFFFFF"/>
      <inkml:brushProperty name="fitToCurve" value="1"/>
    </inkml:brush>
  </inkml:definitions>
  <inkml:trace contextRef="#ctx0" brushRef="#br0">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0C4595FF-6E7F-4C41-B8DF-4AE76FC1F075}" type="datetimeFigureOut">
              <a:rPr lang="en-US" smtClean="0"/>
              <a:pPr/>
              <a:t>11/10/2017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5A6330BE-D91A-D240-B266-E5D5F99B4CC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316716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smtClean="0"/>
              <a:t>	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1940566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36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4144724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1940566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14513" y="1027113"/>
            <a:ext cx="6845300" cy="5133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170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2393212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3375607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158076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495582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1137256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2301617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1582847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13093" y="6278145"/>
            <a:ext cx="5162910" cy="2623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1940566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14513" y="1027113"/>
            <a:ext cx="6845300" cy="5133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092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14513" y="1027113"/>
            <a:ext cx="6845300" cy="5133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75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" y="457200"/>
            <a:ext cx="7770813" cy="379476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25000"/>
              <a:buFont typeface="Arial" pitchFamily="34" charset="0"/>
              <a:buNone/>
              <a:tabLst>
                <a:tab pos="3998913" algn="r"/>
                <a:tab pos="8229600" algn="r"/>
              </a:tabLst>
              <a:defRPr sz="12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965960" y="4389120"/>
            <a:ext cx="6490654" cy="960120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965958" y="5440680"/>
            <a:ext cx="4343400" cy="109728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0" y="914400"/>
            <a:ext cx="1965960" cy="777240"/>
          </a:xfrm>
          <a:solidFill>
            <a:schemeClr val="accent1"/>
          </a:solidFill>
        </p:spPr>
        <p:txBody>
          <a:bodyPr lIns="274320" tIns="91440" rIns="91440" bIns="91440" anchor="ctr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000" b="1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Business or Operating Unit/Franchise or Department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8" name="Straight Connector 7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9189720" y="16916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-137160" y="16916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9189720" y="9144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-137160" y="9144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68" y="6266013"/>
            <a:ext cx="1645919" cy="3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1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965960" y="2331720"/>
            <a:ext cx="6490654" cy="2286000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965960" y="4709161"/>
            <a:ext cx="6490654" cy="132492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0" y="914400"/>
            <a:ext cx="1965960" cy="777240"/>
          </a:xfrm>
          <a:solidFill>
            <a:schemeClr val="accent1"/>
          </a:solidFill>
        </p:spPr>
        <p:txBody>
          <a:bodyPr lIns="274320" tIns="91440" rIns="91440" bIns="91440" anchor="ctr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000" b="1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Business or Operating Unit/Franchise or Department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22" name="Straight Connector 21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189720" y="16916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137160" y="16916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189720" y="9144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-137160" y="9144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68" y="6266013"/>
            <a:ext cx="1645919" cy="3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11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2438" indent="-452438">
              <a:buSzPct val="100000"/>
              <a:buFont typeface="+mj-lt"/>
              <a:buAutoNum type="arabicPeriod"/>
              <a:defRPr/>
            </a:lvl1pPr>
            <a:lvl2pPr marL="684213" indent="-231775">
              <a:defRPr/>
            </a:lvl2pPr>
            <a:lvl3pPr marL="914400" indent="-230188">
              <a:defRPr/>
            </a:lvl3pPr>
            <a:lvl4pPr marL="1146175" indent="-231775">
              <a:defRPr/>
            </a:lvl4pPr>
            <a:lvl5pPr marL="1368425" indent="-22225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6307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836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08761"/>
            <a:ext cx="3794760" cy="452532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508761"/>
            <a:ext cx="3794760" cy="452532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4697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3440" y="5623561"/>
            <a:ext cx="379476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08761"/>
            <a:ext cx="3794760" cy="452532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4663440" y="1508761"/>
            <a:ext cx="379476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73834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1508761"/>
            <a:ext cx="7772400" cy="45383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2400" b="0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5623561"/>
            <a:ext cx="777240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685800" y="2057400"/>
            <a:ext cx="777240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2662087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5623561"/>
            <a:ext cx="379476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663440" y="5623561"/>
            <a:ext cx="379476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1508761"/>
            <a:ext cx="7772400" cy="45383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2400" b="0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title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685800" y="2057400"/>
            <a:ext cx="379476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9" hasCustomPrompt="1"/>
          </p:nvPr>
        </p:nvSpPr>
        <p:spPr>
          <a:xfrm>
            <a:off x="4663440" y="2057400"/>
            <a:ext cx="379476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362364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5623561"/>
            <a:ext cx="24688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337560" y="5623561"/>
            <a:ext cx="24688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989320" y="5623561"/>
            <a:ext cx="24688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1508761"/>
            <a:ext cx="7772400" cy="45383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2400" b="0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title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22" hasCustomPrompt="1"/>
          </p:nvPr>
        </p:nvSpPr>
        <p:spPr>
          <a:xfrm>
            <a:off x="685800" y="2057400"/>
            <a:ext cx="24688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23" hasCustomPrompt="1"/>
          </p:nvPr>
        </p:nvSpPr>
        <p:spPr>
          <a:xfrm>
            <a:off x="3337560" y="2057400"/>
            <a:ext cx="24688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half" idx="24" hasCustomPrompt="1"/>
          </p:nvPr>
        </p:nvSpPr>
        <p:spPr>
          <a:xfrm>
            <a:off x="5989320" y="2057400"/>
            <a:ext cx="24688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119340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508761"/>
            <a:ext cx="3794760" cy="452532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Font typeface="Arial"/>
              <a:buNone/>
              <a:defRPr sz="44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5623561"/>
            <a:ext cx="379476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Optional picture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685800" y="1508761"/>
            <a:ext cx="379476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Insert picture. Get approved pictures at http://</a:t>
            </a:r>
            <a:r>
              <a:rPr lang="en-US" dirty="0" err="1"/>
              <a:t>www.novartisbrandlab.com</a:t>
            </a:r>
            <a:r>
              <a:rPr lang="en-US" dirty="0"/>
              <a:t>/resources/library</a:t>
            </a:r>
          </a:p>
        </p:txBody>
      </p:sp>
    </p:spTree>
    <p:extLst>
      <p:ext uri="{BB962C8B-B14F-4D97-AF65-F5344CB8AC3E}">
        <p14:creationId xmlns:p14="http://schemas.microsoft.com/office/powerpoint/2010/main" val="81862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965960" y="4389120"/>
            <a:ext cx="6490654" cy="960120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965960" y="5440680"/>
            <a:ext cx="4343400" cy="109728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5" name="Straight Connector 24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4"/>
          <p:cNvSpPr>
            <a:spLocks noGrp="1"/>
          </p:cNvSpPr>
          <p:nvPr>
            <p:ph type="pic" sz="quarter" idx="13" hasCustomPrompt="1"/>
          </p:nvPr>
        </p:nvSpPr>
        <p:spPr bwMode="hidden">
          <a:xfrm>
            <a:off x="685800" y="455613"/>
            <a:ext cx="7770813" cy="379476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 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68" y="6266013"/>
            <a:ext cx="1645919" cy="3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15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965960" y="2331720"/>
            <a:ext cx="6490654" cy="2286000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965960" y="4709161"/>
            <a:ext cx="6490654" cy="132492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5" name="Straight Connector 24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68" y="6266013"/>
            <a:ext cx="1645919" cy="3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7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24254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52009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965959" y="4389120"/>
            <a:ext cx="6492241" cy="9601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dirty="0"/>
              <a:t>Thank</a:t>
            </a:r>
            <a:r>
              <a:rPr lang="en-US" baseline="0" dirty="0"/>
              <a:t> you</a:t>
            </a:r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3" hasCustomPrompt="1"/>
          </p:nvPr>
        </p:nvSpPr>
        <p:spPr bwMode="hidden">
          <a:xfrm>
            <a:off x="685800" y="455613"/>
            <a:ext cx="7770813" cy="379476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14" name="Straight Connector 13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68" y="6266013"/>
            <a:ext cx="1645919" cy="3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1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" y="0"/>
            <a:ext cx="1508759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 userDrawn="1"/>
        </p:nvSpPr>
        <p:spPr>
          <a:xfrm>
            <a:off x="1965959" y="2331720"/>
            <a:ext cx="6492241" cy="228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dirty="0"/>
              <a:t>Thank</a:t>
            </a:r>
            <a:r>
              <a:rPr lang="en-US" baseline="0" dirty="0"/>
              <a:t> you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19" name="Straight Connector 18"/>
            <p:cNvCxnSpPr/>
            <p:nvPr userDrawn="1"/>
          </p:nvCxnSpPr>
          <p:spPr>
            <a:xfrm flipV="1">
              <a:off x="1508857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 flipV="1">
              <a:off x="1508857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 flipV="1">
              <a:off x="19659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 flipV="1">
              <a:off x="19659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68" y="6266013"/>
            <a:ext cx="1645919" cy="3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6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ovartis_CF_NOV818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605" y="1605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05" y="1605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8" y="17"/>
            <a:ext cx="1508857" cy="6858000"/>
          </a:xfrm>
          <a:prstGeom prst="rect">
            <a:avLst/>
          </a:prstGeom>
        </p:spPr>
      </p:pic>
      <p:sp>
        <p:nvSpPr>
          <p:cNvPr id="3" name="Rectangle 2"/>
          <p:cNvSpPr>
            <a:spLocks/>
          </p:cNvSpPr>
          <p:nvPr userDrawn="1"/>
        </p:nvSpPr>
        <p:spPr bwMode="ltGray">
          <a:xfrm>
            <a:off x="687405" y="457200"/>
            <a:ext cx="7770813" cy="3794760"/>
          </a:xfrm>
          <a:prstGeom prst="rect">
            <a:avLst/>
          </a:prstGeom>
          <a:solidFill>
            <a:srgbClr val="CCCCC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76" tIns="45638" rIns="91276" bIns="45638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0574" y="6266021"/>
            <a:ext cx="1645919" cy="300519"/>
          </a:xfrm>
          <a:prstGeom prst="rect">
            <a:avLst/>
          </a:prstGeom>
        </p:spPr>
      </p:pic>
      <p:grpSp>
        <p:nvGrpSpPr>
          <p:cNvPr id="8" name="McK Title Elements" hidden="1"/>
          <p:cNvGrpSpPr>
            <a:grpSpLocks/>
          </p:cNvGrpSpPr>
          <p:nvPr userDrawn="1"/>
        </p:nvGrpSpPr>
        <p:grpSpPr bwMode="auto">
          <a:xfrm>
            <a:off x="2034763" y="5624390"/>
            <a:ext cx="6421867" cy="494023"/>
            <a:chOff x="1663" y="3106"/>
            <a:chExt cx="3109" cy="305"/>
          </a:xfrm>
        </p:grpSpPr>
        <p:sp>
          <p:nvSpPr>
            <p:cNvPr id="9" name="McK Document type"/>
            <p:cNvSpPr txBox="1">
              <a:spLocks noChangeArrowheads="1"/>
            </p:cNvSpPr>
            <p:nvPr/>
          </p:nvSpPr>
          <p:spPr bwMode="auto">
            <a:xfrm>
              <a:off x="1663" y="3106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baseline="0" noProof="0" dirty="0">
                  <a:latin typeface="+mn-lt"/>
                </a:rPr>
                <a:t>Document type</a:t>
              </a:r>
            </a:p>
          </p:txBody>
        </p:sp>
        <p:sp>
          <p:nvSpPr>
            <p:cNvPr id="10" name="McK Date"/>
            <p:cNvSpPr txBox="1">
              <a:spLocks noChangeArrowheads="1"/>
            </p:cNvSpPr>
            <p:nvPr/>
          </p:nvSpPr>
          <p:spPr bwMode="auto">
            <a:xfrm>
              <a:off x="1663" y="3275"/>
              <a:ext cx="3109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400" baseline="0" noProof="0" dirty="0">
                  <a:latin typeface="+mn-lt"/>
                </a:rPr>
                <a:t>Date</a:t>
              </a:r>
            </a:p>
          </p:txBody>
        </p:sp>
      </p:grpSp>
      <p:sp>
        <p:nvSpPr>
          <p:cNvPr id="13314" name="Rectangle 1026"/>
          <p:cNvSpPr>
            <a:spLocks noGrp="1" noChangeArrowheads="1"/>
          </p:cNvSpPr>
          <p:nvPr userDrawn="1">
            <p:ph type="ctrTitle"/>
          </p:nvPr>
        </p:nvSpPr>
        <p:spPr bwMode="auto">
          <a:xfrm>
            <a:off x="2034763" y="4353668"/>
            <a:ext cx="6421867" cy="430887"/>
          </a:xfrm>
          <a:prstGeom prst="rect">
            <a:avLst/>
          </a:prstGeom>
        </p:spPr>
        <p:txBody>
          <a:bodyPr/>
          <a:lstStyle>
            <a:lvl1pPr>
              <a:defRPr sz="2800" b="0" baseline="0">
                <a:latin typeface="+mj-lt"/>
                <a:ea typeface="+mj-ea"/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315" name="Rectangle 1027"/>
          <p:cNvSpPr>
            <a:spLocks noGrp="1" noChangeArrowheads="1"/>
          </p:cNvSpPr>
          <p:nvPr userDrawn="1">
            <p:ph type="subTitle" idx="1"/>
          </p:nvPr>
        </p:nvSpPr>
        <p:spPr bwMode="auto">
          <a:xfrm>
            <a:off x="2034763" y="5094545"/>
            <a:ext cx="6421867" cy="219820"/>
          </a:xfrm>
        </p:spPr>
        <p:txBody>
          <a:bodyPr>
            <a:spAutoFit/>
          </a:bodyPr>
          <a:lstStyle>
            <a:lvl1pPr>
              <a:defRPr sz="1400" baseline="0"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9" name="doc id"/>
          <p:cNvSpPr>
            <a:spLocks noChangeArrowheads="1"/>
          </p:cNvSpPr>
          <p:nvPr userDrawn="1"/>
        </p:nvSpPr>
        <p:spPr bwMode="auto">
          <a:xfrm>
            <a:off x="7787586" y="37255"/>
            <a:ext cx="670614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1784"/>
            <a:endParaRPr lang="en-US" sz="800" baseline="0" noProof="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685800" y="457200"/>
            <a:ext cx="7772400" cy="3794760"/>
          </a:xfrm>
          <a:prstGeom prst="rect">
            <a:avLst/>
          </a:prstGeom>
        </p:spPr>
      </p:pic>
      <p:sp>
        <p:nvSpPr>
          <p:cNvPr id="17" name="Rectangle 16"/>
          <p:cNvSpPr>
            <a:spLocks/>
          </p:cNvSpPr>
          <p:nvPr userDrawn="1"/>
        </p:nvSpPr>
        <p:spPr bwMode="ltGray">
          <a:xfrm>
            <a:off x="0" y="914413"/>
            <a:ext cx="1965960" cy="777240"/>
          </a:xfrm>
          <a:prstGeom prst="rect">
            <a:avLst/>
          </a:prstGeom>
          <a:solidFill>
            <a:srgbClr val="0460A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76" tIns="45638" rIns="91276" bIns="45638" rtlCol="0" anchor="ctr"/>
          <a:lstStyle/>
          <a:p>
            <a:pPr marL="172726" lvl="0" indent="0"/>
            <a:r>
              <a:rPr lang="en-US" sz="1000" b="1" baseline="0" dirty="0"/>
              <a:t>Global Development Operations</a:t>
            </a:r>
          </a:p>
        </p:txBody>
      </p:sp>
    </p:spTree>
    <p:extLst>
      <p:ext uri="{BB962C8B-B14F-4D97-AF65-F5344CB8AC3E}">
        <p14:creationId xmlns:p14="http://schemas.microsoft.com/office/powerpoint/2010/main" val="442172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193449"/>
            <a:ext cx="8503920" cy="533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6071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04192"/>
            <a:ext cx="7772400" cy="720000"/>
          </a:xfrm>
          <a:prstGeom prst="rect">
            <a:avLst/>
          </a:prstGeom>
        </p:spPr>
        <p:txBody>
          <a:bodyPr lIns="0" r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00808"/>
            <a:ext cx="7772400" cy="446449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85800" y="6627600"/>
            <a:ext cx="230400" cy="230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>
              <a:defRPr sz="700">
                <a:solidFill>
                  <a:srgbClr val="7F7F7F"/>
                </a:solidFill>
              </a:defRPr>
            </a:lvl1pPr>
          </a:lstStyle>
          <a:p>
            <a:pPr lvl="0"/>
            <a:fld id="{47547CF9-5B10-D24F-A8D7-45A9778164F7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9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685800" y="1225260"/>
            <a:ext cx="7772400" cy="298329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slide title here</a:t>
            </a:r>
          </a:p>
        </p:txBody>
      </p:sp>
    </p:spTree>
    <p:extLst>
      <p:ext uri="{BB962C8B-B14F-4D97-AF65-F5344CB8AC3E}">
        <p14:creationId xmlns:p14="http://schemas.microsoft.com/office/powerpoint/2010/main" val="106579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</p:spPr>
        <p:txBody>
          <a:bodyPr vert="horz" lIns="0" tIns="0" rIns="0" bIns="0" spcCol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68" y="6266013"/>
            <a:ext cx="1645919" cy="300519"/>
          </a:xfrm>
          <a:prstGeom prst="rect">
            <a:avLst/>
          </a:prstGeom>
        </p:spPr>
      </p:pic>
      <p:sp>
        <p:nvSpPr>
          <p:cNvPr id="10" name="Footer Placeholder 4"/>
          <p:cNvSpPr txBox="1">
            <a:spLocks/>
          </p:cNvSpPr>
          <p:nvPr/>
        </p:nvSpPr>
        <p:spPr>
          <a:xfrm>
            <a:off x="685800" y="6350635"/>
            <a:ext cx="594360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b="1" kern="1200">
                <a:solidFill>
                  <a:srgbClr val="0460A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accent1"/>
                </a:solidFill>
              </a:rPr>
              <a:t>GDO</a:t>
            </a:r>
            <a:r>
              <a:rPr lang="en-US" sz="1200" baseline="0" dirty="0">
                <a:solidFill>
                  <a:schemeClr val="accent1"/>
                </a:solidFill>
              </a:rPr>
              <a:t> - Data Operations </a:t>
            </a:r>
            <a:endParaRPr lang="en-US" sz="1200" dirty="0">
              <a:solidFill>
                <a:schemeClr val="accent1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12" name="Straight Connector 11"/>
            <p:cNvCxnSpPr/>
            <p:nvPr userDrawn="1"/>
          </p:nvCxnSpPr>
          <p:spPr>
            <a:xfrm flipV="1">
              <a:off x="6858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flipV="1">
              <a:off x="845820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 flipV="1">
              <a:off x="6858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845820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 flipV="1">
              <a:off x="448056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 flipV="1">
              <a:off x="448056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 flipV="1">
              <a:off x="4663440" y="-13716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 flipV="1">
              <a:off x="4663440" y="6903720"/>
              <a:ext cx="0" cy="9144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9189720" y="150876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189720" y="60350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-137160" y="150876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137160" y="603504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9189720" y="4572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-137160" y="457200"/>
              <a:ext cx="91440" cy="0"/>
            </a:xfrm>
            <a:prstGeom prst="line">
              <a:avLst/>
            </a:prstGeom>
            <a:ln w="6350">
              <a:solidFill>
                <a:srgbClr val="7373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85800" y="6629400"/>
            <a:ext cx="2286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en-US" sz="700" smtClean="0">
                <a:solidFill>
                  <a:srgbClr val="7F7F7F"/>
                </a:solidFill>
              </a:defRPr>
            </a:lvl1pPr>
          </a:lstStyle>
          <a:p>
            <a:fld id="{47547CF9-5B10-D24F-A8D7-45A9778164F7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lvl1pPr>
              <a:defRPr lang="en-US" sz="700" dirty="0">
                <a:solidFill>
                  <a:srgbClr val="7F7F7F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2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62" r:id="rId3"/>
    <p:sldLayoutId id="2147483650" r:id="rId4"/>
    <p:sldLayoutId id="2147483652" r:id="rId5"/>
    <p:sldLayoutId id="2147483667" r:id="rId6"/>
    <p:sldLayoutId id="2147483663" r:id="rId7"/>
    <p:sldLayoutId id="2147483664" r:id="rId8"/>
    <p:sldLayoutId id="2147483665" r:id="rId9"/>
    <p:sldLayoutId id="2147483666" r:id="rId10"/>
    <p:sldLayoutId id="2147483651" r:id="rId11"/>
    <p:sldLayoutId id="2147483673" r:id="rId12"/>
    <p:sldLayoutId id="2147483670" r:id="rId13"/>
    <p:sldLayoutId id="2147483671" r:id="rId14"/>
    <p:sldLayoutId id="2147483669" r:id="rId15"/>
    <p:sldLayoutId id="2147483668" r:id="rId16"/>
    <p:sldLayoutId id="2147483674" r:id="rId17"/>
    <p:sldLayoutId id="2147483675" r:id="rId18"/>
    <p:sldLayoutId id="2147483676" r:id="rId19"/>
  </p:sldLayoutIdLs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200"/>
        </a:spcBef>
        <a:buClrTx/>
        <a:buSzPct val="120000"/>
        <a:buFont typeface="Arial" pitchFamily="34" charset="0"/>
        <a:buChar char="•"/>
        <a:tabLst>
          <a:tab pos="3998913" algn="r"/>
          <a:tab pos="8229600" algn="r"/>
        </a:tabLs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slideLayout" Target="../slideLayouts/slideLayout13.xml"/><Relationship Id="rId7" Type="http://schemas.openxmlformats.org/officeDocument/2006/relationships/customXml" Target="../ink/ink1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34" Type="http://schemas.openxmlformats.org/officeDocument/2006/relationships/notesSlide" Target="../notesSlides/notesSlide4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1" Type="http://schemas.openxmlformats.org/officeDocument/2006/relationships/vmlDrawing" Target="../drawings/vmlDrawing5.v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36" Type="http://schemas.openxmlformats.org/officeDocument/2006/relationships/image" Target="../media/image9.emf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35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13.xml"/><Relationship Id="rId7" Type="http://schemas.openxmlformats.org/officeDocument/2006/relationships/customXml" Target="../ink/ink2.xml"/><Relationship Id="rId2" Type="http://schemas.openxmlformats.org/officeDocument/2006/relationships/tags" Target="../tags/tag3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image" Target="../media/image9.emf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oleObject" Target="../embeddings/oleObject8.bin"/><Relationship Id="rId2" Type="http://schemas.openxmlformats.org/officeDocument/2006/relationships/tags" Target="../tags/tag39.xml"/><Relationship Id="rId1" Type="http://schemas.openxmlformats.org/officeDocument/2006/relationships/vmlDrawing" Target="../drawings/vmlDrawing8.vml"/><Relationship Id="rId6" Type="http://schemas.openxmlformats.org/officeDocument/2006/relationships/tags" Target="../tags/tag43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42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image" Target="../media/image9.emf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oleObject" Target="../embeddings/oleObject9.bin"/><Relationship Id="rId2" Type="http://schemas.openxmlformats.org/officeDocument/2006/relationships/tags" Target="../tags/tag47.xml"/><Relationship Id="rId1" Type="http://schemas.openxmlformats.org/officeDocument/2006/relationships/vmlDrawing" Target="../drawings/vmlDrawing9.vml"/><Relationship Id="rId6" Type="http://schemas.openxmlformats.org/officeDocument/2006/relationships/tags" Target="../tags/tag51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50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image" Target="../media/image9.emf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oleObject" Target="../embeddings/oleObject10.bin"/><Relationship Id="rId2" Type="http://schemas.openxmlformats.org/officeDocument/2006/relationships/tags" Target="../tags/tag55.xml"/><Relationship Id="rId1" Type="http://schemas.openxmlformats.org/officeDocument/2006/relationships/vmlDrawing" Target="../drawings/vmlDrawing10.vml"/><Relationship Id="rId6" Type="http://schemas.openxmlformats.org/officeDocument/2006/relationships/tags" Target="../tags/tag59.xml"/><Relationship Id="rId11" Type="http://schemas.openxmlformats.org/officeDocument/2006/relationships/notesSlide" Target="../notesSlides/notesSlide9.xml"/><Relationship Id="rId5" Type="http://schemas.openxmlformats.org/officeDocument/2006/relationships/tags" Target="../tags/tag58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57.xml"/><Relationship Id="rId9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image" Target="../media/image9.emf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oleObject" Target="../embeddings/oleObject11.bin"/><Relationship Id="rId2" Type="http://schemas.openxmlformats.org/officeDocument/2006/relationships/tags" Target="../tags/tag63.xml"/><Relationship Id="rId1" Type="http://schemas.openxmlformats.org/officeDocument/2006/relationships/vmlDrawing" Target="../drawings/vmlDrawing11.vml"/><Relationship Id="rId6" Type="http://schemas.openxmlformats.org/officeDocument/2006/relationships/tags" Target="../tags/tag67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66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65.xml"/><Relationship Id="rId9" Type="http://schemas.openxmlformats.org/officeDocument/2006/relationships/tags" Target="../tags/tag7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image" Target="../media/image9.emf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78.xml"/><Relationship Id="rId1" Type="http://schemas.openxmlformats.org/officeDocument/2006/relationships/vmlDrawing" Target="../drawings/vmlDrawing12.vml"/><Relationship Id="rId6" Type="http://schemas.openxmlformats.org/officeDocument/2006/relationships/tags" Target="../tags/tag82.xml"/><Relationship Id="rId11" Type="http://schemas.openxmlformats.org/officeDocument/2006/relationships/notesSlide" Target="../notesSlides/notesSlide11.xml"/><Relationship Id="rId5" Type="http://schemas.openxmlformats.org/officeDocument/2006/relationships/tags" Target="../tags/tag81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80.xml"/><Relationship Id="rId9" Type="http://schemas.openxmlformats.org/officeDocument/2006/relationships/tags" Target="../tags/tag8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image" Target="../media/image9.emf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oleObject" Target="../embeddings/oleObject13.bin"/><Relationship Id="rId2" Type="http://schemas.openxmlformats.org/officeDocument/2006/relationships/tags" Target="../tags/tag86.xml"/><Relationship Id="rId1" Type="http://schemas.openxmlformats.org/officeDocument/2006/relationships/vmlDrawing" Target="../drawings/vmlDrawing13.vml"/><Relationship Id="rId6" Type="http://schemas.openxmlformats.org/officeDocument/2006/relationships/tags" Target="../tags/tag90.xml"/><Relationship Id="rId11" Type="http://schemas.openxmlformats.org/officeDocument/2006/relationships/notesSlide" Target="../notesSlides/notesSlide12.xml"/><Relationship Id="rId5" Type="http://schemas.openxmlformats.org/officeDocument/2006/relationships/tags" Target="../tags/tag89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image" Target="../media/image9.emf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oleObject" Target="../embeddings/oleObject14.bin"/><Relationship Id="rId2" Type="http://schemas.openxmlformats.org/officeDocument/2006/relationships/tags" Target="../tags/tag94.xml"/><Relationship Id="rId1" Type="http://schemas.openxmlformats.org/officeDocument/2006/relationships/vmlDrawing" Target="../drawings/vmlDrawing14.vml"/><Relationship Id="rId6" Type="http://schemas.openxmlformats.org/officeDocument/2006/relationships/tags" Target="../tags/tag98.xml"/><Relationship Id="rId11" Type="http://schemas.openxmlformats.org/officeDocument/2006/relationships/notesSlide" Target="../notesSlides/notesSlide13.xml"/><Relationship Id="rId5" Type="http://schemas.openxmlformats.org/officeDocument/2006/relationships/tags" Target="../tags/tag97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96.xml"/><Relationship Id="rId9" Type="http://schemas.openxmlformats.org/officeDocument/2006/relationships/tags" Target="../tags/tag10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13.xml"/><Relationship Id="rId7" Type="http://schemas.openxmlformats.org/officeDocument/2006/relationships/customXml" Target="../ink/ink3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6.bin"/><Relationship Id="rId4" Type="http://schemas.openxmlformats.org/officeDocument/2006/relationships/notesSlide" Target="../notesSlides/notesSlid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7.bin"/><Relationship Id="rId4" Type="http://schemas.openxmlformats.org/officeDocument/2006/relationships/notesSlide" Target="../notesSlides/notesSlide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4763" y="4353668"/>
            <a:ext cx="6421867" cy="738664"/>
          </a:xfrm>
        </p:spPr>
        <p:txBody>
          <a:bodyPr>
            <a:normAutofit/>
          </a:bodyPr>
          <a:lstStyle/>
          <a:p>
            <a:r>
              <a:rPr lang="de-CH" sz="2400" dirty="0"/>
              <a:t>Data Operations Global Webcast</a:t>
            </a:r>
            <a:br>
              <a:rPr lang="de-CH" sz="2400" dirty="0"/>
            </a:br>
            <a:r>
              <a:rPr lang="de-CH" sz="2400" dirty="0"/>
              <a:t>November </a:t>
            </a:r>
            <a:r>
              <a:rPr lang="en-GB" sz="2400" dirty="0" smtClean="0"/>
              <a:t>9,</a:t>
            </a:r>
            <a:r>
              <a:rPr lang="de-CH" sz="2400" dirty="0" smtClean="0"/>
              <a:t> </a:t>
            </a:r>
            <a:r>
              <a:rPr lang="de-CH" sz="2400" dirty="0"/>
              <a:t>2017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383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772400" cy="960120"/>
          </a:xfrm>
        </p:spPr>
        <p:txBody>
          <a:bodyPr/>
          <a:lstStyle/>
          <a:p>
            <a:r>
              <a:rPr lang="de-CH" dirty="0" smtClean="0"/>
              <a:t>The puzzle is almost complete ...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2</a:t>
            </a:fld>
            <a:endParaRPr lang="uk-U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66800"/>
            <a:ext cx="5638800" cy="487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2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="" xmlns:a16="http://schemas.microsoft.com/office/drawing/2014/main" id="{2C98177C-97DD-4AC7-8A32-168C5D219C6B}"/>
              </a:ext>
            </a:extLst>
          </p:cNvPr>
          <p:cNvSpPr/>
          <p:nvPr/>
        </p:nvSpPr>
        <p:spPr bwMode="gray">
          <a:xfrm>
            <a:off x="1652831" y="2360487"/>
            <a:ext cx="5955799" cy="100626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think-cell Slide" r:id="rId5" imgW="524" imgH="526" progId="TCLayout.ActiveDocument.1">
                  <p:embed/>
                </p:oleObj>
              </mc:Choice>
              <mc:Fallback>
                <p:oleObj name="think-cell Slide" r:id="rId5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533400" y="403214"/>
            <a:ext cx="7772400" cy="960120"/>
          </a:xfrm>
        </p:spPr>
        <p:txBody>
          <a:bodyPr/>
          <a:lstStyle/>
          <a:p>
            <a:r>
              <a:rPr lang="en-US" dirty="0"/>
              <a:t>Objectives for this webcast</a:t>
            </a:r>
            <a:endParaRPr lang="de-CH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gray" r:id="rId7">
            <p14:nvContentPartPr>
              <p14:cNvPr id="7" name="Ink 14"/>
              <p14:cNvContentPartPr/>
              <p14:nvPr/>
            </p14:nvContentPartPr>
            <p14:xfrm>
              <a:off x="7220687" y="4726821"/>
              <a:ext cx="410" cy="322"/>
            </p14:xfrm>
          </p:contentPart>
        </mc:Choice>
        <mc:Fallback xmlns="">
          <p:pic>
            <p:nvPicPr>
              <p:cNvPr id="7" name="Ink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08797" y="4717483"/>
                <a:ext cx="24190" cy="18998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13"/>
          <p:cNvSpPr txBox="1">
            <a:spLocks/>
          </p:cNvSpPr>
          <p:nvPr/>
        </p:nvSpPr>
        <p:spPr bwMode="gray">
          <a:xfrm>
            <a:off x="1851891" y="2585225"/>
            <a:ext cx="608616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288000" lvl="1" indent="-288000">
              <a:spcAft>
                <a:spcPts val="3000"/>
              </a:spcAft>
              <a:buClrTx/>
              <a:buSzPct val="120000"/>
            </a:pPr>
            <a:r>
              <a:rPr lang="en-US" sz="2000" b="1" dirty="0">
                <a:solidFill>
                  <a:schemeClr val="bg1"/>
                </a:solidFill>
              </a:rPr>
              <a:t>Share progress on the ongoing Data Operations transformation effort</a:t>
            </a:r>
          </a:p>
          <a:p>
            <a:pPr marL="288000" lvl="1" indent="-288000">
              <a:spcAft>
                <a:spcPts val="3000"/>
              </a:spcAft>
              <a:buClrTx/>
              <a:buSzPct val="120000"/>
            </a:pPr>
            <a:r>
              <a:rPr lang="en-GB" sz="2000" dirty="0"/>
              <a:t>Update on the n-4 </a:t>
            </a:r>
            <a:r>
              <a:rPr lang="en-GB" sz="2000" dirty="0" err="1"/>
              <a:t>organizational</a:t>
            </a:r>
            <a:r>
              <a:rPr lang="en-GB" sz="2000" dirty="0"/>
              <a:t> design</a:t>
            </a:r>
          </a:p>
          <a:p>
            <a:pPr marL="288000" lvl="1" indent="-288000">
              <a:spcAft>
                <a:spcPts val="3000"/>
              </a:spcAft>
              <a:buClrTx/>
              <a:buSzPct val="120000"/>
            </a:pPr>
            <a:r>
              <a:rPr lang="en-GB" sz="2000" dirty="0"/>
              <a:t>Outline the recruitment process for the remainder of DO </a:t>
            </a:r>
            <a:r>
              <a:rPr lang="en-GB" sz="2000" dirty="0" err="1"/>
              <a:t>organization</a:t>
            </a:r>
            <a:endParaRPr lang="en-US" sz="20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3</a:t>
            </a:fld>
            <a:endParaRPr lang="uk-UA" dirty="0"/>
          </a:p>
        </p:txBody>
      </p:sp>
      <p:sp>
        <p:nvSpPr>
          <p:cNvPr id="14" name="Rectangle 13"/>
          <p:cNvSpPr/>
          <p:nvPr/>
        </p:nvSpPr>
        <p:spPr>
          <a:xfrm>
            <a:off x="1690255" y="5742801"/>
            <a:ext cx="7453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 lvl="1" indent="-288000">
              <a:spcAft>
                <a:spcPts val="2200"/>
              </a:spcAft>
              <a:buClrTx/>
              <a:buSzPct val="120000"/>
            </a:pPr>
            <a:r>
              <a:rPr lang="en-GB" sz="1200" dirty="0"/>
              <a:t>*  n: Vas </a:t>
            </a:r>
            <a:r>
              <a:rPr lang="en-GB" sz="1200" dirty="0" err="1"/>
              <a:t>Narasimhan</a:t>
            </a:r>
            <a:r>
              <a:rPr lang="en-GB" sz="1200" dirty="0"/>
              <a:t>, n-4s are the direct reports of the Data Operations LT </a:t>
            </a:r>
          </a:p>
        </p:txBody>
      </p:sp>
    </p:spTree>
    <p:extLst>
      <p:ext uri="{BB962C8B-B14F-4D97-AF65-F5344CB8AC3E}">
        <p14:creationId xmlns:p14="http://schemas.microsoft.com/office/powerpoint/2010/main" val="11075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8400" y="1703512"/>
            <a:ext cx="4392488" cy="4392488"/>
            <a:chOff x="2743200" y="1746250"/>
            <a:chExt cx="3657600" cy="3657600"/>
          </a:xfrm>
        </p:grpSpPr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2743200" y="1746250"/>
              <a:ext cx="3657600" cy="3657600"/>
            </a:xfrm>
            <a:prstGeom prst="ellipse">
              <a:avLst/>
            </a:prstGeom>
            <a:solidFill>
              <a:schemeClr val="accent1"/>
            </a:solidFill>
            <a:ln w="15240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800000"/>
                </a:buClr>
                <a:buSzPct val="85000"/>
                <a:buFont typeface="Marlett" pitchFamily="2" charset="2"/>
                <a:buNone/>
                <a:tabLst/>
                <a:defRPr/>
              </a:pPr>
              <a:endPara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3657600" y="2667000"/>
              <a:ext cx="1828800" cy="1828800"/>
            </a:xfrm>
            <a:prstGeom prst="ellipse">
              <a:avLst/>
            </a:prstGeom>
            <a:solidFill>
              <a:srgbClr val="7F7F7F">
                <a:lumMod val="20000"/>
                <a:lumOff val="80000"/>
              </a:srgbClr>
            </a:solidFill>
            <a:ln w="15240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800000"/>
                </a:buClr>
                <a:buSzPct val="85000"/>
                <a:buFont typeface="Marlett" pitchFamily="2" charset="2"/>
                <a:buNone/>
                <a:tabLst/>
                <a:defRPr/>
              </a:pPr>
              <a:endParaRPr kumimoji="0" lang="en-US" b="0" i="0" u="none" strike="noStrike" kern="0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endParaRP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2743200" y="1746250"/>
              <a:ext cx="3657600" cy="3657600"/>
              <a:chOff x="2743200" y="1593850"/>
              <a:chExt cx="3657600" cy="3657600"/>
            </a:xfrm>
          </p:grpSpPr>
          <p:cxnSp>
            <p:nvCxnSpPr>
              <p:cNvPr id="47" name="Straight Arrow Connector 46"/>
              <p:cNvCxnSpPr>
                <a:stCxn id="44" idx="1"/>
                <a:endCxn id="45" idx="1"/>
              </p:cNvCxnSpPr>
              <p:nvPr/>
            </p:nvCxnSpPr>
            <p:spPr bwMode="auto">
              <a:xfrm>
                <a:off x="3278843" y="2129493"/>
                <a:ext cx="646579" cy="652929"/>
              </a:xfrm>
              <a:prstGeom prst="straightConnector1">
                <a:avLst/>
              </a:prstGeom>
              <a:solidFill>
                <a:srgbClr val="958882"/>
              </a:solidFill>
              <a:ln w="6350" cap="flat" cmpd="sng" algn="ctr">
                <a:solidFill>
                  <a:srgbClr val="FFFFFF">
                    <a:lumMod val="95000"/>
                  </a:srgbClr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8" name="Straight Arrow Connector 47"/>
              <p:cNvCxnSpPr>
                <a:stCxn id="44" idx="0"/>
                <a:endCxn id="45" idx="0"/>
              </p:cNvCxnSpPr>
              <p:nvPr/>
            </p:nvCxnSpPr>
            <p:spPr bwMode="auto">
              <a:xfrm>
                <a:off x="4572000" y="1593850"/>
                <a:ext cx="0" cy="920750"/>
              </a:xfrm>
              <a:prstGeom prst="straightConnector1">
                <a:avLst/>
              </a:prstGeom>
              <a:solidFill>
                <a:srgbClr val="958882"/>
              </a:solidFill>
              <a:ln w="6350" cap="flat" cmpd="sng" algn="ctr">
                <a:solidFill>
                  <a:srgbClr val="FFFFFF">
                    <a:lumMod val="95000"/>
                  </a:srgbClr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" name="Straight Arrow Connector 48"/>
              <p:cNvCxnSpPr>
                <a:stCxn id="44" idx="7"/>
                <a:endCxn id="45" idx="7"/>
              </p:cNvCxnSpPr>
              <p:nvPr/>
            </p:nvCxnSpPr>
            <p:spPr bwMode="auto">
              <a:xfrm flipH="1">
                <a:off x="5218578" y="2129493"/>
                <a:ext cx="646579" cy="652929"/>
              </a:xfrm>
              <a:prstGeom prst="straightConnector1">
                <a:avLst/>
              </a:prstGeom>
              <a:solidFill>
                <a:srgbClr val="958882"/>
              </a:solidFill>
              <a:ln w="6350" cap="flat" cmpd="sng" algn="ctr">
                <a:solidFill>
                  <a:srgbClr val="FFFFFF">
                    <a:lumMod val="95000"/>
                  </a:srgbClr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0" name="Straight Arrow Connector 49"/>
              <p:cNvCxnSpPr>
                <a:stCxn id="44" idx="6"/>
                <a:endCxn id="45" idx="6"/>
              </p:cNvCxnSpPr>
              <p:nvPr/>
            </p:nvCxnSpPr>
            <p:spPr bwMode="auto">
              <a:xfrm flipH="1">
                <a:off x="5486400" y="3422650"/>
                <a:ext cx="914400" cy="6350"/>
              </a:xfrm>
              <a:prstGeom prst="straightConnector1">
                <a:avLst/>
              </a:prstGeom>
              <a:solidFill>
                <a:srgbClr val="958882"/>
              </a:solidFill>
              <a:ln w="6350" cap="flat" cmpd="sng" algn="ctr">
                <a:solidFill>
                  <a:srgbClr val="FFFFFF">
                    <a:lumMod val="95000"/>
                  </a:srgbClr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1" name="Straight Arrow Connector 50"/>
              <p:cNvCxnSpPr>
                <a:stCxn id="44" idx="5"/>
                <a:endCxn id="45" idx="5"/>
              </p:cNvCxnSpPr>
              <p:nvPr/>
            </p:nvCxnSpPr>
            <p:spPr bwMode="auto">
              <a:xfrm flipH="1" flipV="1">
                <a:off x="5218578" y="4075578"/>
                <a:ext cx="646579" cy="640229"/>
              </a:xfrm>
              <a:prstGeom prst="straightConnector1">
                <a:avLst/>
              </a:prstGeom>
              <a:solidFill>
                <a:srgbClr val="958882"/>
              </a:solidFill>
              <a:ln w="6350" cap="flat" cmpd="sng" algn="ctr">
                <a:solidFill>
                  <a:srgbClr val="FFFFFF">
                    <a:lumMod val="95000"/>
                  </a:srgbClr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2" name="Straight Arrow Connector 51"/>
              <p:cNvCxnSpPr>
                <a:stCxn id="44" idx="4"/>
                <a:endCxn id="45" idx="4"/>
              </p:cNvCxnSpPr>
              <p:nvPr/>
            </p:nvCxnSpPr>
            <p:spPr bwMode="auto">
              <a:xfrm flipV="1">
                <a:off x="4572000" y="4343400"/>
                <a:ext cx="0" cy="908050"/>
              </a:xfrm>
              <a:prstGeom prst="straightConnector1">
                <a:avLst/>
              </a:prstGeom>
              <a:solidFill>
                <a:srgbClr val="958882"/>
              </a:solidFill>
              <a:ln w="6350" cap="flat" cmpd="sng" algn="ctr">
                <a:solidFill>
                  <a:srgbClr val="FFFFFF">
                    <a:lumMod val="95000"/>
                  </a:srgbClr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3" name="Straight Arrow Connector 52"/>
              <p:cNvCxnSpPr>
                <a:stCxn id="44" idx="3"/>
                <a:endCxn id="45" idx="3"/>
              </p:cNvCxnSpPr>
              <p:nvPr/>
            </p:nvCxnSpPr>
            <p:spPr bwMode="auto">
              <a:xfrm flipV="1">
                <a:off x="3278843" y="4075578"/>
                <a:ext cx="646579" cy="640229"/>
              </a:xfrm>
              <a:prstGeom prst="straightConnector1">
                <a:avLst/>
              </a:prstGeom>
              <a:solidFill>
                <a:srgbClr val="958882"/>
              </a:solidFill>
              <a:ln w="6350" cap="flat" cmpd="sng" algn="ctr">
                <a:solidFill>
                  <a:srgbClr val="FFFFFF">
                    <a:lumMod val="95000"/>
                  </a:srgbClr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54" name="Straight Arrow Connector 53"/>
              <p:cNvCxnSpPr>
                <a:stCxn id="44" idx="2"/>
                <a:endCxn id="45" idx="2"/>
              </p:cNvCxnSpPr>
              <p:nvPr/>
            </p:nvCxnSpPr>
            <p:spPr bwMode="auto">
              <a:xfrm>
                <a:off x="2743200" y="3422650"/>
                <a:ext cx="914400" cy="6350"/>
              </a:xfrm>
              <a:prstGeom prst="straightConnector1">
                <a:avLst/>
              </a:prstGeom>
              <a:solidFill>
                <a:srgbClr val="958882"/>
              </a:solidFill>
              <a:ln w="6350" cap="flat" cmpd="sng" algn="ctr">
                <a:solidFill>
                  <a:srgbClr val="FFFFFF">
                    <a:lumMod val="95000"/>
                  </a:srgbClr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55" name="Group 54"/>
            <p:cNvGrpSpPr/>
            <p:nvPr/>
          </p:nvGrpSpPr>
          <p:grpSpPr>
            <a:xfrm>
              <a:off x="2819400" y="2049483"/>
              <a:ext cx="3505200" cy="3090207"/>
              <a:chOff x="2819400" y="1897083"/>
              <a:chExt cx="3505200" cy="3090207"/>
            </a:xfrm>
          </p:grpSpPr>
          <p:sp>
            <p:nvSpPr>
              <p:cNvPr id="56" name="Rectangle 12"/>
              <p:cNvSpPr>
                <a:spLocks noChangeArrowheads="1"/>
              </p:cNvSpPr>
              <p:nvPr/>
            </p:nvSpPr>
            <p:spPr bwMode="auto">
              <a:xfrm flipH="1">
                <a:off x="3581400" y="1905000"/>
                <a:ext cx="914400" cy="548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27432" tIns="27432" rIns="27432" bIns="27432" anchor="ctr" anchorCtr="0"/>
              <a:lstStyle/>
              <a:p>
                <a:pPr marL="0" marR="0" lvl="1" indent="0" algn="ctr" defTabSz="914070" eaLnBrk="0" fontAlgn="auto" latinLnBrk="0" hangingPunct="0">
                  <a:lnSpc>
                    <a:spcPct val="110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58443B"/>
                  </a:buClr>
                  <a:buSzPct val="95000"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itchFamily="34" charset="0"/>
                    <a:sym typeface="Symbol" pitchFamily="18" charset="2"/>
                  </a:rPr>
                  <a:t>Simple</a:t>
                </a:r>
              </a:p>
            </p:txBody>
          </p:sp>
          <p:sp>
            <p:nvSpPr>
              <p:cNvPr id="57" name="Rectangle 12"/>
              <p:cNvSpPr>
                <a:spLocks noChangeArrowheads="1"/>
              </p:cNvSpPr>
              <p:nvPr/>
            </p:nvSpPr>
            <p:spPr bwMode="auto">
              <a:xfrm flipH="1">
                <a:off x="4627467" y="1897083"/>
                <a:ext cx="914400" cy="548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27432" tIns="27432" rIns="27432" bIns="27432" anchor="ctr" anchorCtr="0"/>
              <a:lstStyle/>
              <a:p>
                <a:pPr marL="0" marR="0" lvl="1" indent="0" algn="ctr" defTabSz="914070" eaLnBrk="0" fontAlgn="auto" latinLnBrk="0" hangingPunct="0">
                  <a:lnSpc>
                    <a:spcPct val="110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58443B"/>
                  </a:buClr>
                  <a:buSzPct val="95000"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itchFamily="34" charset="0"/>
                    <a:sym typeface="Symbol" pitchFamily="18" charset="2"/>
                  </a:rPr>
                  <a:t>Standardized</a:t>
                </a:r>
              </a:p>
            </p:txBody>
          </p:sp>
          <p:sp>
            <p:nvSpPr>
              <p:cNvPr id="58" name="Rectangle 12"/>
              <p:cNvSpPr>
                <a:spLocks noChangeArrowheads="1"/>
              </p:cNvSpPr>
              <p:nvPr/>
            </p:nvSpPr>
            <p:spPr bwMode="auto">
              <a:xfrm flipH="1">
                <a:off x="5410200" y="2651760"/>
                <a:ext cx="914400" cy="548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27432" tIns="27432" rIns="27432" bIns="27432" anchor="ctr" anchorCtr="0"/>
              <a:lstStyle/>
              <a:p>
                <a:pPr marL="0" marR="0" lvl="1" indent="0" algn="ctr" defTabSz="914070" eaLnBrk="0" fontAlgn="auto" latinLnBrk="0" hangingPunct="0">
                  <a:lnSpc>
                    <a:spcPct val="110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58443B"/>
                  </a:buClr>
                  <a:buSzPct val="95000"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itchFamily="34" charset="0"/>
                    <a:sym typeface="Symbol" pitchFamily="18" charset="2"/>
                  </a:rPr>
                  <a:t>Customer </a:t>
                </a:r>
                <a:r>
                  <a:rPr lang="en-US" sz="1200" b="1" kern="0" dirty="0">
                    <a:solidFill>
                      <a:schemeClr val="bg1"/>
                    </a:solidFill>
                    <a:latin typeface="Arial" pitchFamily="34" charset="0"/>
                    <a:sym typeface="Symbol" pitchFamily="18" charset="2"/>
                  </a:rPr>
                  <a:t/>
                </a:r>
                <a:br>
                  <a:rPr lang="en-US" sz="1200" b="1" kern="0" dirty="0">
                    <a:solidFill>
                      <a:schemeClr val="bg1"/>
                    </a:solidFill>
                    <a:latin typeface="Arial" pitchFamily="34" charset="0"/>
                    <a:sym typeface="Symbol" pitchFamily="18" charset="2"/>
                  </a:rPr>
                </a:br>
                <a:r>
                  <a:rPr lang="en-US" sz="1200" b="1" kern="0" dirty="0">
                    <a:solidFill>
                      <a:schemeClr val="bg1"/>
                    </a:solidFill>
                    <a:latin typeface="Arial" pitchFamily="34" charset="0"/>
                    <a:sym typeface="Symbol" pitchFamily="18" charset="2"/>
                  </a:rPr>
                  <a:t>Focused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itchFamily="34" charset="0"/>
                  <a:sym typeface="Symbol" pitchFamily="18" charset="2"/>
                </a:endParaRPr>
              </a:p>
            </p:txBody>
          </p:sp>
          <p:sp>
            <p:nvSpPr>
              <p:cNvPr id="59" name="Rectangle 12"/>
              <p:cNvSpPr>
                <a:spLocks noChangeArrowheads="1"/>
              </p:cNvSpPr>
              <p:nvPr/>
            </p:nvSpPr>
            <p:spPr bwMode="auto">
              <a:xfrm flipH="1">
                <a:off x="2819400" y="2651760"/>
                <a:ext cx="914400" cy="548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27432" tIns="27432" rIns="27432" bIns="27432" anchor="ctr" anchorCtr="0"/>
              <a:lstStyle/>
              <a:p>
                <a:pPr marL="0" marR="0" lvl="1" indent="0" algn="ctr" defTabSz="914070" eaLnBrk="0" fontAlgn="auto" latinLnBrk="0" hangingPunct="0">
                  <a:lnSpc>
                    <a:spcPct val="110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58443B"/>
                  </a:buClr>
                  <a:buSzPct val="95000"/>
                  <a:buFontTx/>
                  <a:buNone/>
                  <a:tabLst/>
                  <a:defRPr/>
                </a:pPr>
                <a:r>
                  <a:rPr lang="en-GB" sz="1200" b="1" kern="0" dirty="0">
                    <a:solidFill>
                      <a:schemeClr val="bg1"/>
                    </a:solidFill>
                    <a:latin typeface="Arial" pitchFamily="34" charset="0"/>
                    <a:sym typeface="Symbol" pitchFamily="18" charset="2"/>
                  </a:rPr>
                  <a:t>Internal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itchFamily="34" charset="0"/>
                  <a:sym typeface="Symbol" pitchFamily="18" charset="2"/>
                </a:endParaRPr>
              </a:p>
            </p:txBody>
          </p:sp>
          <p:sp>
            <p:nvSpPr>
              <p:cNvPr id="60" name="Rectangle 12"/>
              <p:cNvSpPr>
                <a:spLocks noChangeArrowheads="1"/>
              </p:cNvSpPr>
              <p:nvPr/>
            </p:nvSpPr>
            <p:spPr bwMode="auto">
              <a:xfrm flipH="1">
                <a:off x="5400675" y="3657600"/>
                <a:ext cx="914400" cy="548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27432" tIns="27432" rIns="27432" bIns="27432" anchor="ctr" anchorCtr="0"/>
              <a:lstStyle/>
              <a:p>
                <a:pPr marL="0" marR="0" lvl="1" indent="0" algn="ctr" defTabSz="914070" eaLnBrk="0" fontAlgn="auto" latinLnBrk="0" hangingPunct="0">
                  <a:lnSpc>
                    <a:spcPct val="110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58443B"/>
                  </a:buClr>
                  <a:buSzPct val="95000"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itchFamily="34" charset="0"/>
                    <a:sym typeface="Symbol" pitchFamily="18" charset="2"/>
                  </a:rPr>
                  <a:t>Efficient</a:t>
                </a:r>
              </a:p>
            </p:txBody>
          </p:sp>
          <p:sp>
            <p:nvSpPr>
              <p:cNvPr id="61" name="Rectangle 12"/>
              <p:cNvSpPr>
                <a:spLocks noChangeArrowheads="1"/>
              </p:cNvSpPr>
              <p:nvPr/>
            </p:nvSpPr>
            <p:spPr bwMode="auto">
              <a:xfrm flipH="1">
                <a:off x="2838450" y="3657600"/>
                <a:ext cx="914400" cy="548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27432" tIns="27432" rIns="27432" bIns="27432" anchor="ctr" anchorCtr="0"/>
              <a:lstStyle/>
              <a:p>
                <a:pPr marL="0" marR="0" lvl="1" indent="0" algn="ctr" defTabSz="914070" eaLnBrk="0" fontAlgn="auto" latinLnBrk="0" hangingPunct="0">
                  <a:lnSpc>
                    <a:spcPct val="110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58443B"/>
                  </a:buClr>
                  <a:buSzPct val="95000"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itchFamily="34" charset="0"/>
                    <a:sym typeface="Symbol" pitchFamily="18" charset="2"/>
                  </a:rPr>
                  <a:t>Program-focused</a:t>
                </a:r>
              </a:p>
            </p:txBody>
          </p:sp>
          <p:sp>
            <p:nvSpPr>
              <p:cNvPr id="62" name="Rectangle 12"/>
              <p:cNvSpPr>
                <a:spLocks noChangeArrowheads="1"/>
              </p:cNvSpPr>
              <p:nvPr/>
            </p:nvSpPr>
            <p:spPr bwMode="auto">
              <a:xfrm flipH="1">
                <a:off x="4572000" y="4438650"/>
                <a:ext cx="914400" cy="548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27432" tIns="27432" rIns="27432" bIns="27432" anchor="ctr" anchorCtr="0"/>
              <a:lstStyle/>
              <a:p>
                <a:pPr marL="0" marR="0" lvl="1" indent="0" algn="ctr" defTabSz="914070" eaLnBrk="0" fontAlgn="auto" latinLnBrk="0" hangingPunct="0">
                  <a:lnSpc>
                    <a:spcPct val="110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58443B"/>
                  </a:buClr>
                  <a:buSzPct val="95000"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itchFamily="34" charset="0"/>
                    <a:sym typeface="Symbol" pitchFamily="18" charset="2"/>
                  </a:rPr>
                  <a:t>Scalable</a:t>
                </a:r>
              </a:p>
            </p:txBody>
          </p:sp>
          <p:sp>
            <p:nvSpPr>
              <p:cNvPr id="63" name="Rectangle 12"/>
              <p:cNvSpPr>
                <a:spLocks noChangeArrowheads="1"/>
              </p:cNvSpPr>
              <p:nvPr/>
            </p:nvSpPr>
            <p:spPr bwMode="auto">
              <a:xfrm flipH="1">
                <a:off x="3581400" y="4438650"/>
                <a:ext cx="914400" cy="548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27432" tIns="27432" rIns="27432" bIns="27432" anchor="ctr" anchorCtr="0"/>
              <a:lstStyle/>
              <a:p>
                <a:pPr marL="0" marR="0" lvl="1" indent="0" algn="ctr" defTabSz="914070" eaLnBrk="0" fontAlgn="auto" latinLnBrk="0" hangingPunct="0">
                  <a:lnSpc>
                    <a:spcPct val="110000"/>
                  </a:lnSpc>
                  <a:spcBef>
                    <a:spcPts val="1500"/>
                  </a:spcBef>
                  <a:spcAft>
                    <a:spcPts val="0"/>
                  </a:spcAft>
                  <a:buClr>
                    <a:srgbClr val="58443B"/>
                  </a:buClr>
                  <a:buSzPct val="95000"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itchFamily="34" charset="0"/>
                    <a:sym typeface="Symbol" pitchFamily="18" charset="2"/>
                  </a:rPr>
                  <a:t>Rapid</a:t>
                </a: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311" y="443775"/>
            <a:ext cx="7920236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RECAP: Data Management &amp; Statistical Programming: </a:t>
            </a:r>
            <a:br>
              <a:rPr lang="en-US" dirty="0"/>
            </a:br>
            <a:r>
              <a:rPr lang="en-US" dirty="0"/>
              <a:t>focus areas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3824288" y="3218302"/>
            <a:ext cx="1676400" cy="1445468"/>
            <a:chOff x="328054" y="1371600"/>
            <a:chExt cx="5336190" cy="4696489"/>
          </a:xfrm>
        </p:grpSpPr>
        <p:sp>
          <p:nvSpPr>
            <p:cNvPr id="25" name="Block Arc 24"/>
            <p:cNvSpPr/>
            <p:nvPr/>
          </p:nvSpPr>
          <p:spPr>
            <a:xfrm>
              <a:off x="665782" y="1477031"/>
              <a:ext cx="4451282" cy="4451282"/>
            </a:xfrm>
            <a:prstGeom prst="blockArc">
              <a:avLst>
                <a:gd name="adj1" fmla="val 1610433"/>
                <a:gd name="adj2" fmla="val 18083901"/>
                <a:gd name="adj3" fmla="val 5014"/>
              </a:avLst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4439338" y="3945732"/>
              <a:ext cx="885616" cy="596603"/>
              <a:chOff x="1710658" y="2959610"/>
              <a:chExt cx="364686" cy="245674"/>
            </a:xfrm>
            <a:solidFill>
              <a:schemeClr val="accent1"/>
            </a:solidFill>
          </p:grpSpPr>
          <p:sp>
            <p:nvSpPr>
              <p:cNvPr id="143" name="Freeform 5"/>
              <p:cNvSpPr>
                <a:spLocks/>
              </p:cNvSpPr>
              <p:nvPr/>
            </p:nvSpPr>
            <p:spPr bwMode="auto">
              <a:xfrm>
                <a:off x="1710658" y="2959610"/>
                <a:ext cx="170016" cy="245674"/>
              </a:xfrm>
              <a:custGeom>
                <a:avLst/>
                <a:gdLst>
                  <a:gd name="T0" fmla="*/ 23 w 188"/>
                  <a:gd name="T1" fmla="*/ 197 h 272"/>
                  <a:gd name="T2" fmla="*/ 76 w 188"/>
                  <a:gd name="T3" fmla="*/ 156 h 272"/>
                  <a:gd name="T4" fmla="*/ 84 w 188"/>
                  <a:gd name="T5" fmla="*/ 152 h 272"/>
                  <a:gd name="T6" fmla="*/ 92 w 188"/>
                  <a:gd name="T7" fmla="*/ 148 h 272"/>
                  <a:gd name="T8" fmla="*/ 131 w 188"/>
                  <a:gd name="T9" fmla="*/ 121 h 272"/>
                  <a:gd name="T10" fmla="*/ 150 w 188"/>
                  <a:gd name="T11" fmla="*/ 82 h 272"/>
                  <a:gd name="T12" fmla="*/ 133 w 188"/>
                  <a:gd name="T13" fmla="*/ 45 h 272"/>
                  <a:gd name="T14" fmla="*/ 96 w 188"/>
                  <a:gd name="T15" fmla="*/ 32 h 272"/>
                  <a:gd name="T16" fmla="*/ 57 w 188"/>
                  <a:gd name="T17" fmla="*/ 47 h 272"/>
                  <a:gd name="T18" fmla="*/ 42 w 188"/>
                  <a:gd name="T19" fmla="*/ 97 h 272"/>
                  <a:gd name="T20" fmla="*/ 8 w 188"/>
                  <a:gd name="T21" fmla="*/ 97 h 272"/>
                  <a:gd name="T22" fmla="*/ 8 w 188"/>
                  <a:gd name="T23" fmla="*/ 91 h 272"/>
                  <a:gd name="T24" fmla="*/ 7 w 188"/>
                  <a:gd name="T25" fmla="*/ 85 h 272"/>
                  <a:gd name="T26" fmla="*/ 7 w 188"/>
                  <a:gd name="T27" fmla="*/ 85 h 272"/>
                  <a:gd name="T28" fmla="*/ 7 w 188"/>
                  <a:gd name="T29" fmla="*/ 83 h 272"/>
                  <a:gd name="T30" fmla="*/ 31 w 188"/>
                  <a:gd name="T31" fmla="*/ 26 h 272"/>
                  <a:gd name="T32" fmla="*/ 99 w 188"/>
                  <a:gd name="T33" fmla="*/ 0 h 272"/>
                  <a:gd name="T34" fmla="*/ 105 w 188"/>
                  <a:gd name="T35" fmla="*/ 0 h 272"/>
                  <a:gd name="T36" fmla="*/ 112 w 188"/>
                  <a:gd name="T37" fmla="*/ 1 h 272"/>
                  <a:gd name="T38" fmla="*/ 165 w 188"/>
                  <a:gd name="T39" fmla="*/ 26 h 272"/>
                  <a:gd name="T40" fmla="*/ 187 w 188"/>
                  <a:gd name="T41" fmla="*/ 85 h 272"/>
                  <a:gd name="T42" fmla="*/ 161 w 188"/>
                  <a:gd name="T43" fmla="*/ 139 h 272"/>
                  <a:gd name="T44" fmla="*/ 111 w 188"/>
                  <a:gd name="T45" fmla="*/ 173 h 272"/>
                  <a:gd name="T46" fmla="*/ 109 w 188"/>
                  <a:gd name="T47" fmla="*/ 174 h 272"/>
                  <a:gd name="T48" fmla="*/ 108 w 188"/>
                  <a:gd name="T49" fmla="*/ 175 h 272"/>
                  <a:gd name="T50" fmla="*/ 65 w 188"/>
                  <a:gd name="T51" fmla="*/ 201 h 272"/>
                  <a:gd name="T52" fmla="*/ 35 w 188"/>
                  <a:gd name="T53" fmla="*/ 239 h 272"/>
                  <a:gd name="T54" fmla="*/ 181 w 188"/>
                  <a:gd name="T55" fmla="*/ 239 h 272"/>
                  <a:gd name="T56" fmla="*/ 181 w 188"/>
                  <a:gd name="T57" fmla="*/ 272 h 272"/>
                  <a:gd name="T58" fmla="*/ 2 w 188"/>
                  <a:gd name="T59" fmla="*/ 272 h 272"/>
                  <a:gd name="T60" fmla="*/ 23 w 188"/>
                  <a:gd name="T61" fmla="*/ 197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8" h="272">
                    <a:moveTo>
                      <a:pt x="23" y="197"/>
                    </a:moveTo>
                    <a:cubicBezTo>
                      <a:pt x="39" y="180"/>
                      <a:pt x="56" y="167"/>
                      <a:pt x="76" y="156"/>
                    </a:cubicBezTo>
                    <a:cubicBezTo>
                      <a:pt x="79" y="155"/>
                      <a:pt x="81" y="153"/>
                      <a:pt x="84" y="152"/>
                    </a:cubicBezTo>
                    <a:cubicBezTo>
                      <a:pt x="87" y="150"/>
                      <a:pt x="89" y="149"/>
                      <a:pt x="92" y="148"/>
                    </a:cubicBezTo>
                    <a:cubicBezTo>
                      <a:pt x="107" y="139"/>
                      <a:pt x="120" y="131"/>
                      <a:pt x="131" y="121"/>
                    </a:cubicBezTo>
                    <a:cubicBezTo>
                      <a:pt x="143" y="112"/>
                      <a:pt x="149" y="99"/>
                      <a:pt x="150" y="82"/>
                    </a:cubicBezTo>
                    <a:cubicBezTo>
                      <a:pt x="150" y="66"/>
                      <a:pt x="144" y="54"/>
                      <a:pt x="133" y="45"/>
                    </a:cubicBezTo>
                    <a:cubicBezTo>
                      <a:pt x="122" y="36"/>
                      <a:pt x="109" y="32"/>
                      <a:pt x="96" y="32"/>
                    </a:cubicBezTo>
                    <a:cubicBezTo>
                      <a:pt x="82" y="32"/>
                      <a:pt x="69" y="37"/>
                      <a:pt x="57" y="47"/>
                    </a:cubicBezTo>
                    <a:cubicBezTo>
                      <a:pt x="46" y="58"/>
                      <a:pt x="41" y="74"/>
                      <a:pt x="42" y="97"/>
                    </a:cubicBezTo>
                    <a:cubicBezTo>
                      <a:pt x="8" y="97"/>
                      <a:pt x="8" y="97"/>
                      <a:pt x="8" y="97"/>
                    </a:cubicBezTo>
                    <a:cubicBezTo>
                      <a:pt x="8" y="95"/>
                      <a:pt x="8" y="93"/>
                      <a:pt x="8" y="91"/>
                    </a:cubicBezTo>
                    <a:cubicBezTo>
                      <a:pt x="7" y="89"/>
                      <a:pt x="7" y="87"/>
                      <a:pt x="7" y="85"/>
                    </a:cubicBezTo>
                    <a:cubicBezTo>
                      <a:pt x="7" y="85"/>
                      <a:pt x="7" y="85"/>
                      <a:pt x="7" y="85"/>
                    </a:cubicBezTo>
                    <a:cubicBezTo>
                      <a:pt x="7" y="84"/>
                      <a:pt x="7" y="84"/>
                      <a:pt x="7" y="83"/>
                    </a:cubicBezTo>
                    <a:cubicBezTo>
                      <a:pt x="8" y="62"/>
                      <a:pt x="16" y="43"/>
                      <a:pt x="31" y="26"/>
                    </a:cubicBezTo>
                    <a:cubicBezTo>
                      <a:pt x="47" y="9"/>
                      <a:pt x="69" y="0"/>
                      <a:pt x="99" y="0"/>
                    </a:cubicBezTo>
                    <a:cubicBezTo>
                      <a:pt x="101" y="0"/>
                      <a:pt x="103" y="0"/>
                      <a:pt x="105" y="0"/>
                    </a:cubicBezTo>
                    <a:cubicBezTo>
                      <a:pt x="107" y="1"/>
                      <a:pt x="109" y="1"/>
                      <a:pt x="112" y="1"/>
                    </a:cubicBezTo>
                    <a:cubicBezTo>
                      <a:pt x="131" y="4"/>
                      <a:pt x="149" y="12"/>
                      <a:pt x="165" y="26"/>
                    </a:cubicBezTo>
                    <a:cubicBezTo>
                      <a:pt x="181" y="39"/>
                      <a:pt x="188" y="59"/>
                      <a:pt x="187" y="85"/>
                    </a:cubicBezTo>
                    <a:cubicBezTo>
                      <a:pt x="185" y="109"/>
                      <a:pt x="176" y="127"/>
                      <a:pt x="161" y="139"/>
                    </a:cubicBezTo>
                    <a:cubicBezTo>
                      <a:pt x="146" y="152"/>
                      <a:pt x="130" y="163"/>
                      <a:pt x="111" y="173"/>
                    </a:cubicBezTo>
                    <a:cubicBezTo>
                      <a:pt x="111" y="173"/>
                      <a:pt x="110" y="173"/>
                      <a:pt x="109" y="174"/>
                    </a:cubicBezTo>
                    <a:cubicBezTo>
                      <a:pt x="109" y="174"/>
                      <a:pt x="108" y="174"/>
                      <a:pt x="108" y="175"/>
                    </a:cubicBezTo>
                    <a:cubicBezTo>
                      <a:pt x="93" y="182"/>
                      <a:pt x="79" y="191"/>
                      <a:pt x="65" y="201"/>
                    </a:cubicBezTo>
                    <a:cubicBezTo>
                      <a:pt x="52" y="210"/>
                      <a:pt x="42" y="223"/>
                      <a:pt x="35" y="239"/>
                    </a:cubicBezTo>
                    <a:cubicBezTo>
                      <a:pt x="181" y="239"/>
                      <a:pt x="181" y="239"/>
                      <a:pt x="181" y="239"/>
                    </a:cubicBezTo>
                    <a:cubicBezTo>
                      <a:pt x="181" y="272"/>
                      <a:pt x="181" y="272"/>
                      <a:pt x="181" y="272"/>
                    </a:cubicBezTo>
                    <a:cubicBezTo>
                      <a:pt x="2" y="272"/>
                      <a:pt x="2" y="272"/>
                      <a:pt x="2" y="272"/>
                    </a:cubicBezTo>
                    <a:cubicBezTo>
                      <a:pt x="0" y="238"/>
                      <a:pt x="7" y="213"/>
                      <a:pt x="23" y="1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4" name="Freeform 6"/>
              <p:cNvSpPr>
                <a:spLocks noEditPoints="1"/>
              </p:cNvSpPr>
              <p:nvPr/>
            </p:nvSpPr>
            <p:spPr bwMode="auto">
              <a:xfrm>
                <a:off x="1903627" y="2959610"/>
                <a:ext cx="171717" cy="245674"/>
              </a:xfrm>
              <a:custGeom>
                <a:avLst/>
                <a:gdLst>
                  <a:gd name="T0" fmla="*/ 132 w 202"/>
                  <a:gd name="T1" fmla="*/ 0 h 289"/>
                  <a:gd name="T2" fmla="*/ 161 w 202"/>
                  <a:gd name="T3" fmla="*/ 0 h 289"/>
                  <a:gd name="T4" fmla="*/ 161 w 202"/>
                  <a:gd name="T5" fmla="*/ 184 h 289"/>
                  <a:gd name="T6" fmla="*/ 202 w 202"/>
                  <a:gd name="T7" fmla="*/ 184 h 289"/>
                  <a:gd name="T8" fmla="*/ 202 w 202"/>
                  <a:gd name="T9" fmla="*/ 219 h 289"/>
                  <a:gd name="T10" fmla="*/ 161 w 202"/>
                  <a:gd name="T11" fmla="*/ 219 h 289"/>
                  <a:gd name="T12" fmla="*/ 161 w 202"/>
                  <a:gd name="T13" fmla="*/ 289 h 289"/>
                  <a:gd name="T14" fmla="*/ 126 w 202"/>
                  <a:gd name="T15" fmla="*/ 289 h 289"/>
                  <a:gd name="T16" fmla="*/ 126 w 202"/>
                  <a:gd name="T17" fmla="*/ 219 h 289"/>
                  <a:gd name="T18" fmla="*/ 0 w 202"/>
                  <a:gd name="T19" fmla="*/ 219 h 289"/>
                  <a:gd name="T20" fmla="*/ 0 w 202"/>
                  <a:gd name="T21" fmla="*/ 181 h 289"/>
                  <a:gd name="T22" fmla="*/ 132 w 202"/>
                  <a:gd name="T23" fmla="*/ 0 h 289"/>
                  <a:gd name="T24" fmla="*/ 126 w 202"/>
                  <a:gd name="T25" fmla="*/ 184 h 289"/>
                  <a:gd name="T26" fmla="*/ 126 w 202"/>
                  <a:gd name="T27" fmla="*/ 58 h 289"/>
                  <a:gd name="T28" fmla="*/ 35 w 202"/>
                  <a:gd name="T29" fmla="*/ 184 h 289"/>
                  <a:gd name="T30" fmla="*/ 126 w 202"/>
                  <a:gd name="T31" fmla="*/ 184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2" h="289">
                    <a:moveTo>
                      <a:pt x="132" y="0"/>
                    </a:moveTo>
                    <a:lnTo>
                      <a:pt x="161" y="0"/>
                    </a:lnTo>
                    <a:lnTo>
                      <a:pt x="161" y="184"/>
                    </a:lnTo>
                    <a:lnTo>
                      <a:pt x="202" y="184"/>
                    </a:lnTo>
                    <a:lnTo>
                      <a:pt x="202" y="219"/>
                    </a:lnTo>
                    <a:lnTo>
                      <a:pt x="161" y="219"/>
                    </a:lnTo>
                    <a:lnTo>
                      <a:pt x="161" y="289"/>
                    </a:lnTo>
                    <a:lnTo>
                      <a:pt x="126" y="289"/>
                    </a:lnTo>
                    <a:lnTo>
                      <a:pt x="126" y="219"/>
                    </a:lnTo>
                    <a:lnTo>
                      <a:pt x="0" y="219"/>
                    </a:lnTo>
                    <a:lnTo>
                      <a:pt x="0" y="181"/>
                    </a:lnTo>
                    <a:lnTo>
                      <a:pt x="132" y="0"/>
                    </a:lnTo>
                    <a:close/>
                    <a:moveTo>
                      <a:pt x="126" y="184"/>
                    </a:moveTo>
                    <a:lnTo>
                      <a:pt x="126" y="58"/>
                    </a:lnTo>
                    <a:lnTo>
                      <a:pt x="35" y="184"/>
                    </a:lnTo>
                    <a:lnTo>
                      <a:pt x="126" y="1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2811289" y="3818103"/>
              <a:ext cx="616197" cy="414434"/>
              <a:chOff x="-1172279" y="3916924"/>
              <a:chExt cx="699996" cy="470795"/>
            </a:xfrm>
            <a:solidFill>
              <a:schemeClr val="accent1"/>
            </a:solidFill>
          </p:grpSpPr>
          <p:sp>
            <p:nvSpPr>
              <p:cNvPr id="140" name="Freeform 18"/>
              <p:cNvSpPr>
                <a:spLocks noEditPoints="1"/>
              </p:cNvSpPr>
              <p:nvPr/>
            </p:nvSpPr>
            <p:spPr bwMode="auto">
              <a:xfrm>
                <a:off x="-967857" y="4189489"/>
                <a:ext cx="204426" cy="198230"/>
              </a:xfrm>
              <a:custGeom>
                <a:avLst/>
                <a:gdLst>
                  <a:gd name="T0" fmla="*/ 177 w 354"/>
                  <a:gd name="T1" fmla="*/ 159 h 356"/>
                  <a:gd name="T2" fmla="*/ 175 w 354"/>
                  <a:gd name="T3" fmla="*/ 160 h 356"/>
                  <a:gd name="T4" fmla="*/ 172 w 354"/>
                  <a:gd name="T5" fmla="*/ 160 h 356"/>
                  <a:gd name="T6" fmla="*/ 167 w 354"/>
                  <a:gd name="T7" fmla="*/ 163 h 356"/>
                  <a:gd name="T8" fmla="*/ 164 w 354"/>
                  <a:gd name="T9" fmla="*/ 165 h 356"/>
                  <a:gd name="T10" fmla="*/ 162 w 354"/>
                  <a:gd name="T11" fmla="*/ 169 h 356"/>
                  <a:gd name="T12" fmla="*/ 160 w 354"/>
                  <a:gd name="T13" fmla="*/ 172 h 356"/>
                  <a:gd name="T14" fmla="*/ 159 w 354"/>
                  <a:gd name="T15" fmla="*/ 175 h 356"/>
                  <a:gd name="T16" fmla="*/ 159 w 354"/>
                  <a:gd name="T17" fmla="*/ 178 h 356"/>
                  <a:gd name="T18" fmla="*/ 159 w 354"/>
                  <a:gd name="T19" fmla="*/ 181 h 356"/>
                  <a:gd name="T20" fmla="*/ 160 w 354"/>
                  <a:gd name="T21" fmla="*/ 184 h 356"/>
                  <a:gd name="T22" fmla="*/ 162 w 354"/>
                  <a:gd name="T23" fmla="*/ 187 h 356"/>
                  <a:gd name="T24" fmla="*/ 164 w 354"/>
                  <a:gd name="T25" fmla="*/ 190 h 356"/>
                  <a:gd name="T26" fmla="*/ 173 w 354"/>
                  <a:gd name="T27" fmla="*/ 197 h 356"/>
                  <a:gd name="T28" fmla="*/ 181 w 354"/>
                  <a:gd name="T29" fmla="*/ 197 h 356"/>
                  <a:gd name="T30" fmla="*/ 190 w 354"/>
                  <a:gd name="T31" fmla="*/ 190 h 356"/>
                  <a:gd name="T32" fmla="*/ 195 w 354"/>
                  <a:gd name="T33" fmla="*/ 183 h 356"/>
                  <a:gd name="T34" fmla="*/ 195 w 354"/>
                  <a:gd name="T35" fmla="*/ 173 h 356"/>
                  <a:gd name="T36" fmla="*/ 190 w 354"/>
                  <a:gd name="T37" fmla="*/ 165 h 356"/>
                  <a:gd name="T38" fmla="*/ 187 w 354"/>
                  <a:gd name="T39" fmla="*/ 163 h 356"/>
                  <a:gd name="T40" fmla="*/ 184 w 354"/>
                  <a:gd name="T41" fmla="*/ 160 h 356"/>
                  <a:gd name="T42" fmla="*/ 180 w 354"/>
                  <a:gd name="T43" fmla="*/ 160 h 356"/>
                  <a:gd name="T44" fmla="*/ 177 w 354"/>
                  <a:gd name="T45" fmla="*/ 159 h 356"/>
                  <a:gd name="T46" fmla="*/ 177 w 354"/>
                  <a:gd name="T47" fmla="*/ 0 h 356"/>
                  <a:gd name="T48" fmla="*/ 206 w 354"/>
                  <a:gd name="T49" fmla="*/ 3 h 356"/>
                  <a:gd name="T50" fmla="*/ 233 w 354"/>
                  <a:gd name="T51" fmla="*/ 9 h 356"/>
                  <a:gd name="T52" fmla="*/ 258 w 354"/>
                  <a:gd name="T53" fmla="*/ 20 h 356"/>
                  <a:gd name="T54" fmla="*/ 281 w 354"/>
                  <a:gd name="T55" fmla="*/ 35 h 356"/>
                  <a:gd name="T56" fmla="*/ 303 w 354"/>
                  <a:gd name="T57" fmla="*/ 53 h 356"/>
                  <a:gd name="T58" fmla="*/ 323 w 354"/>
                  <a:gd name="T59" fmla="*/ 77 h 356"/>
                  <a:gd name="T60" fmla="*/ 339 w 354"/>
                  <a:gd name="T61" fmla="*/ 105 h 356"/>
                  <a:gd name="T62" fmla="*/ 349 w 354"/>
                  <a:gd name="T63" fmla="*/ 134 h 356"/>
                  <a:gd name="T64" fmla="*/ 354 w 354"/>
                  <a:gd name="T65" fmla="*/ 163 h 356"/>
                  <a:gd name="T66" fmla="*/ 354 w 354"/>
                  <a:gd name="T67" fmla="*/ 194 h 356"/>
                  <a:gd name="T68" fmla="*/ 349 w 354"/>
                  <a:gd name="T69" fmla="*/ 223 h 356"/>
                  <a:gd name="T70" fmla="*/ 339 w 354"/>
                  <a:gd name="T71" fmla="*/ 252 h 356"/>
                  <a:gd name="T72" fmla="*/ 323 w 354"/>
                  <a:gd name="T73" fmla="*/ 280 h 356"/>
                  <a:gd name="T74" fmla="*/ 303 w 354"/>
                  <a:gd name="T75" fmla="*/ 303 h 356"/>
                  <a:gd name="T76" fmla="*/ 281 w 354"/>
                  <a:gd name="T77" fmla="*/ 321 h 356"/>
                  <a:gd name="T78" fmla="*/ 258 w 354"/>
                  <a:gd name="T79" fmla="*/ 337 h 356"/>
                  <a:gd name="T80" fmla="*/ 233 w 354"/>
                  <a:gd name="T81" fmla="*/ 347 h 356"/>
                  <a:gd name="T82" fmla="*/ 205 w 354"/>
                  <a:gd name="T83" fmla="*/ 354 h 356"/>
                  <a:gd name="T84" fmla="*/ 177 w 354"/>
                  <a:gd name="T85" fmla="*/ 356 h 356"/>
                  <a:gd name="T86" fmla="*/ 149 w 354"/>
                  <a:gd name="T87" fmla="*/ 354 h 356"/>
                  <a:gd name="T88" fmla="*/ 122 w 354"/>
                  <a:gd name="T89" fmla="*/ 347 h 356"/>
                  <a:gd name="T90" fmla="*/ 97 w 354"/>
                  <a:gd name="T91" fmla="*/ 337 h 356"/>
                  <a:gd name="T92" fmla="*/ 73 w 354"/>
                  <a:gd name="T93" fmla="*/ 321 h 356"/>
                  <a:gd name="T94" fmla="*/ 52 w 354"/>
                  <a:gd name="T95" fmla="*/ 303 h 356"/>
                  <a:gd name="T96" fmla="*/ 33 w 354"/>
                  <a:gd name="T97" fmla="*/ 282 h 356"/>
                  <a:gd name="T98" fmla="*/ 19 w 354"/>
                  <a:gd name="T99" fmla="*/ 258 h 356"/>
                  <a:gd name="T100" fmla="*/ 9 w 354"/>
                  <a:gd name="T101" fmla="*/ 233 h 356"/>
                  <a:gd name="T102" fmla="*/ 2 w 354"/>
                  <a:gd name="T103" fmla="*/ 206 h 356"/>
                  <a:gd name="T104" fmla="*/ 0 w 354"/>
                  <a:gd name="T105" fmla="*/ 178 h 356"/>
                  <a:gd name="T106" fmla="*/ 2 w 354"/>
                  <a:gd name="T107" fmla="*/ 150 h 356"/>
                  <a:gd name="T108" fmla="*/ 9 w 354"/>
                  <a:gd name="T109" fmla="*/ 123 h 356"/>
                  <a:gd name="T110" fmla="*/ 19 w 354"/>
                  <a:gd name="T111" fmla="*/ 97 h 356"/>
                  <a:gd name="T112" fmla="*/ 33 w 354"/>
                  <a:gd name="T113" fmla="*/ 73 h 356"/>
                  <a:gd name="T114" fmla="*/ 52 w 354"/>
                  <a:gd name="T115" fmla="*/ 52 h 356"/>
                  <a:gd name="T116" fmla="*/ 73 w 354"/>
                  <a:gd name="T117" fmla="*/ 34 h 356"/>
                  <a:gd name="T118" fmla="*/ 97 w 354"/>
                  <a:gd name="T119" fmla="*/ 20 h 356"/>
                  <a:gd name="T120" fmla="*/ 122 w 354"/>
                  <a:gd name="T121" fmla="*/ 9 h 356"/>
                  <a:gd name="T122" fmla="*/ 149 w 354"/>
                  <a:gd name="T123" fmla="*/ 3 h 356"/>
                  <a:gd name="T124" fmla="*/ 177 w 354"/>
                  <a:gd name="T125" fmla="*/ 0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54" h="356">
                    <a:moveTo>
                      <a:pt x="177" y="159"/>
                    </a:moveTo>
                    <a:lnTo>
                      <a:pt x="175" y="160"/>
                    </a:lnTo>
                    <a:lnTo>
                      <a:pt x="172" y="160"/>
                    </a:lnTo>
                    <a:lnTo>
                      <a:pt x="167" y="163"/>
                    </a:lnTo>
                    <a:lnTo>
                      <a:pt x="164" y="165"/>
                    </a:lnTo>
                    <a:lnTo>
                      <a:pt x="162" y="169"/>
                    </a:lnTo>
                    <a:lnTo>
                      <a:pt x="160" y="172"/>
                    </a:lnTo>
                    <a:lnTo>
                      <a:pt x="159" y="175"/>
                    </a:lnTo>
                    <a:lnTo>
                      <a:pt x="159" y="178"/>
                    </a:lnTo>
                    <a:lnTo>
                      <a:pt x="159" y="181"/>
                    </a:lnTo>
                    <a:lnTo>
                      <a:pt x="160" y="184"/>
                    </a:lnTo>
                    <a:lnTo>
                      <a:pt x="162" y="187"/>
                    </a:lnTo>
                    <a:lnTo>
                      <a:pt x="164" y="190"/>
                    </a:lnTo>
                    <a:lnTo>
                      <a:pt x="173" y="197"/>
                    </a:lnTo>
                    <a:lnTo>
                      <a:pt x="181" y="197"/>
                    </a:lnTo>
                    <a:lnTo>
                      <a:pt x="190" y="190"/>
                    </a:lnTo>
                    <a:lnTo>
                      <a:pt x="195" y="183"/>
                    </a:lnTo>
                    <a:lnTo>
                      <a:pt x="195" y="173"/>
                    </a:lnTo>
                    <a:lnTo>
                      <a:pt x="190" y="165"/>
                    </a:lnTo>
                    <a:lnTo>
                      <a:pt x="187" y="163"/>
                    </a:lnTo>
                    <a:lnTo>
                      <a:pt x="184" y="160"/>
                    </a:lnTo>
                    <a:lnTo>
                      <a:pt x="180" y="160"/>
                    </a:lnTo>
                    <a:lnTo>
                      <a:pt x="177" y="159"/>
                    </a:lnTo>
                    <a:close/>
                    <a:moveTo>
                      <a:pt x="177" y="0"/>
                    </a:moveTo>
                    <a:lnTo>
                      <a:pt x="206" y="3"/>
                    </a:lnTo>
                    <a:lnTo>
                      <a:pt x="233" y="9"/>
                    </a:lnTo>
                    <a:lnTo>
                      <a:pt x="258" y="20"/>
                    </a:lnTo>
                    <a:lnTo>
                      <a:pt x="281" y="35"/>
                    </a:lnTo>
                    <a:lnTo>
                      <a:pt x="303" y="53"/>
                    </a:lnTo>
                    <a:lnTo>
                      <a:pt x="323" y="77"/>
                    </a:lnTo>
                    <a:lnTo>
                      <a:pt x="339" y="105"/>
                    </a:lnTo>
                    <a:lnTo>
                      <a:pt x="349" y="134"/>
                    </a:lnTo>
                    <a:lnTo>
                      <a:pt x="354" y="163"/>
                    </a:lnTo>
                    <a:lnTo>
                      <a:pt x="354" y="194"/>
                    </a:lnTo>
                    <a:lnTo>
                      <a:pt x="349" y="223"/>
                    </a:lnTo>
                    <a:lnTo>
                      <a:pt x="339" y="252"/>
                    </a:lnTo>
                    <a:lnTo>
                      <a:pt x="323" y="280"/>
                    </a:lnTo>
                    <a:lnTo>
                      <a:pt x="303" y="303"/>
                    </a:lnTo>
                    <a:lnTo>
                      <a:pt x="281" y="321"/>
                    </a:lnTo>
                    <a:lnTo>
                      <a:pt x="258" y="337"/>
                    </a:lnTo>
                    <a:lnTo>
                      <a:pt x="233" y="347"/>
                    </a:lnTo>
                    <a:lnTo>
                      <a:pt x="205" y="354"/>
                    </a:lnTo>
                    <a:lnTo>
                      <a:pt x="177" y="356"/>
                    </a:lnTo>
                    <a:lnTo>
                      <a:pt x="149" y="354"/>
                    </a:lnTo>
                    <a:lnTo>
                      <a:pt x="122" y="347"/>
                    </a:lnTo>
                    <a:lnTo>
                      <a:pt x="97" y="337"/>
                    </a:lnTo>
                    <a:lnTo>
                      <a:pt x="73" y="321"/>
                    </a:lnTo>
                    <a:lnTo>
                      <a:pt x="52" y="303"/>
                    </a:lnTo>
                    <a:lnTo>
                      <a:pt x="33" y="282"/>
                    </a:lnTo>
                    <a:lnTo>
                      <a:pt x="19" y="258"/>
                    </a:lnTo>
                    <a:lnTo>
                      <a:pt x="9" y="233"/>
                    </a:lnTo>
                    <a:lnTo>
                      <a:pt x="2" y="206"/>
                    </a:lnTo>
                    <a:lnTo>
                      <a:pt x="0" y="178"/>
                    </a:lnTo>
                    <a:lnTo>
                      <a:pt x="2" y="150"/>
                    </a:lnTo>
                    <a:lnTo>
                      <a:pt x="9" y="123"/>
                    </a:lnTo>
                    <a:lnTo>
                      <a:pt x="19" y="97"/>
                    </a:lnTo>
                    <a:lnTo>
                      <a:pt x="33" y="73"/>
                    </a:lnTo>
                    <a:lnTo>
                      <a:pt x="52" y="52"/>
                    </a:lnTo>
                    <a:lnTo>
                      <a:pt x="73" y="34"/>
                    </a:lnTo>
                    <a:lnTo>
                      <a:pt x="97" y="20"/>
                    </a:lnTo>
                    <a:lnTo>
                      <a:pt x="122" y="9"/>
                    </a:lnTo>
                    <a:lnTo>
                      <a:pt x="149" y="3"/>
                    </a:lnTo>
                    <a:lnTo>
                      <a:pt x="17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19"/>
              <p:cNvSpPr>
                <a:spLocks/>
              </p:cNvSpPr>
              <p:nvPr/>
            </p:nvSpPr>
            <p:spPr bwMode="auto">
              <a:xfrm>
                <a:off x="-868742" y="3916924"/>
                <a:ext cx="396459" cy="377877"/>
              </a:xfrm>
              <a:custGeom>
                <a:avLst/>
                <a:gdLst>
                  <a:gd name="T0" fmla="*/ 637 w 714"/>
                  <a:gd name="T1" fmla="*/ 0 h 673"/>
                  <a:gd name="T2" fmla="*/ 658 w 714"/>
                  <a:gd name="T3" fmla="*/ 3 h 673"/>
                  <a:gd name="T4" fmla="*/ 676 w 714"/>
                  <a:gd name="T5" fmla="*/ 12 h 673"/>
                  <a:gd name="T6" fmla="*/ 693 w 714"/>
                  <a:gd name="T7" fmla="*/ 25 h 673"/>
                  <a:gd name="T8" fmla="*/ 705 w 714"/>
                  <a:gd name="T9" fmla="*/ 43 h 673"/>
                  <a:gd name="T10" fmla="*/ 711 w 714"/>
                  <a:gd name="T11" fmla="*/ 62 h 673"/>
                  <a:gd name="T12" fmla="*/ 714 w 714"/>
                  <a:gd name="T13" fmla="*/ 83 h 673"/>
                  <a:gd name="T14" fmla="*/ 710 w 714"/>
                  <a:gd name="T15" fmla="*/ 102 h 673"/>
                  <a:gd name="T16" fmla="*/ 702 w 714"/>
                  <a:gd name="T17" fmla="*/ 121 h 673"/>
                  <a:gd name="T18" fmla="*/ 688 w 714"/>
                  <a:gd name="T19" fmla="*/ 138 h 673"/>
                  <a:gd name="T20" fmla="*/ 133 w 714"/>
                  <a:gd name="T21" fmla="*/ 652 h 673"/>
                  <a:gd name="T22" fmla="*/ 117 w 714"/>
                  <a:gd name="T23" fmla="*/ 664 h 673"/>
                  <a:gd name="T24" fmla="*/ 99 w 714"/>
                  <a:gd name="T25" fmla="*/ 671 h 673"/>
                  <a:gd name="T26" fmla="*/ 80 w 714"/>
                  <a:gd name="T27" fmla="*/ 673 h 673"/>
                  <a:gd name="T28" fmla="*/ 64 w 714"/>
                  <a:gd name="T29" fmla="*/ 672 h 673"/>
                  <a:gd name="T30" fmla="*/ 49 w 714"/>
                  <a:gd name="T31" fmla="*/ 667 h 673"/>
                  <a:gd name="T32" fmla="*/ 34 w 714"/>
                  <a:gd name="T33" fmla="*/ 659 h 673"/>
                  <a:gd name="T34" fmla="*/ 21 w 714"/>
                  <a:gd name="T35" fmla="*/ 648 h 673"/>
                  <a:gd name="T36" fmla="*/ 9 w 714"/>
                  <a:gd name="T37" fmla="*/ 630 h 673"/>
                  <a:gd name="T38" fmla="*/ 2 w 714"/>
                  <a:gd name="T39" fmla="*/ 611 h 673"/>
                  <a:gd name="T40" fmla="*/ 0 w 714"/>
                  <a:gd name="T41" fmla="*/ 591 h 673"/>
                  <a:gd name="T42" fmla="*/ 4 w 714"/>
                  <a:gd name="T43" fmla="*/ 570 h 673"/>
                  <a:gd name="T44" fmla="*/ 12 w 714"/>
                  <a:gd name="T45" fmla="*/ 552 h 673"/>
                  <a:gd name="T46" fmla="*/ 25 w 714"/>
                  <a:gd name="T47" fmla="*/ 536 h 673"/>
                  <a:gd name="T48" fmla="*/ 581 w 714"/>
                  <a:gd name="T49" fmla="*/ 21 h 673"/>
                  <a:gd name="T50" fmla="*/ 598 w 714"/>
                  <a:gd name="T51" fmla="*/ 9 h 673"/>
                  <a:gd name="T52" fmla="*/ 617 w 714"/>
                  <a:gd name="T53" fmla="*/ 1 h 673"/>
                  <a:gd name="T54" fmla="*/ 637 w 714"/>
                  <a:gd name="T55" fmla="*/ 0 h 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4" h="673">
                    <a:moveTo>
                      <a:pt x="637" y="0"/>
                    </a:moveTo>
                    <a:lnTo>
                      <a:pt x="658" y="3"/>
                    </a:lnTo>
                    <a:lnTo>
                      <a:pt x="676" y="12"/>
                    </a:lnTo>
                    <a:lnTo>
                      <a:pt x="693" y="25"/>
                    </a:lnTo>
                    <a:lnTo>
                      <a:pt x="705" y="43"/>
                    </a:lnTo>
                    <a:lnTo>
                      <a:pt x="711" y="62"/>
                    </a:lnTo>
                    <a:lnTo>
                      <a:pt x="714" y="83"/>
                    </a:lnTo>
                    <a:lnTo>
                      <a:pt x="710" y="102"/>
                    </a:lnTo>
                    <a:lnTo>
                      <a:pt x="702" y="121"/>
                    </a:lnTo>
                    <a:lnTo>
                      <a:pt x="688" y="138"/>
                    </a:lnTo>
                    <a:lnTo>
                      <a:pt x="133" y="652"/>
                    </a:lnTo>
                    <a:lnTo>
                      <a:pt x="117" y="664"/>
                    </a:lnTo>
                    <a:lnTo>
                      <a:pt x="99" y="671"/>
                    </a:lnTo>
                    <a:lnTo>
                      <a:pt x="80" y="673"/>
                    </a:lnTo>
                    <a:lnTo>
                      <a:pt x="64" y="672"/>
                    </a:lnTo>
                    <a:lnTo>
                      <a:pt x="49" y="667"/>
                    </a:lnTo>
                    <a:lnTo>
                      <a:pt x="34" y="659"/>
                    </a:lnTo>
                    <a:lnTo>
                      <a:pt x="21" y="648"/>
                    </a:lnTo>
                    <a:lnTo>
                      <a:pt x="9" y="630"/>
                    </a:lnTo>
                    <a:lnTo>
                      <a:pt x="2" y="611"/>
                    </a:lnTo>
                    <a:lnTo>
                      <a:pt x="0" y="591"/>
                    </a:lnTo>
                    <a:lnTo>
                      <a:pt x="4" y="570"/>
                    </a:lnTo>
                    <a:lnTo>
                      <a:pt x="12" y="552"/>
                    </a:lnTo>
                    <a:lnTo>
                      <a:pt x="25" y="536"/>
                    </a:lnTo>
                    <a:lnTo>
                      <a:pt x="581" y="21"/>
                    </a:lnTo>
                    <a:lnTo>
                      <a:pt x="598" y="9"/>
                    </a:lnTo>
                    <a:lnTo>
                      <a:pt x="617" y="1"/>
                    </a:lnTo>
                    <a:lnTo>
                      <a:pt x="6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20"/>
              <p:cNvSpPr>
                <a:spLocks/>
              </p:cNvSpPr>
              <p:nvPr/>
            </p:nvSpPr>
            <p:spPr bwMode="auto">
              <a:xfrm>
                <a:off x="-1172279" y="4016039"/>
                <a:ext cx="284955" cy="266373"/>
              </a:xfrm>
              <a:custGeom>
                <a:avLst/>
                <a:gdLst>
                  <a:gd name="T0" fmla="*/ 75 w 514"/>
                  <a:gd name="T1" fmla="*/ 0 h 470"/>
                  <a:gd name="T2" fmla="*/ 96 w 514"/>
                  <a:gd name="T3" fmla="*/ 1 h 470"/>
                  <a:gd name="T4" fmla="*/ 115 w 514"/>
                  <a:gd name="T5" fmla="*/ 7 h 470"/>
                  <a:gd name="T6" fmla="*/ 132 w 514"/>
                  <a:gd name="T7" fmla="*/ 19 h 470"/>
                  <a:gd name="T8" fmla="*/ 487 w 514"/>
                  <a:gd name="T9" fmla="*/ 331 h 470"/>
                  <a:gd name="T10" fmla="*/ 501 w 514"/>
                  <a:gd name="T11" fmla="*/ 347 h 470"/>
                  <a:gd name="T12" fmla="*/ 509 w 514"/>
                  <a:gd name="T13" fmla="*/ 365 h 470"/>
                  <a:gd name="T14" fmla="*/ 514 w 514"/>
                  <a:gd name="T15" fmla="*/ 385 h 470"/>
                  <a:gd name="T16" fmla="*/ 513 w 514"/>
                  <a:gd name="T17" fmla="*/ 406 h 470"/>
                  <a:gd name="T18" fmla="*/ 506 w 514"/>
                  <a:gd name="T19" fmla="*/ 425 h 470"/>
                  <a:gd name="T20" fmla="*/ 494 w 514"/>
                  <a:gd name="T21" fmla="*/ 442 h 470"/>
                  <a:gd name="T22" fmla="*/ 482 w 514"/>
                  <a:gd name="T23" fmla="*/ 454 h 470"/>
                  <a:gd name="T24" fmla="*/ 467 w 514"/>
                  <a:gd name="T25" fmla="*/ 463 h 470"/>
                  <a:gd name="T26" fmla="*/ 450 w 514"/>
                  <a:gd name="T27" fmla="*/ 468 h 470"/>
                  <a:gd name="T28" fmla="*/ 434 w 514"/>
                  <a:gd name="T29" fmla="*/ 470 h 470"/>
                  <a:gd name="T30" fmla="*/ 416 w 514"/>
                  <a:gd name="T31" fmla="*/ 468 h 470"/>
                  <a:gd name="T32" fmla="*/ 398 w 514"/>
                  <a:gd name="T33" fmla="*/ 462 h 470"/>
                  <a:gd name="T34" fmla="*/ 382 w 514"/>
                  <a:gd name="T35" fmla="*/ 450 h 470"/>
                  <a:gd name="T36" fmla="*/ 28 w 514"/>
                  <a:gd name="T37" fmla="*/ 139 h 470"/>
                  <a:gd name="T38" fmla="*/ 14 w 514"/>
                  <a:gd name="T39" fmla="*/ 123 h 470"/>
                  <a:gd name="T40" fmla="*/ 4 w 514"/>
                  <a:gd name="T41" fmla="*/ 105 h 470"/>
                  <a:gd name="T42" fmla="*/ 0 w 514"/>
                  <a:gd name="T43" fmla="*/ 85 h 470"/>
                  <a:gd name="T44" fmla="*/ 2 w 514"/>
                  <a:gd name="T45" fmla="*/ 64 h 470"/>
                  <a:gd name="T46" fmla="*/ 9 w 514"/>
                  <a:gd name="T47" fmla="*/ 45 h 470"/>
                  <a:gd name="T48" fmla="*/ 20 w 514"/>
                  <a:gd name="T49" fmla="*/ 27 h 470"/>
                  <a:gd name="T50" fmla="*/ 37 w 514"/>
                  <a:gd name="T51" fmla="*/ 13 h 470"/>
                  <a:gd name="T52" fmla="*/ 55 w 514"/>
                  <a:gd name="T53" fmla="*/ 4 h 470"/>
                  <a:gd name="T54" fmla="*/ 75 w 514"/>
                  <a:gd name="T55" fmla="*/ 0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14" h="470">
                    <a:moveTo>
                      <a:pt x="75" y="0"/>
                    </a:moveTo>
                    <a:lnTo>
                      <a:pt x="96" y="1"/>
                    </a:lnTo>
                    <a:lnTo>
                      <a:pt x="115" y="7"/>
                    </a:lnTo>
                    <a:lnTo>
                      <a:pt x="132" y="19"/>
                    </a:lnTo>
                    <a:lnTo>
                      <a:pt x="487" y="331"/>
                    </a:lnTo>
                    <a:lnTo>
                      <a:pt x="501" y="347"/>
                    </a:lnTo>
                    <a:lnTo>
                      <a:pt x="509" y="365"/>
                    </a:lnTo>
                    <a:lnTo>
                      <a:pt x="514" y="385"/>
                    </a:lnTo>
                    <a:lnTo>
                      <a:pt x="513" y="406"/>
                    </a:lnTo>
                    <a:lnTo>
                      <a:pt x="506" y="425"/>
                    </a:lnTo>
                    <a:lnTo>
                      <a:pt x="494" y="442"/>
                    </a:lnTo>
                    <a:lnTo>
                      <a:pt x="482" y="454"/>
                    </a:lnTo>
                    <a:lnTo>
                      <a:pt x="467" y="463"/>
                    </a:lnTo>
                    <a:lnTo>
                      <a:pt x="450" y="468"/>
                    </a:lnTo>
                    <a:lnTo>
                      <a:pt x="434" y="470"/>
                    </a:lnTo>
                    <a:lnTo>
                      <a:pt x="416" y="468"/>
                    </a:lnTo>
                    <a:lnTo>
                      <a:pt x="398" y="462"/>
                    </a:lnTo>
                    <a:lnTo>
                      <a:pt x="382" y="450"/>
                    </a:lnTo>
                    <a:lnTo>
                      <a:pt x="28" y="139"/>
                    </a:lnTo>
                    <a:lnTo>
                      <a:pt x="14" y="123"/>
                    </a:lnTo>
                    <a:lnTo>
                      <a:pt x="4" y="105"/>
                    </a:lnTo>
                    <a:lnTo>
                      <a:pt x="0" y="85"/>
                    </a:lnTo>
                    <a:lnTo>
                      <a:pt x="2" y="64"/>
                    </a:lnTo>
                    <a:lnTo>
                      <a:pt x="9" y="45"/>
                    </a:lnTo>
                    <a:lnTo>
                      <a:pt x="20" y="27"/>
                    </a:lnTo>
                    <a:lnTo>
                      <a:pt x="37" y="13"/>
                    </a:lnTo>
                    <a:lnTo>
                      <a:pt x="55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28" name="Straight Connector 27"/>
            <p:cNvCxnSpPr/>
            <p:nvPr/>
          </p:nvCxnSpPr>
          <p:spPr>
            <a:xfrm flipH="1" flipV="1">
              <a:off x="994684" y="3359684"/>
              <a:ext cx="9725" cy="692277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>
              <a:off x="1246851" y="4076743"/>
              <a:ext cx="355508" cy="217348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cxnSpLocks/>
            </p:cNvCxnSpPr>
            <p:nvPr/>
          </p:nvCxnSpPr>
          <p:spPr>
            <a:xfrm flipV="1">
              <a:off x="2889338" y="3480238"/>
              <a:ext cx="1278470" cy="255642"/>
            </a:xfrm>
            <a:prstGeom prst="line">
              <a:avLst/>
            </a:prstGeom>
            <a:ln w="19050">
              <a:solidFill>
                <a:schemeClr val="accent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cxnSpLocks/>
            </p:cNvCxnSpPr>
            <p:nvPr/>
          </p:nvCxnSpPr>
          <p:spPr>
            <a:xfrm flipV="1">
              <a:off x="2763612" y="2917434"/>
              <a:ext cx="1278470" cy="261802"/>
            </a:xfrm>
            <a:prstGeom prst="line">
              <a:avLst/>
            </a:prstGeom>
            <a:ln w="19050">
              <a:solidFill>
                <a:schemeClr val="accent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>
              <a:spLocks/>
            </p:cNvSpPr>
            <p:nvPr/>
          </p:nvSpPr>
          <p:spPr>
            <a:xfrm>
              <a:off x="4100049" y="2239073"/>
              <a:ext cx="1564195" cy="155845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 err="1">
                <a:solidFill>
                  <a:schemeClr val="tx1"/>
                </a:solidFill>
              </a:endParaRP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4557966" y="2681009"/>
              <a:ext cx="271077" cy="692898"/>
              <a:chOff x="4337183" y="3220332"/>
              <a:chExt cx="271077" cy="692898"/>
            </a:xfrm>
          </p:grpSpPr>
          <p:sp>
            <p:nvSpPr>
              <p:cNvPr id="138" name="Freeform 19"/>
              <p:cNvSpPr>
                <a:spLocks/>
              </p:cNvSpPr>
              <p:nvPr/>
            </p:nvSpPr>
            <p:spPr bwMode="auto">
              <a:xfrm>
                <a:off x="4337183" y="3343299"/>
                <a:ext cx="271077" cy="569931"/>
              </a:xfrm>
              <a:custGeom>
                <a:avLst/>
                <a:gdLst>
                  <a:gd name="T0" fmla="*/ 108 w 442"/>
                  <a:gd name="T1" fmla="*/ 891 h 949"/>
                  <a:gd name="T2" fmla="*/ 108 w 442"/>
                  <a:gd name="T3" fmla="*/ 133 h 949"/>
                  <a:gd name="T4" fmla="*/ 79 w 442"/>
                  <a:gd name="T5" fmla="*/ 136 h 949"/>
                  <a:gd name="T6" fmla="*/ 81 w 442"/>
                  <a:gd name="T7" fmla="*/ 405 h 949"/>
                  <a:gd name="T8" fmla="*/ 0 w 442"/>
                  <a:gd name="T9" fmla="*/ 406 h 949"/>
                  <a:gd name="T10" fmla="*/ 0 w 442"/>
                  <a:gd name="T11" fmla="*/ 103 h 949"/>
                  <a:gd name="T12" fmla="*/ 93 w 442"/>
                  <a:gd name="T13" fmla="*/ 0 h 949"/>
                  <a:gd name="T14" fmla="*/ 333 w 442"/>
                  <a:gd name="T15" fmla="*/ 0 h 949"/>
                  <a:gd name="T16" fmla="*/ 436 w 442"/>
                  <a:gd name="T17" fmla="*/ 94 h 949"/>
                  <a:gd name="T18" fmla="*/ 436 w 442"/>
                  <a:gd name="T19" fmla="*/ 402 h 949"/>
                  <a:gd name="T20" fmla="*/ 360 w 442"/>
                  <a:gd name="T21" fmla="*/ 403 h 949"/>
                  <a:gd name="T22" fmla="*/ 360 w 442"/>
                  <a:gd name="T23" fmla="*/ 130 h 949"/>
                  <a:gd name="T24" fmla="*/ 331 w 442"/>
                  <a:gd name="T25" fmla="*/ 130 h 949"/>
                  <a:gd name="T26" fmla="*/ 331 w 442"/>
                  <a:gd name="T27" fmla="*/ 898 h 949"/>
                  <a:gd name="T28" fmla="*/ 237 w 442"/>
                  <a:gd name="T29" fmla="*/ 898 h 949"/>
                  <a:gd name="T30" fmla="*/ 235 w 442"/>
                  <a:gd name="T31" fmla="*/ 459 h 949"/>
                  <a:gd name="T32" fmla="*/ 199 w 442"/>
                  <a:gd name="T33" fmla="*/ 459 h 949"/>
                  <a:gd name="T34" fmla="*/ 199 w 442"/>
                  <a:gd name="T35" fmla="*/ 891 h 949"/>
                  <a:gd name="T36" fmla="*/ 108 w 442"/>
                  <a:gd name="T37" fmla="*/ 891 h 9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2" h="949">
                    <a:moveTo>
                      <a:pt x="108" y="891"/>
                    </a:moveTo>
                    <a:cubicBezTo>
                      <a:pt x="108" y="512"/>
                      <a:pt x="108" y="133"/>
                      <a:pt x="108" y="133"/>
                    </a:cubicBezTo>
                    <a:cubicBezTo>
                      <a:pt x="108" y="133"/>
                      <a:pt x="93" y="115"/>
                      <a:pt x="79" y="136"/>
                    </a:cubicBezTo>
                    <a:cubicBezTo>
                      <a:pt x="80" y="270"/>
                      <a:pt x="81" y="405"/>
                      <a:pt x="81" y="405"/>
                    </a:cubicBezTo>
                    <a:cubicBezTo>
                      <a:pt x="60" y="462"/>
                      <a:pt x="7" y="432"/>
                      <a:pt x="0" y="406"/>
                    </a:cubicBezTo>
                    <a:cubicBezTo>
                      <a:pt x="0" y="254"/>
                      <a:pt x="0" y="103"/>
                      <a:pt x="0" y="103"/>
                    </a:cubicBezTo>
                    <a:cubicBezTo>
                      <a:pt x="0" y="103"/>
                      <a:pt x="7" y="28"/>
                      <a:pt x="93" y="0"/>
                    </a:cubicBezTo>
                    <a:cubicBezTo>
                      <a:pt x="93" y="0"/>
                      <a:pt x="213" y="0"/>
                      <a:pt x="333" y="0"/>
                    </a:cubicBezTo>
                    <a:cubicBezTo>
                      <a:pt x="424" y="12"/>
                      <a:pt x="436" y="94"/>
                      <a:pt x="436" y="94"/>
                    </a:cubicBezTo>
                    <a:cubicBezTo>
                      <a:pt x="436" y="94"/>
                      <a:pt x="436" y="248"/>
                      <a:pt x="436" y="402"/>
                    </a:cubicBezTo>
                    <a:cubicBezTo>
                      <a:pt x="442" y="426"/>
                      <a:pt x="382" y="474"/>
                      <a:pt x="360" y="403"/>
                    </a:cubicBezTo>
                    <a:cubicBezTo>
                      <a:pt x="360" y="266"/>
                      <a:pt x="360" y="130"/>
                      <a:pt x="360" y="130"/>
                    </a:cubicBezTo>
                    <a:cubicBezTo>
                      <a:pt x="360" y="130"/>
                      <a:pt x="345" y="115"/>
                      <a:pt x="331" y="130"/>
                    </a:cubicBezTo>
                    <a:cubicBezTo>
                      <a:pt x="331" y="130"/>
                      <a:pt x="331" y="514"/>
                      <a:pt x="331" y="898"/>
                    </a:cubicBezTo>
                    <a:cubicBezTo>
                      <a:pt x="325" y="931"/>
                      <a:pt x="261" y="949"/>
                      <a:pt x="237" y="898"/>
                    </a:cubicBezTo>
                    <a:cubicBezTo>
                      <a:pt x="236" y="678"/>
                      <a:pt x="234" y="471"/>
                      <a:pt x="235" y="459"/>
                    </a:cubicBezTo>
                    <a:cubicBezTo>
                      <a:pt x="237" y="454"/>
                      <a:pt x="207" y="444"/>
                      <a:pt x="199" y="459"/>
                    </a:cubicBezTo>
                    <a:cubicBezTo>
                      <a:pt x="199" y="459"/>
                      <a:pt x="199" y="675"/>
                      <a:pt x="199" y="891"/>
                    </a:cubicBezTo>
                    <a:cubicBezTo>
                      <a:pt x="190" y="942"/>
                      <a:pt x="126" y="946"/>
                      <a:pt x="108" y="8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39" name="Oval 20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4416590" y="3220332"/>
                <a:ext cx="112264" cy="10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4408707" y="2491625"/>
              <a:ext cx="212068" cy="20788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35" name="Freeform 31"/>
            <p:cNvSpPr>
              <a:spLocks noEditPoints="1"/>
            </p:cNvSpPr>
            <p:nvPr/>
          </p:nvSpPr>
          <p:spPr bwMode="auto">
            <a:xfrm>
              <a:off x="4435559" y="2520841"/>
              <a:ext cx="158363" cy="149454"/>
            </a:xfrm>
            <a:custGeom>
              <a:avLst/>
              <a:gdLst>
                <a:gd name="T0" fmla="*/ 2889 w 11335"/>
                <a:gd name="T1" fmla="*/ 10556 h 10913"/>
                <a:gd name="T2" fmla="*/ 521 w 11335"/>
                <a:gd name="T3" fmla="*/ 10060 h 10913"/>
                <a:gd name="T4" fmla="*/ 38 w 11335"/>
                <a:gd name="T5" fmla="*/ 5298 h 10913"/>
                <a:gd name="T6" fmla="*/ 4169 w 11335"/>
                <a:gd name="T7" fmla="*/ 4998 h 10913"/>
                <a:gd name="T8" fmla="*/ 4665 w 11335"/>
                <a:gd name="T9" fmla="*/ 7255 h 10913"/>
                <a:gd name="T10" fmla="*/ 6158 w 11335"/>
                <a:gd name="T11" fmla="*/ 7610 h 10913"/>
                <a:gd name="T12" fmla="*/ 6503 w 11335"/>
                <a:gd name="T13" fmla="*/ 7503 h 10913"/>
                <a:gd name="T14" fmla="*/ 7045 w 11335"/>
                <a:gd name="T15" fmla="*/ 4125 h 10913"/>
                <a:gd name="T16" fmla="*/ 6793 w 11335"/>
                <a:gd name="T17" fmla="*/ 3656 h 10913"/>
                <a:gd name="T18" fmla="*/ 6702 w 11335"/>
                <a:gd name="T19" fmla="*/ 3179 h 10913"/>
                <a:gd name="T20" fmla="*/ 7958 w 11335"/>
                <a:gd name="T21" fmla="*/ 3301 h 10913"/>
                <a:gd name="T22" fmla="*/ 7355 w 11335"/>
                <a:gd name="T23" fmla="*/ 3656 h 10913"/>
                <a:gd name="T24" fmla="*/ 7346 w 11335"/>
                <a:gd name="T25" fmla="*/ 6428 h 10913"/>
                <a:gd name="T26" fmla="*/ 6576 w 11335"/>
                <a:gd name="T27" fmla="*/ 8013 h 10913"/>
                <a:gd name="T28" fmla="*/ 8053 w 11335"/>
                <a:gd name="T29" fmla="*/ 9141 h 10913"/>
                <a:gd name="T30" fmla="*/ 9931 w 11335"/>
                <a:gd name="T31" fmla="*/ 6869 h 10913"/>
                <a:gd name="T32" fmla="*/ 9818 w 11335"/>
                <a:gd name="T33" fmla="*/ 6438 h 10913"/>
                <a:gd name="T34" fmla="*/ 9416 w 11335"/>
                <a:gd name="T35" fmla="*/ 5634 h 10913"/>
                <a:gd name="T36" fmla="*/ 8944 w 11335"/>
                <a:gd name="T37" fmla="*/ 4384 h 10913"/>
                <a:gd name="T38" fmla="*/ 10001 w 11335"/>
                <a:gd name="T39" fmla="*/ 3133 h 10913"/>
                <a:gd name="T40" fmla="*/ 11335 w 11335"/>
                <a:gd name="T41" fmla="*/ 4507 h 10913"/>
                <a:gd name="T42" fmla="*/ 10674 w 11335"/>
                <a:gd name="T43" fmla="*/ 6099 h 10913"/>
                <a:gd name="T44" fmla="*/ 10299 w 11335"/>
                <a:gd name="T45" fmla="*/ 6894 h 10913"/>
                <a:gd name="T46" fmla="*/ 8236 w 11335"/>
                <a:gd name="T47" fmla="*/ 9520 h 10913"/>
                <a:gd name="T48" fmla="*/ 6138 w 11335"/>
                <a:gd name="T49" fmla="*/ 8268 h 10913"/>
                <a:gd name="T50" fmla="*/ 4665 w 11335"/>
                <a:gd name="T51" fmla="*/ 8494 h 10913"/>
                <a:gd name="T52" fmla="*/ 4366 w 11335"/>
                <a:gd name="T53" fmla="*/ 9975 h 10913"/>
                <a:gd name="T54" fmla="*/ 3979 w 11335"/>
                <a:gd name="T55" fmla="*/ 9160 h 10913"/>
                <a:gd name="T56" fmla="*/ 3703 w 11335"/>
                <a:gd name="T57" fmla="*/ 10000 h 10913"/>
                <a:gd name="T58" fmla="*/ 3260 w 11335"/>
                <a:gd name="T59" fmla="*/ 10822 h 10913"/>
                <a:gd name="T60" fmla="*/ 4064 w 11335"/>
                <a:gd name="T61" fmla="*/ 5775 h 10913"/>
                <a:gd name="T62" fmla="*/ 4545 w 11335"/>
                <a:gd name="T63" fmla="*/ 5501 h 10913"/>
                <a:gd name="T64" fmla="*/ 188 w 11335"/>
                <a:gd name="T65" fmla="*/ 5471 h 10913"/>
                <a:gd name="T66" fmla="*/ 3009 w 11335"/>
                <a:gd name="T67" fmla="*/ 6281 h 10913"/>
                <a:gd name="T68" fmla="*/ 3703 w 11335"/>
                <a:gd name="T69" fmla="*/ 6573 h 10913"/>
                <a:gd name="T70" fmla="*/ 3959 w 11335"/>
                <a:gd name="T71" fmla="*/ 8853 h 10913"/>
                <a:gd name="T72" fmla="*/ 5834 w 11335"/>
                <a:gd name="T73" fmla="*/ 7997 h 10913"/>
                <a:gd name="T74" fmla="*/ 5773 w 11335"/>
                <a:gd name="T75" fmla="*/ 7766 h 10913"/>
                <a:gd name="T76" fmla="*/ 4695 w 11335"/>
                <a:gd name="T77" fmla="*/ 7618 h 10913"/>
                <a:gd name="T78" fmla="*/ 4657 w 11335"/>
                <a:gd name="T79" fmla="*/ 8149 h 10913"/>
                <a:gd name="T80" fmla="*/ 5834 w 11335"/>
                <a:gd name="T81" fmla="*/ 7997 h 10913"/>
                <a:gd name="T82" fmla="*/ 6558 w 11335"/>
                <a:gd name="T83" fmla="*/ 451 h 10913"/>
                <a:gd name="T84" fmla="*/ 7687 w 11335"/>
                <a:gd name="T85" fmla="*/ 2970 h 10913"/>
                <a:gd name="T86" fmla="*/ 7679 w 11335"/>
                <a:gd name="T87" fmla="*/ 2555 h 10913"/>
                <a:gd name="T88" fmla="*/ 6167 w 11335"/>
                <a:gd name="T89" fmla="*/ 1654 h 10913"/>
                <a:gd name="T90" fmla="*/ 7033 w 11335"/>
                <a:gd name="T91" fmla="*/ 1759 h 10913"/>
                <a:gd name="T92" fmla="*/ 7298 w 11335"/>
                <a:gd name="T93" fmla="*/ 1675 h 10913"/>
                <a:gd name="T94" fmla="*/ 6543 w 11335"/>
                <a:gd name="T95" fmla="*/ 1659 h 10913"/>
                <a:gd name="T96" fmla="*/ 6828 w 11335"/>
                <a:gd name="T97" fmla="*/ 1630 h 10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35" h="10913">
                  <a:moveTo>
                    <a:pt x="3260" y="10822"/>
                  </a:moveTo>
                  <a:cubicBezTo>
                    <a:pt x="3165" y="10772"/>
                    <a:pt x="2998" y="10652"/>
                    <a:pt x="2889" y="10556"/>
                  </a:cubicBezTo>
                  <a:cubicBezTo>
                    <a:pt x="2717" y="10404"/>
                    <a:pt x="2626" y="10375"/>
                    <a:pt x="2220" y="10344"/>
                  </a:cubicBezTo>
                  <a:cubicBezTo>
                    <a:pt x="1388" y="10280"/>
                    <a:pt x="795" y="10181"/>
                    <a:pt x="521" y="10060"/>
                  </a:cubicBezTo>
                  <a:cubicBezTo>
                    <a:pt x="0" y="9830"/>
                    <a:pt x="38" y="10026"/>
                    <a:pt x="38" y="7522"/>
                  </a:cubicBezTo>
                  <a:lnTo>
                    <a:pt x="38" y="5298"/>
                  </a:lnTo>
                  <a:lnTo>
                    <a:pt x="191" y="5176"/>
                  </a:lnTo>
                  <a:cubicBezTo>
                    <a:pt x="807" y="4689"/>
                    <a:pt x="3075" y="4587"/>
                    <a:pt x="4169" y="4998"/>
                  </a:cubicBezTo>
                  <a:cubicBezTo>
                    <a:pt x="4647" y="5177"/>
                    <a:pt x="4665" y="5225"/>
                    <a:pt x="4665" y="6316"/>
                  </a:cubicBezTo>
                  <a:lnTo>
                    <a:pt x="4665" y="7255"/>
                  </a:lnTo>
                  <a:lnTo>
                    <a:pt x="5131" y="7257"/>
                  </a:lnTo>
                  <a:cubicBezTo>
                    <a:pt x="5617" y="7260"/>
                    <a:pt x="5871" y="7347"/>
                    <a:pt x="6158" y="7610"/>
                  </a:cubicBezTo>
                  <a:lnTo>
                    <a:pt x="6299" y="7738"/>
                  </a:lnTo>
                  <a:lnTo>
                    <a:pt x="6503" y="7503"/>
                  </a:lnTo>
                  <a:cubicBezTo>
                    <a:pt x="6727" y="7243"/>
                    <a:pt x="6924" y="6768"/>
                    <a:pt x="7021" y="6257"/>
                  </a:cubicBezTo>
                  <a:cubicBezTo>
                    <a:pt x="7097" y="5856"/>
                    <a:pt x="7109" y="4769"/>
                    <a:pt x="7045" y="4125"/>
                  </a:cubicBezTo>
                  <a:lnTo>
                    <a:pt x="6998" y="3656"/>
                  </a:lnTo>
                  <a:lnTo>
                    <a:pt x="6793" y="3656"/>
                  </a:lnTo>
                  <a:cubicBezTo>
                    <a:pt x="6466" y="3656"/>
                    <a:pt x="6229" y="3347"/>
                    <a:pt x="6429" y="3180"/>
                  </a:cubicBezTo>
                  <a:cubicBezTo>
                    <a:pt x="6489" y="3130"/>
                    <a:pt x="6561" y="3130"/>
                    <a:pt x="6702" y="3179"/>
                  </a:cubicBezTo>
                  <a:cubicBezTo>
                    <a:pt x="6870" y="3238"/>
                    <a:pt x="7156" y="3233"/>
                    <a:pt x="7790" y="3160"/>
                  </a:cubicBezTo>
                  <a:cubicBezTo>
                    <a:pt x="7913" y="3145"/>
                    <a:pt x="7943" y="3171"/>
                    <a:pt x="7958" y="3301"/>
                  </a:cubicBezTo>
                  <a:cubicBezTo>
                    <a:pt x="7983" y="3515"/>
                    <a:pt x="7827" y="3656"/>
                    <a:pt x="7568" y="3656"/>
                  </a:cubicBezTo>
                  <a:lnTo>
                    <a:pt x="7355" y="3656"/>
                  </a:lnTo>
                  <a:lnTo>
                    <a:pt x="7397" y="4053"/>
                  </a:lnTo>
                  <a:cubicBezTo>
                    <a:pt x="7471" y="4740"/>
                    <a:pt x="7444" y="5957"/>
                    <a:pt x="7346" y="6428"/>
                  </a:cubicBezTo>
                  <a:cubicBezTo>
                    <a:pt x="7237" y="6951"/>
                    <a:pt x="7023" y="7445"/>
                    <a:pt x="6763" y="7775"/>
                  </a:cubicBezTo>
                  <a:lnTo>
                    <a:pt x="6576" y="8013"/>
                  </a:lnTo>
                  <a:lnTo>
                    <a:pt x="6741" y="8239"/>
                  </a:lnTo>
                  <a:cubicBezTo>
                    <a:pt x="7192" y="8852"/>
                    <a:pt x="7534" y="9088"/>
                    <a:pt x="8053" y="9141"/>
                  </a:cubicBezTo>
                  <a:cubicBezTo>
                    <a:pt x="8637" y="9202"/>
                    <a:pt x="9115" y="8956"/>
                    <a:pt x="9450" y="8423"/>
                  </a:cubicBezTo>
                  <a:cubicBezTo>
                    <a:pt x="9661" y="8086"/>
                    <a:pt x="9885" y="7361"/>
                    <a:pt x="9931" y="6869"/>
                  </a:cubicBezTo>
                  <a:lnTo>
                    <a:pt x="9971" y="6438"/>
                  </a:lnTo>
                  <a:lnTo>
                    <a:pt x="9818" y="6438"/>
                  </a:lnTo>
                  <a:cubicBezTo>
                    <a:pt x="9641" y="6438"/>
                    <a:pt x="9593" y="6343"/>
                    <a:pt x="9593" y="5993"/>
                  </a:cubicBezTo>
                  <a:cubicBezTo>
                    <a:pt x="9593" y="5776"/>
                    <a:pt x="9567" y="5723"/>
                    <a:pt x="9416" y="5634"/>
                  </a:cubicBezTo>
                  <a:cubicBezTo>
                    <a:pt x="9313" y="5572"/>
                    <a:pt x="9173" y="5391"/>
                    <a:pt x="9078" y="5196"/>
                  </a:cubicBezTo>
                  <a:cubicBezTo>
                    <a:pt x="8933" y="4898"/>
                    <a:pt x="8919" y="4813"/>
                    <a:pt x="8944" y="4384"/>
                  </a:cubicBezTo>
                  <a:cubicBezTo>
                    <a:pt x="8966" y="3998"/>
                    <a:pt x="9002" y="3858"/>
                    <a:pt x="9128" y="3667"/>
                  </a:cubicBezTo>
                  <a:cubicBezTo>
                    <a:pt x="9329" y="3360"/>
                    <a:pt x="9629" y="3177"/>
                    <a:pt x="10001" y="3133"/>
                  </a:cubicBezTo>
                  <a:cubicBezTo>
                    <a:pt x="10369" y="3089"/>
                    <a:pt x="10677" y="3186"/>
                    <a:pt x="10959" y="3435"/>
                  </a:cubicBezTo>
                  <a:cubicBezTo>
                    <a:pt x="11253" y="3695"/>
                    <a:pt x="11335" y="3930"/>
                    <a:pt x="11335" y="4507"/>
                  </a:cubicBezTo>
                  <a:cubicBezTo>
                    <a:pt x="11335" y="5080"/>
                    <a:pt x="11246" y="5318"/>
                    <a:pt x="10923" y="5602"/>
                  </a:cubicBezTo>
                  <a:cubicBezTo>
                    <a:pt x="10739" y="5764"/>
                    <a:pt x="10700" y="5843"/>
                    <a:pt x="10674" y="6099"/>
                  </a:cubicBezTo>
                  <a:cubicBezTo>
                    <a:pt x="10648" y="6362"/>
                    <a:pt x="10624" y="6408"/>
                    <a:pt x="10494" y="6439"/>
                  </a:cubicBezTo>
                  <a:cubicBezTo>
                    <a:pt x="10358" y="6471"/>
                    <a:pt x="10340" y="6512"/>
                    <a:pt x="10299" y="6894"/>
                  </a:cubicBezTo>
                  <a:cubicBezTo>
                    <a:pt x="10234" y="7505"/>
                    <a:pt x="9989" y="8245"/>
                    <a:pt x="9714" y="8660"/>
                  </a:cubicBezTo>
                  <a:cubicBezTo>
                    <a:pt x="9340" y="9223"/>
                    <a:pt x="8839" y="9515"/>
                    <a:pt x="8236" y="9520"/>
                  </a:cubicBezTo>
                  <a:cubicBezTo>
                    <a:pt x="7572" y="9526"/>
                    <a:pt x="7126" y="9273"/>
                    <a:pt x="6531" y="8553"/>
                  </a:cubicBezTo>
                  <a:cubicBezTo>
                    <a:pt x="6293" y="8265"/>
                    <a:pt x="6227" y="8218"/>
                    <a:pt x="6138" y="8268"/>
                  </a:cubicBezTo>
                  <a:cubicBezTo>
                    <a:pt x="5927" y="8387"/>
                    <a:pt x="5410" y="8493"/>
                    <a:pt x="5041" y="8494"/>
                  </a:cubicBezTo>
                  <a:lnTo>
                    <a:pt x="4665" y="8494"/>
                  </a:lnTo>
                  <a:lnTo>
                    <a:pt x="4665" y="9073"/>
                  </a:lnTo>
                  <a:cubicBezTo>
                    <a:pt x="4665" y="9714"/>
                    <a:pt x="4623" y="9842"/>
                    <a:pt x="4366" y="9975"/>
                  </a:cubicBezTo>
                  <a:cubicBezTo>
                    <a:pt x="4083" y="10123"/>
                    <a:pt x="4064" y="10100"/>
                    <a:pt x="4064" y="9613"/>
                  </a:cubicBezTo>
                  <a:cubicBezTo>
                    <a:pt x="4064" y="9262"/>
                    <a:pt x="4045" y="9160"/>
                    <a:pt x="3979" y="9160"/>
                  </a:cubicBezTo>
                  <a:cubicBezTo>
                    <a:pt x="3932" y="9160"/>
                    <a:pt x="3851" y="9143"/>
                    <a:pt x="3798" y="9123"/>
                  </a:cubicBezTo>
                  <a:cubicBezTo>
                    <a:pt x="3714" y="9091"/>
                    <a:pt x="3703" y="9192"/>
                    <a:pt x="3703" y="10000"/>
                  </a:cubicBezTo>
                  <a:cubicBezTo>
                    <a:pt x="3703" y="10907"/>
                    <a:pt x="3702" y="10913"/>
                    <a:pt x="3568" y="10913"/>
                  </a:cubicBezTo>
                  <a:cubicBezTo>
                    <a:pt x="3494" y="10913"/>
                    <a:pt x="3355" y="10872"/>
                    <a:pt x="3260" y="10822"/>
                  </a:cubicBezTo>
                  <a:close/>
                  <a:moveTo>
                    <a:pt x="4064" y="7316"/>
                  </a:moveTo>
                  <a:lnTo>
                    <a:pt x="4064" y="5775"/>
                  </a:lnTo>
                  <a:lnTo>
                    <a:pt x="4304" y="5652"/>
                  </a:lnTo>
                  <a:cubicBezTo>
                    <a:pt x="4437" y="5584"/>
                    <a:pt x="4545" y="5516"/>
                    <a:pt x="4545" y="5501"/>
                  </a:cubicBezTo>
                  <a:cubicBezTo>
                    <a:pt x="4545" y="5426"/>
                    <a:pt x="4038" y="5228"/>
                    <a:pt x="3628" y="5143"/>
                  </a:cubicBezTo>
                  <a:cubicBezTo>
                    <a:pt x="2520" y="4913"/>
                    <a:pt x="407" y="5114"/>
                    <a:pt x="188" y="5471"/>
                  </a:cubicBezTo>
                  <a:cubicBezTo>
                    <a:pt x="84" y="5640"/>
                    <a:pt x="1275" y="5954"/>
                    <a:pt x="2022" y="5954"/>
                  </a:cubicBezTo>
                  <a:cubicBezTo>
                    <a:pt x="2508" y="5954"/>
                    <a:pt x="2640" y="5998"/>
                    <a:pt x="3009" y="6281"/>
                  </a:cubicBezTo>
                  <a:cubicBezTo>
                    <a:pt x="3161" y="6398"/>
                    <a:pt x="3380" y="6512"/>
                    <a:pt x="3494" y="6533"/>
                  </a:cubicBezTo>
                  <a:lnTo>
                    <a:pt x="3703" y="6573"/>
                  </a:lnTo>
                  <a:lnTo>
                    <a:pt x="3703" y="7680"/>
                  </a:lnTo>
                  <a:cubicBezTo>
                    <a:pt x="3703" y="8827"/>
                    <a:pt x="3706" y="8841"/>
                    <a:pt x="3959" y="8853"/>
                  </a:cubicBezTo>
                  <a:cubicBezTo>
                    <a:pt x="4056" y="8857"/>
                    <a:pt x="4064" y="8745"/>
                    <a:pt x="4064" y="7316"/>
                  </a:cubicBezTo>
                  <a:close/>
                  <a:moveTo>
                    <a:pt x="5834" y="7997"/>
                  </a:moveTo>
                  <a:lnTo>
                    <a:pt x="6002" y="7909"/>
                  </a:lnTo>
                  <a:lnTo>
                    <a:pt x="5773" y="7766"/>
                  </a:lnTo>
                  <a:cubicBezTo>
                    <a:pt x="5591" y="7654"/>
                    <a:pt x="5457" y="7624"/>
                    <a:pt x="5120" y="7621"/>
                  </a:cubicBezTo>
                  <a:lnTo>
                    <a:pt x="4695" y="7618"/>
                  </a:lnTo>
                  <a:lnTo>
                    <a:pt x="4676" y="7883"/>
                  </a:lnTo>
                  <a:lnTo>
                    <a:pt x="4657" y="8149"/>
                  </a:lnTo>
                  <a:lnTo>
                    <a:pt x="5162" y="8117"/>
                  </a:lnTo>
                  <a:cubicBezTo>
                    <a:pt x="5439" y="8100"/>
                    <a:pt x="5742" y="8046"/>
                    <a:pt x="5834" y="7997"/>
                  </a:cubicBezTo>
                  <a:close/>
                  <a:moveTo>
                    <a:pt x="6618" y="2938"/>
                  </a:moveTo>
                  <a:cubicBezTo>
                    <a:pt x="5575" y="2456"/>
                    <a:pt x="5538" y="948"/>
                    <a:pt x="6558" y="451"/>
                  </a:cubicBezTo>
                  <a:cubicBezTo>
                    <a:pt x="7483" y="0"/>
                    <a:pt x="8532" y="659"/>
                    <a:pt x="8532" y="1691"/>
                  </a:cubicBezTo>
                  <a:cubicBezTo>
                    <a:pt x="8531" y="2267"/>
                    <a:pt x="8214" y="2748"/>
                    <a:pt x="7687" y="2970"/>
                  </a:cubicBezTo>
                  <a:cubicBezTo>
                    <a:pt x="7414" y="3085"/>
                    <a:pt x="6903" y="3070"/>
                    <a:pt x="6618" y="2938"/>
                  </a:cubicBezTo>
                  <a:close/>
                  <a:moveTo>
                    <a:pt x="7679" y="2555"/>
                  </a:moveTo>
                  <a:cubicBezTo>
                    <a:pt x="8453" y="2118"/>
                    <a:pt x="8300" y="929"/>
                    <a:pt x="7441" y="696"/>
                  </a:cubicBezTo>
                  <a:cubicBezTo>
                    <a:pt x="6822" y="528"/>
                    <a:pt x="6167" y="1020"/>
                    <a:pt x="6167" y="1654"/>
                  </a:cubicBezTo>
                  <a:cubicBezTo>
                    <a:pt x="6167" y="2469"/>
                    <a:pt x="6977" y="2952"/>
                    <a:pt x="7679" y="2555"/>
                  </a:cubicBezTo>
                  <a:close/>
                  <a:moveTo>
                    <a:pt x="7033" y="1759"/>
                  </a:moveTo>
                  <a:cubicBezTo>
                    <a:pt x="6985" y="1631"/>
                    <a:pt x="7053" y="1540"/>
                    <a:pt x="7197" y="1540"/>
                  </a:cubicBezTo>
                  <a:cubicBezTo>
                    <a:pt x="7287" y="1540"/>
                    <a:pt x="7313" y="1573"/>
                    <a:pt x="7298" y="1675"/>
                  </a:cubicBezTo>
                  <a:cubicBezTo>
                    <a:pt x="7276" y="1833"/>
                    <a:pt x="7085" y="1894"/>
                    <a:pt x="7033" y="1759"/>
                  </a:cubicBezTo>
                  <a:close/>
                  <a:moveTo>
                    <a:pt x="6543" y="1659"/>
                  </a:moveTo>
                  <a:cubicBezTo>
                    <a:pt x="6350" y="1581"/>
                    <a:pt x="6376" y="1540"/>
                    <a:pt x="6618" y="1540"/>
                  </a:cubicBezTo>
                  <a:cubicBezTo>
                    <a:pt x="6765" y="1540"/>
                    <a:pt x="6828" y="1567"/>
                    <a:pt x="6828" y="1630"/>
                  </a:cubicBezTo>
                  <a:cubicBezTo>
                    <a:pt x="6828" y="1732"/>
                    <a:pt x="6744" y="1740"/>
                    <a:pt x="6543" y="165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>
                <a:latin typeface="+mn-lt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776112" y="2402295"/>
              <a:ext cx="212068" cy="20788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37" name="Freeform 36"/>
            <p:cNvSpPr>
              <a:spLocks noEditPoints="1"/>
            </p:cNvSpPr>
            <p:nvPr/>
          </p:nvSpPr>
          <p:spPr bwMode="auto">
            <a:xfrm>
              <a:off x="4824300" y="2450985"/>
              <a:ext cx="115693" cy="110506"/>
            </a:xfrm>
            <a:custGeom>
              <a:avLst/>
              <a:gdLst>
                <a:gd name="T0" fmla="*/ 53 w 8456"/>
                <a:gd name="T1" fmla="*/ 8002 h 8243"/>
                <a:gd name="T2" fmla="*/ 87 w 8456"/>
                <a:gd name="T3" fmla="*/ 6347 h 8243"/>
                <a:gd name="T4" fmla="*/ 714 w 8456"/>
                <a:gd name="T5" fmla="*/ 6098 h 8243"/>
                <a:gd name="T6" fmla="*/ 480 w 8456"/>
                <a:gd name="T7" fmla="*/ 5873 h 8243"/>
                <a:gd name="T8" fmla="*/ 0 w 8456"/>
                <a:gd name="T9" fmla="*/ 5573 h 8243"/>
                <a:gd name="T10" fmla="*/ 199 w 8456"/>
                <a:gd name="T11" fmla="*/ 29 h 8243"/>
                <a:gd name="T12" fmla="*/ 8053 w 8456"/>
                <a:gd name="T13" fmla="*/ 0 h 8243"/>
                <a:gd name="T14" fmla="*/ 8340 w 8456"/>
                <a:gd name="T15" fmla="*/ 328 h 8243"/>
                <a:gd name="T16" fmla="*/ 8296 w 8456"/>
                <a:gd name="T17" fmla="*/ 5640 h 8243"/>
                <a:gd name="T18" fmla="*/ 7627 w 8456"/>
                <a:gd name="T19" fmla="*/ 5880 h 8243"/>
                <a:gd name="T20" fmla="*/ 7829 w 8456"/>
                <a:gd name="T21" fmla="*/ 6102 h 8243"/>
                <a:gd name="T22" fmla="*/ 8280 w 8456"/>
                <a:gd name="T23" fmla="*/ 6329 h 8243"/>
                <a:gd name="T24" fmla="*/ 4161 w 8456"/>
                <a:gd name="T25" fmla="*/ 8232 h 8243"/>
                <a:gd name="T26" fmla="*/ 4153 w 8456"/>
                <a:gd name="T27" fmla="*/ 7167 h 8243"/>
                <a:gd name="T28" fmla="*/ 4049 w 8456"/>
                <a:gd name="T29" fmla="*/ 6907 h 8243"/>
                <a:gd name="T30" fmla="*/ 813 w 8456"/>
                <a:gd name="T31" fmla="*/ 7179 h 8243"/>
                <a:gd name="T32" fmla="*/ 2507 w 8456"/>
                <a:gd name="T33" fmla="*/ 7456 h 8243"/>
                <a:gd name="T34" fmla="*/ 5871 w 8456"/>
                <a:gd name="T35" fmla="*/ 7143 h 8243"/>
                <a:gd name="T36" fmla="*/ 5003 w 8456"/>
                <a:gd name="T37" fmla="*/ 6932 h 8243"/>
                <a:gd name="T38" fmla="*/ 5414 w 8456"/>
                <a:gd name="T39" fmla="*/ 7456 h 8243"/>
                <a:gd name="T40" fmla="*/ 7422 w 8456"/>
                <a:gd name="T41" fmla="*/ 7429 h 8243"/>
                <a:gd name="T42" fmla="*/ 7027 w 8456"/>
                <a:gd name="T43" fmla="*/ 6900 h 8243"/>
                <a:gd name="T44" fmla="*/ 6623 w 8456"/>
                <a:gd name="T45" fmla="*/ 7423 h 8243"/>
                <a:gd name="T46" fmla="*/ 5473 w 8456"/>
                <a:gd name="T47" fmla="*/ 5987 h 8243"/>
                <a:gd name="T48" fmla="*/ 2880 w 8456"/>
                <a:gd name="T49" fmla="*/ 5880 h 8243"/>
                <a:gd name="T50" fmla="*/ 4173 w 8456"/>
                <a:gd name="T51" fmla="*/ 6100 h 8243"/>
                <a:gd name="T52" fmla="*/ 7073 w 8456"/>
                <a:gd name="T53" fmla="*/ 5066 h 8243"/>
                <a:gd name="T54" fmla="*/ 7457 w 8456"/>
                <a:gd name="T55" fmla="*/ 1227 h 8243"/>
                <a:gd name="T56" fmla="*/ 4173 w 8456"/>
                <a:gd name="T57" fmla="*/ 850 h 8243"/>
                <a:gd name="T58" fmla="*/ 800 w 8456"/>
                <a:gd name="T59" fmla="*/ 1240 h 8243"/>
                <a:gd name="T60" fmla="*/ 845 w 8456"/>
                <a:gd name="T61" fmla="*/ 4781 h 8243"/>
                <a:gd name="T62" fmla="*/ 7073 w 8456"/>
                <a:gd name="T63" fmla="*/ 5066 h 8243"/>
                <a:gd name="T64" fmla="*/ 3214 w 8456"/>
                <a:gd name="T65" fmla="*/ 4140 h 8243"/>
                <a:gd name="T66" fmla="*/ 2986 w 8456"/>
                <a:gd name="T67" fmla="*/ 3373 h 8243"/>
                <a:gd name="T68" fmla="*/ 1427 w 8456"/>
                <a:gd name="T69" fmla="*/ 3428 h 8243"/>
                <a:gd name="T70" fmla="*/ 1545 w 8456"/>
                <a:gd name="T71" fmla="*/ 3013 h 8243"/>
                <a:gd name="T72" fmla="*/ 2729 w 8456"/>
                <a:gd name="T73" fmla="*/ 2753 h 8243"/>
                <a:gd name="T74" fmla="*/ 3413 w 8456"/>
                <a:gd name="T75" fmla="*/ 2433 h 8243"/>
                <a:gd name="T76" fmla="*/ 3587 w 8456"/>
                <a:gd name="T77" fmla="*/ 2700 h 8243"/>
                <a:gd name="T78" fmla="*/ 3981 w 8456"/>
                <a:gd name="T79" fmla="*/ 1093 h 8243"/>
                <a:gd name="T80" fmla="*/ 4554 w 8456"/>
                <a:gd name="T81" fmla="*/ 2200 h 8243"/>
                <a:gd name="T82" fmla="*/ 4694 w 8456"/>
                <a:gd name="T83" fmla="*/ 3007 h 8243"/>
                <a:gd name="T84" fmla="*/ 6022 w 8456"/>
                <a:gd name="T85" fmla="*/ 3009 h 8243"/>
                <a:gd name="T86" fmla="*/ 7132 w 8456"/>
                <a:gd name="T87" fmla="*/ 3476 h 8243"/>
                <a:gd name="T88" fmla="*/ 5206 w 8456"/>
                <a:gd name="T89" fmla="*/ 3631 h 8243"/>
                <a:gd name="T90" fmla="*/ 4842 w 8456"/>
                <a:gd name="T91" fmla="*/ 4524 h 8243"/>
                <a:gd name="T92" fmla="*/ 4307 w 8456"/>
                <a:gd name="T93" fmla="*/ 4007 h 8243"/>
                <a:gd name="T94" fmla="*/ 4100 w 8456"/>
                <a:gd name="T95" fmla="*/ 2949 h 8243"/>
                <a:gd name="T96" fmla="*/ 3757 w 8456"/>
                <a:gd name="T97" fmla="*/ 4595 h 8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456" h="8243">
                  <a:moveTo>
                    <a:pt x="289" y="8220"/>
                  </a:moveTo>
                  <a:cubicBezTo>
                    <a:pt x="222" y="8204"/>
                    <a:pt x="139" y="8138"/>
                    <a:pt x="93" y="8066"/>
                  </a:cubicBezTo>
                  <a:lnTo>
                    <a:pt x="53" y="8002"/>
                  </a:lnTo>
                  <a:lnTo>
                    <a:pt x="53" y="7208"/>
                  </a:lnTo>
                  <a:lnTo>
                    <a:pt x="53" y="6413"/>
                  </a:lnTo>
                  <a:lnTo>
                    <a:pt x="87" y="6347"/>
                  </a:lnTo>
                  <a:cubicBezTo>
                    <a:pt x="130" y="6260"/>
                    <a:pt x="209" y="6184"/>
                    <a:pt x="300" y="6141"/>
                  </a:cubicBezTo>
                  <a:cubicBezTo>
                    <a:pt x="365" y="6111"/>
                    <a:pt x="393" y="6106"/>
                    <a:pt x="544" y="6102"/>
                  </a:cubicBezTo>
                  <a:lnTo>
                    <a:pt x="714" y="6098"/>
                  </a:lnTo>
                  <a:lnTo>
                    <a:pt x="711" y="5989"/>
                  </a:lnTo>
                  <a:lnTo>
                    <a:pt x="707" y="5880"/>
                  </a:lnTo>
                  <a:lnTo>
                    <a:pt x="480" y="5873"/>
                  </a:lnTo>
                  <a:cubicBezTo>
                    <a:pt x="281" y="5867"/>
                    <a:pt x="247" y="5863"/>
                    <a:pt x="200" y="5838"/>
                  </a:cubicBezTo>
                  <a:cubicBezTo>
                    <a:pt x="126" y="5798"/>
                    <a:pt x="81" y="5747"/>
                    <a:pt x="37" y="5653"/>
                  </a:cubicBezTo>
                  <a:lnTo>
                    <a:pt x="0" y="5573"/>
                  </a:lnTo>
                  <a:lnTo>
                    <a:pt x="0" y="2933"/>
                  </a:lnTo>
                  <a:cubicBezTo>
                    <a:pt x="0" y="376"/>
                    <a:pt x="1" y="291"/>
                    <a:pt x="25" y="228"/>
                  </a:cubicBezTo>
                  <a:cubicBezTo>
                    <a:pt x="56" y="148"/>
                    <a:pt x="126" y="68"/>
                    <a:pt x="199" y="29"/>
                  </a:cubicBezTo>
                  <a:lnTo>
                    <a:pt x="253" y="0"/>
                  </a:lnTo>
                  <a:lnTo>
                    <a:pt x="4153" y="0"/>
                  </a:lnTo>
                  <a:lnTo>
                    <a:pt x="8053" y="0"/>
                  </a:lnTo>
                  <a:lnTo>
                    <a:pt x="8116" y="31"/>
                  </a:lnTo>
                  <a:cubicBezTo>
                    <a:pt x="8200" y="72"/>
                    <a:pt x="8277" y="159"/>
                    <a:pt x="8312" y="252"/>
                  </a:cubicBezTo>
                  <a:lnTo>
                    <a:pt x="8340" y="328"/>
                  </a:lnTo>
                  <a:lnTo>
                    <a:pt x="8337" y="2944"/>
                  </a:lnTo>
                  <a:lnTo>
                    <a:pt x="8333" y="5560"/>
                  </a:lnTo>
                  <a:lnTo>
                    <a:pt x="8296" y="5640"/>
                  </a:lnTo>
                  <a:cubicBezTo>
                    <a:pt x="8252" y="5733"/>
                    <a:pt x="8211" y="5780"/>
                    <a:pt x="8127" y="5830"/>
                  </a:cubicBezTo>
                  <a:cubicBezTo>
                    <a:pt x="8069" y="5865"/>
                    <a:pt x="8056" y="5867"/>
                    <a:pt x="7847" y="5873"/>
                  </a:cubicBezTo>
                  <a:lnTo>
                    <a:pt x="7627" y="5880"/>
                  </a:lnTo>
                  <a:lnTo>
                    <a:pt x="7623" y="5989"/>
                  </a:lnTo>
                  <a:lnTo>
                    <a:pt x="7619" y="6098"/>
                  </a:lnTo>
                  <a:lnTo>
                    <a:pt x="7829" y="6102"/>
                  </a:lnTo>
                  <a:cubicBezTo>
                    <a:pt x="8026" y="6106"/>
                    <a:pt x="8044" y="6109"/>
                    <a:pt x="8107" y="6141"/>
                  </a:cubicBezTo>
                  <a:cubicBezTo>
                    <a:pt x="8153" y="6166"/>
                    <a:pt x="8189" y="6199"/>
                    <a:pt x="8227" y="6253"/>
                  </a:cubicBezTo>
                  <a:lnTo>
                    <a:pt x="8280" y="6329"/>
                  </a:lnTo>
                  <a:lnTo>
                    <a:pt x="8284" y="7129"/>
                  </a:lnTo>
                  <a:cubicBezTo>
                    <a:pt x="8288" y="8046"/>
                    <a:pt x="8290" y="8028"/>
                    <a:pt x="8186" y="8132"/>
                  </a:cubicBezTo>
                  <a:cubicBezTo>
                    <a:pt x="8075" y="8243"/>
                    <a:pt x="8456" y="8234"/>
                    <a:pt x="4161" y="8232"/>
                  </a:cubicBezTo>
                  <a:cubicBezTo>
                    <a:pt x="2056" y="8231"/>
                    <a:pt x="313" y="8226"/>
                    <a:pt x="289" y="8220"/>
                  </a:cubicBezTo>
                  <a:close/>
                  <a:moveTo>
                    <a:pt x="4076" y="7427"/>
                  </a:moveTo>
                  <a:cubicBezTo>
                    <a:pt x="4139" y="7381"/>
                    <a:pt x="4153" y="7331"/>
                    <a:pt x="4153" y="7167"/>
                  </a:cubicBezTo>
                  <a:lnTo>
                    <a:pt x="4153" y="7019"/>
                  </a:lnTo>
                  <a:lnTo>
                    <a:pt x="4101" y="6963"/>
                  </a:lnTo>
                  <a:lnTo>
                    <a:pt x="4049" y="6907"/>
                  </a:lnTo>
                  <a:lnTo>
                    <a:pt x="2504" y="6903"/>
                  </a:lnTo>
                  <a:cubicBezTo>
                    <a:pt x="1053" y="6900"/>
                    <a:pt x="957" y="6901"/>
                    <a:pt x="914" y="6923"/>
                  </a:cubicBezTo>
                  <a:cubicBezTo>
                    <a:pt x="827" y="6968"/>
                    <a:pt x="813" y="7002"/>
                    <a:pt x="813" y="7179"/>
                  </a:cubicBezTo>
                  <a:cubicBezTo>
                    <a:pt x="813" y="7330"/>
                    <a:pt x="815" y="7337"/>
                    <a:pt x="850" y="7384"/>
                  </a:cubicBezTo>
                  <a:cubicBezTo>
                    <a:pt x="871" y="7411"/>
                    <a:pt x="906" y="7438"/>
                    <a:pt x="930" y="7445"/>
                  </a:cubicBezTo>
                  <a:cubicBezTo>
                    <a:pt x="956" y="7453"/>
                    <a:pt x="1585" y="7457"/>
                    <a:pt x="2507" y="7456"/>
                  </a:cubicBezTo>
                  <a:cubicBezTo>
                    <a:pt x="4017" y="7453"/>
                    <a:pt x="4041" y="7453"/>
                    <a:pt x="4076" y="7427"/>
                  </a:cubicBezTo>
                  <a:close/>
                  <a:moveTo>
                    <a:pt x="5797" y="7416"/>
                  </a:moveTo>
                  <a:cubicBezTo>
                    <a:pt x="5860" y="7368"/>
                    <a:pt x="5878" y="7303"/>
                    <a:pt x="5871" y="7143"/>
                  </a:cubicBezTo>
                  <a:cubicBezTo>
                    <a:pt x="5865" y="7005"/>
                    <a:pt x="5845" y="6964"/>
                    <a:pt x="5766" y="6923"/>
                  </a:cubicBezTo>
                  <a:cubicBezTo>
                    <a:pt x="5725" y="6902"/>
                    <a:pt x="5685" y="6900"/>
                    <a:pt x="5380" y="6903"/>
                  </a:cubicBezTo>
                  <a:cubicBezTo>
                    <a:pt x="5072" y="6906"/>
                    <a:pt x="5037" y="6909"/>
                    <a:pt x="5003" y="6932"/>
                  </a:cubicBezTo>
                  <a:cubicBezTo>
                    <a:pt x="4936" y="6977"/>
                    <a:pt x="4920" y="7025"/>
                    <a:pt x="4921" y="7181"/>
                  </a:cubicBezTo>
                  <a:cubicBezTo>
                    <a:pt x="4921" y="7361"/>
                    <a:pt x="4948" y="7412"/>
                    <a:pt x="5060" y="7452"/>
                  </a:cubicBezTo>
                  <a:cubicBezTo>
                    <a:pt x="5071" y="7456"/>
                    <a:pt x="5230" y="7458"/>
                    <a:pt x="5414" y="7456"/>
                  </a:cubicBezTo>
                  <a:lnTo>
                    <a:pt x="5749" y="7453"/>
                  </a:lnTo>
                  <a:lnTo>
                    <a:pt x="5797" y="7416"/>
                  </a:lnTo>
                  <a:close/>
                  <a:moveTo>
                    <a:pt x="7422" y="7429"/>
                  </a:moveTo>
                  <a:cubicBezTo>
                    <a:pt x="7496" y="7379"/>
                    <a:pt x="7507" y="7347"/>
                    <a:pt x="7507" y="7178"/>
                  </a:cubicBezTo>
                  <a:cubicBezTo>
                    <a:pt x="7507" y="7041"/>
                    <a:pt x="7503" y="7017"/>
                    <a:pt x="7479" y="6984"/>
                  </a:cubicBezTo>
                  <a:cubicBezTo>
                    <a:pt x="7421" y="6905"/>
                    <a:pt x="7393" y="6900"/>
                    <a:pt x="7027" y="6900"/>
                  </a:cubicBezTo>
                  <a:cubicBezTo>
                    <a:pt x="6736" y="6900"/>
                    <a:pt x="6687" y="6903"/>
                    <a:pt x="6647" y="6923"/>
                  </a:cubicBezTo>
                  <a:cubicBezTo>
                    <a:pt x="6571" y="6962"/>
                    <a:pt x="6554" y="7008"/>
                    <a:pt x="6552" y="7175"/>
                  </a:cubicBezTo>
                  <a:cubicBezTo>
                    <a:pt x="6550" y="7333"/>
                    <a:pt x="6564" y="7385"/>
                    <a:pt x="6623" y="7423"/>
                  </a:cubicBezTo>
                  <a:cubicBezTo>
                    <a:pt x="6674" y="7456"/>
                    <a:pt x="6692" y="7458"/>
                    <a:pt x="7047" y="7456"/>
                  </a:cubicBezTo>
                  <a:cubicBezTo>
                    <a:pt x="7351" y="7454"/>
                    <a:pt x="7390" y="7451"/>
                    <a:pt x="7422" y="7429"/>
                  </a:cubicBezTo>
                  <a:close/>
                  <a:moveTo>
                    <a:pt x="5473" y="5987"/>
                  </a:moveTo>
                  <a:lnTo>
                    <a:pt x="5473" y="5873"/>
                  </a:lnTo>
                  <a:lnTo>
                    <a:pt x="4177" y="5877"/>
                  </a:lnTo>
                  <a:lnTo>
                    <a:pt x="2880" y="5880"/>
                  </a:lnTo>
                  <a:lnTo>
                    <a:pt x="2876" y="5990"/>
                  </a:lnTo>
                  <a:lnTo>
                    <a:pt x="2872" y="6100"/>
                  </a:lnTo>
                  <a:lnTo>
                    <a:pt x="4173" y="6100"/>
                  </a:lnTo>
                  <a:lnTo>
                    <a:pt x="5473" y="6100"/>
                  </a:lnTo>
                  <a:lnTo>
                    <a:pt x="5473" y="5987"/>
                  </a:lnTo>
                  <a:close/>
                  <a:moveTo>
                    <a:pt x="7073" y="5066"/>
                  </a:moveTo>
                  <a:cubicBezTo>
                    <a:pt x="7209" y="5034"/>
                    <a:pt x="7330" y="4943"/>
                    <a:pt x="7411" y="4811"/>
                  </a:cubicBezTo>
                  <a:cubicBezTo>
                    <a:pt x="7488" y="4686"/>
                    <a:pt x="7488" y="4700"/>
                    <a:pt x="7484" y="2920"/>
                  </a:cubicBezTo>
                  <a:cubicBezTo>
                    <a:pt x="7480" y="1421"/>
                    <a:pt x="7478" y="1288"/>
                    <a:pt x="7457" y="1227"/>
                  </a:cubicBezTo>
                  <a:cubicBezTo>
                    <a:pt x="7405" y="1076"/>
                    <a:pt x="7280" y="945"/>
                    <a:pt x="7131" y="885"/>
                  </a:cubicBezTo>
                  <a:lnTo>
                    <a:pt x="7053" y="853"/>
                  </a:lnTo>
                  <a:lnTo>
                    <a:pt x="4173" y="850"/>
                  </a:lnTo>
                  <a:cubicBezTo>
                    <a:pt x="2226" y="847"/>
                    <a:pt x="1272" y="851"/>
                    <a:pt x="1227" y="860"/>
                  </a:cubicBezTo>
                  <a:cubicBezTo>
                    <a:pt x="1061" y="894"/>
                    <a:pt x="913" y="1009"/>
                    <a:pt x="839" y="1160"/>
                  </a:cubicBezTo>
                  <a:lnTo>
                    <a:pt x="800" y="1240"/>
                  </a:lnTo>
                  <a:lnTo>
                    <a:pt x="800" y="2968"/>
                  </a:lnTo>
                  <a:lnTo>
                    <a:pt x="800" y="4695"/>
                  </a:lnTo>
                  <a:lnTo>
                    <a:pt x="845" y="4781"/>
                  </a:lnTo>
                  <a:cubicBezTo>
                    <a:pt x="898" y="4884"/>
                    <a:pt x="950" y="4941"/>
                    <a:pt x="1043" y="5002"/>
                  </a:cubicBezTo>
                  <a:cubicBezTo>
                    <a:pt x="1178" y="5090"/>
                    <a:pt x="983" y="5084"/>
                    <a:pt x="4127" y="5085"/>
                  </a:cubicBezTo>
                  <a:cubicBezTo>
                    <a:pt x="6647" y="5086"/>
                    <a:pt x="6997" y="5084"/>
                    <a:pt x="7073" y="5066"/>
                  </a:cubicBezTo>
                  <a:close/>
                  <a:moveTo>
                    <a:pt x="3438" y="4649"/>
                  </a:moveTo>
                  <a:cubicBezTo>
                    <a:pt x="3374" y="4623"/>
                    <a:pt x="3331" y="4587"/>
                    <a:pt x="3307" y="4540"/>
                  </a:cubicBezTo>
                  <a:cubicBezTo>
                    <a:pt x="3297" y="4522"/>
                    <a:pt x="3256" y="4342"/>
                    <a:pt x="3214" y="4140"/>
                  </a:cubicBezTo>
                  <a:cubicBezTo>
                    <a:pt x="3151" y="3831"/>
                    <a:pt x="3110" y="3634"/>
                    <a:pt x="3049" y="3341"/>
                  </a:cubicBezTo>
                  <a:lnTo>
                    <a:pt x="3039" y="3295"/>
                  </a:lnTo>
                  <a:lnTo>
                    <a:pt x="2986" y="3373"/>
                  </a:lnTo>
                  <a:cubicBezTo>
                    <a:pt x="2914" y="3478"/>
                    <a:pt x="2855" y="3523"/>
                    <a:pt x="2768" y="3540"/>
                  </a:cubicBezTo>
                  <a:cubicBezTo>
                    <a:pt x="2674" y="3558"/>
                    <a:pt x="1700" y="3558"/>
                    <a:pt x="1605" y="3540"/>
                  </a:cubicBezTo>
                  <a:cubicBezTo>
                    <a:pt x="1524" y="3525"/>
                    <a:pt x="1487" y="3501"/>
                    <a:pt x="1427" y="3428"/>
                  </a:cubicBezTo>
                  <a:cubicBezTo>
                    <a:pt x="1390" y="3382"/>
                    <a:pt x="1387" y="3369"/>
                    <a:pt x="1387" y="3275"/>
                  </a:cubicBezTo>
                  <a:cubicBezTo>
                    <a:pt x="1387" y="3161"/>
                    <a:pt x="1408" y="3118"/>
                    <a:pt x="1497" y="3050"/>
                  </a:cubicBezTo>
                  <a:lnTo>
                    <a:pt x="1545" y="3013"/>
                  </a:lnTo>
                  <a:lnTo>
                    <a:pt x="2058" y="3007"/>
                  </a:lnTo>
                  <a:lnTo>
                    <a:pt x="2572" y="3000"/>
                  </a:lnTo>
                  <a:lnTo>
                    <a:pt x="2729" y="2753"/>
                  </a:lnTo>
                  <a:cubicBezTo>
                    <a:pt x="2815" y="2618"/>
                    <a:pt x="2898" y="2486"/>
                    <a:pt x="2912" y="2460"/>
                  </a:cubicBezTo>
                  <a:cubicBezTo>
                    <a:pt x="2980" y="2336"/>
                    <a:pt x="3122" y="2267"/>
                    <a:pt x="3240" y="2300"/>
                  </a:cubicBezTo>
                  <a:cubicBezTo>
                    <a:pt x="3306" y="2319"/>
                    <a:pt x="3385" y="2379"/>
                    <a:pt x="3413" y="2433"/>
                  </a:cubicBezTo>
                  <a:cubicBezTo>
                    <a:pt x="3430" y="2466"/>
                    <a:pt x="3495" y="2735"/>
                    <a:pt x="3520" y="2878"/>
                  </a:cubicBezTo>
                  <a:cubicBezTo>
                    <a:pt x="3524" y="2907"/>
                    <a:pt x="3533" y="2925"/>
                    <a:pt x="3539" y="2918"/>
                  </a:cubicBezTo>
                  <a:cubicBezTo>
                    <a:pt x="3545" y="2912"/>
                    <a:pt x="3567" y="2814"/>
                    <a:pt x="3587" y="2700"/>
                  </a:cubicBezTo>
                  <a:cubicBezTo>
                    <a:pt x="3607" y="2586"/>
                    <a:pt x="3634" y="2433"/>
                    <a:pt x="3648" y="2360"/>
                  </a:cubicBezTo>
                  <a:cubicBezTo>
                    <a:pt x="3661" y="2287"/>
                    <a:pt x="3684" y="2158"/>
                    <a:pt x="3700" y="2073"/>
                  </a:cubicBezTo>
                  <a:cubicBezTo>
                    <a:pt x="3873" y="1114"/>
                    <a:pt x="3862" y="1153"/>
                    <a:pt x="3981" y="1093"/>
                  </a:cubicBezTo>
                  <a:cubicBezTo>
                    <a:pt x="4105" y="1030"/>
                    <a:pt x="4275" y="1064"/>
                    <a:pt x="4346" y="1165"/>
                  </a:cubicBezTo>
                  <a:cubicBezTo>
                    <a:pt x="4382" y="1217"/>
                    <a:pt x="4392" y="1264"/>
                    <a:pt x="4474" y="1740"/>
                  </a:cubicBezTo>
                  <a:cubicBezTo>
                    <a:pt x="4497" y="1868"/>
                    <a:pt x="4533" y="2075"/>
                    <a:pt x="4554" y="2200"/>
                  </a:cubicBezTo>
                  <a:cubicBezTo>
                    <a:pt x="4576" y="2325"/>
                    <a:pt x="4603" y="2481"/>
                    <a:pt x="4613" y="2547"/>
                  </a:cubicBezTo>
                  <a:cubicBezTo>
                    <a:pt x="4624" y="2613"/>
                    <a:pt x="4639" y="2700"/>
                    <a:pt x="4647" y="2740"/>
                  </a:cubicBezTo>
                  <a:cubicBezTo>
                    <a:pt x="4655" y="2780"/>
                    <a:pt x="4676" y="2900"/>
                    <a:pt x="4694" y="3007"/>
                  </a:cubicBezTo>
                  <a:cubicBezTo>
                    <a:pt x="4745" y="3311"/>
                    <a:pt x="4736" y="3292"/>
                    <a:pt x="4787" y="3190"/>
                  </a:cubicBezTo>
                  <a:cubicBezTo>
                    <a:pt x="4836" y="3090"/>
                    <a:pt x="4885" y="3040"/>
                    <a:pt x="4953" y="3019"/>
                  </a:cubicBezTo>
                  <a:cubicBezTo>
                    <a:pt x="4985" y="3010"/>
                    <a:pt x="5328" y="3007"/>
                    <a:pt x="6022" y="3009"/>
                  </a:cubicBezTo>
                  <a:lnTo>
                    <a:pt x="7044" y="3013"/>
                  </a:lnTo>
                  <a:lnTo>
                    <a:pt x="7102" y="3054"/>
                  </a:lnTo>
                  <a:cubicBezTo>
                    <a:pt x="7244" y="3152"/>
                    <a:pt x="7258" y="3357"/>
                    <a:pt x="7132" y="3476"/>
                  </a:cubicBezTo>
                  <a:cubicBezTo>
                    <a:pt x="7054" y="3548"/>
                    <a:pt x="7080" y="3546"/>
                    <a:pt x="6124" y="3551"/>
                  </a:cubicBezTo>
                  <a:lnTo>
                    <a:pt x="5235" y="3554"/>
                  </a:lnTo>
                  <a:lnTo>
                    <a:pt x="5206" y="3631"/>
                  </a:lnTo>
                  <a:cubicBezTo>
                    <a:pt x="5190" y="3672"/>
                    <a:pt x="5156" y="3761"/>
                    <a:pt x="5131" y="3827"/>
                  </a:cubicBezTo>
                  <a:cubicBezTo>
                    <a:pt x="5106" y="3893"/>
                    <a:pt x="5056" y="4028"/>
                    <a:pt x="5019" y="4127"/>
                  </a:cubicBezTo>
                  <a:cubicBezTo>
                    <a:pt x="4924" y="4384"/>
                    <a:pt x="4875" y="4494"/>
                    <a:pt x="4842" y="4524"/>
                  </a:cubicBezTo>
                  <a:cubicBezTo>
                    <a:pt x="4796" y="4566"/>
                    <a:pt x="4705" y="4607"/>
                    <a:pt x="4657" y="4607"/>
                  </a:cubicBezTo>
                  <a:cubicBezTo>
                    <a:pt x="4549" y="4606"/>
                    <a:pt x="4434" y="4537"/>
                    <a:pt x="4398" y="4450"/>
                  </a:cubicBezTo>
                  <a:cubicBezTo>
                    <a:pt x="4379" y="4404"/>
                    <a:pt x="4341" y="4219"/>
                    <a:pt x="4307" y="4007"/>
                  </a:cubicBezTo>
                  <a:cubicBezTo>
                    <a:pt x="4297" y="3944"/>
                    <a:pt x="4267" y="3770"/>
                    <a:pt x="4240" y="3620"/>
                  </a:cubicBezTo>
                  <a:cubicBezTo>
                    <a:pt x="4213" y="3470"/>
                    <a:pt x="4177" y="3261"/>
                    <a:pt x="4159" y="3156"/>
                  </a:cubicBezTo>
                  <a:cubicBezTo>
                    <a:pt x="4129" y="2976"/>
                    <a:pt x="4101" y="2878"/>
                    <a:pt x="4100" y="2949"/>
                  </a:cubicBezTo>
                  <a:cubicBezTo>
                    <a:pt x="4100" y="2975"/>
                    <a:pt x="4082" y="3076"/>
                    <a:pt x="3987" y="3587"/>
                  </a:cubicBezTo>
                  <a:cubicBezTo>
                    <a:pt x="3969" y="3682"/>
                    <a:pt x="3936" y="3862"/>
                    <a:pt x="3914" y="3987"/>
                  </a:cubicBezTo>
                  <a:cubicBezTo>
                    <a:pt x="3824" y="4489"/>
                    <a:pt x="3809" y="4548"/>
                    <a:pt x="3757" y="4595"/>
                  </a:cubicBezTo>
                  <a:cubicBezTo>
                    <a:pt x="3676" y="4670"/>
                    <a:pt x="3544" y="4692"/>
                    <a:pt x="3438" y="464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latin typeface="+mn-lt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221984" y="2760914"/>
              <a:ext cx="212068" cy="20788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 err="1">
                <a:solidFill>
                  <a:schemeClr val="tx1"/>
                </a:solidFill>
              </a:endParaRP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4257167" y="2786181"/>
              <a:ext cx="141702" cy="157352"/>
              <a:chOff x="-5522379" y="-122166"/>
              <a:chExt cx="4318230" cy="4891567"/>
            </a:xfrm>
            <a:solidFill>
              <a:schemeClr val="accent1"/>
            </a:solidFill>
          </p:grpSpPr>
          <p:sp>
            <p:nvSpPr>
              <p:cNvPr id="135" name="Freeform 134"/>
              <p:cNvSpPr/>
              <p:nvPr/>
            </p:nvSpPr>
            <p:spPr>
              <a:xfrm>
                <a:off x="-5522379" y="1176950"/>
                <a:ext cx="2887031" cy="3592451"/>
              </a:xfrm>
              <a:custGeom>
                <a:avLst/>
                <a:gdLst>
                  <a:gd name="connsiteX0" fmla="*/ 0 w 2525917"/>
                  <a:gd name="connsiteY0" fmla="*/ 0 h 3051018"/>
                  <a:gd name="connsiteX1" fmla="*/ 525101 w 2525917"/>
                  <a:gd name="connsiteY1" fmla="*/ 0 h 3051018"/>
                  <a:gd name="connsiteX2" fmla="*/ 751438 w 2525917"/>
                  <a:gd name="connsiteY2" fmla="*/ 190123 h 3051018"/>
                  <a:gd name="connsiteX3" fmla="*/ 932507 w 2525917"/>
                  <a:gd name="connsiteY3" fmla="*/ 760492 h 3051018"/>
                  <a:gd name="connsiteX4" fmla="*/ 796705 w 2525917"/>
                  <a:gd name="connsiteY4" fmla="*/ 1032096 h 3051018"/>
                  <a:gd name="connsiteX5" fmla="*/ 2172832 w 2525917"/>
                  <a:gd name="connsiteY5" fmla="*/ 2507810 h 3051018"/>
                  <a:gd name="connsiteX6" fmla="*/ 2525917 w 2525917"/>
                  <a:gd name="connsiteY6" fmla="*/ 2598345 h 3051018"/>
                  <a:gd name="connsiteX7" fmla="*/ 9054 w 2525917"/>
                  <a:gd name="connsiteY7" fmla="*/ 3051018 h 3051018"/>
                  <a:gd name="connsiteX8" fmla="*/ 525101 w 2525917"/>
                  <a:gd name="connsiteY8" fmla="*/ 724278 h 3051018"/>
                  <a:gd name="connsiteX9" fmla="*/ 443620 w 2525917"/>
                  <a:gd name="connsiteY9" fmla="*/ 371193 h 3051018"/>
                  <a:gd name="connsiteX10" fmla="*/ 27161 w 2525917"/>
                  <a:gd name="connsiteY10" fmla="*/ 371193 h 3051018"/>
                  <a:gd name="connsiteX11" fmla="*/ 0 w 2525917"/>
                  <a:gd name="connsiteY11" fmla="*/ 0 h 3051018"/>
                  <a:gd name="connsiteX0" fmla="*/ 159833 w 2685750"/>
                  <a:gd name="connsiteY0" fmla="*/ 0 h 3051018"/>
                  <a:gd name="connsiteX1" fmla="*/ 684934 w 2685750"/>
                  <a:gd name="connsiteY1" fmla="*/ 0 h 3051018"/>
                  <a:gd name="connsiteX2" fmla="*/ 911271 w 2685750"/>
                  <a:gd name="connsiteY2" fmla="*/ 190123 h 3051018"/>
                  <a:gd name="connsiteX3" fmla="*/ 1092340 w 2685750"/>
                  <a:gd name="connsiteY3" fmla="*/ 760492 h 3051018"/>
                  <a:gd name="connsiteX4" fmla="*/ 956538 w 2685750"/>
                  <a:gd name="connsiteY4" fmla="*/ 1032096 h 3051018"/>
                  <a:gd name="connsiteX5" fmla="*/ 2332665 w 2685750"/>
                  <a:gd name="connsiteY5" fmla="*/ 2507810 h 3051018"/>
                  <a:gd name="connsiteX6" fmla="*/ 2685750 w 2685750"/>
                  <a:gd name="connsiteY6" fmla="*/ 2598345 h 3051018"/>
                  <a:gd name="connsiteX7" fmla="*/ 168887 w 2685750"/>
                  <a:gd name="connsiteY7" fmla="*/ 3051018 h 3051018"/>
                  <a:gd name="connsiteX8" fmla="*/ 684934 w 2685750"/>
                  <a:gd name="connsiteY8" fmla="*/ 724278 h 3051018"/>
                  <a:gd name="connsiteX9" fmla="*/ 603453 w 2685750"/>
                  <a:gd name="connsiteY9" fmla="*/ 371193 h 3051018"/>
                  <a:gd name="connsiteX10" fmla="*/ 186994 w 2685750"/>
                  <a:gd name="connsiteY10" fmla="*/ 371193 h 3051018"/>
                  <a:gd name="connsiteX11" fmla="*/ 159833 w 2685750"/>
                  <a:gd name="connsiteY11" fmla="*/ 0 h 3051018"/>
                  <a:gd name="connsiteX0" fmla="*/ 330762 w 2856679"/>
                  <a:gd name="connsiteY0" fmla="*/ 0 h 3051018"/>
                  <a:gd name="connsiteX1" fmla="*/ 855863 w 2856679"/>
                  <a:gd name="connsiteY1" fmla="*/ 0 h 3051018"/>
                  <a:gd name="connsiteX2" fmla="*/ 1082200 w 2856679"/>
                  <a:gd name="connsiteY2" fmla="*/ 190123 h 3051018"/>
                  <a:gd name="connsiteX3" fmla="*/ 1263269 w 2856679"/>
                  <a:gd name="connsiteY3" fmla="*/ 760492 h 3051018"/>
                  <a:gd name="connsiteX4" fmla="*/ 1127467 w 2856679"/>
                  <a:gd name="connsiteY4" fmla="*/ 1032096 h 3051018"/>
                  <a:gd name="connsiteX5" fmla="*/ 2503594 w 2856679"/>
                  <a:gd name="connsiteY5" fmla="*/ 2507810 h 3051018"/>
                  <a:gd name="connsiteX6" fmla="*/ 2856679 w 2856679"/>
                  <a:gd name="connsiteY6" fmla="*/ 2598345 h 3051018"/>
                  <a:gd name="connsiteX7" fmla="*/ 339816 w 2856679"/>
                  <a:gd name="connsiteY7" fmla="*/ 3051018 h 3051018"/>
                  <a:gd name="connsiteX8" fmla="*/ 855863 w 2856679"/>
                  <a:gd name="connsiteY8" fmla="*/ 724278 h 3051018"/>
                  <a:gd name="connsiteX9" fmla="*/ 774382 w 2856679"/>
                  <a:gd name="connsiteY9" fmla="*/ 371193 h 3051018"/>
                  <a:gd name="connsiteX10" fmla="*/ 357923 w 2856679"/>
                  <a:gd name="connsiteY10" fmla="*/ 371193 h 3051018"/>
                  <a:gd name="connsiteX11" fmla="*/ 330762 w 2856679"/>
                  <a:gd name="connsiteY11" fmla="*/ 0 h 3051018"/>
                  <a:gd name="connsiteX0" fmla="*/ 352849 w 2878766"/>
                  <a:gd name="connsiteY0" fmla="*/ 0 h 3051018"/>
                  <a:gd name="connsiteX1" fmla="*/ 877950 w 2878766"/>
                  <a:gd name="connsiteY1" fmla="*/ 0 h 3051018"/>
                  <a:gd name="connsiteX2" fmla="*/ 1104287 w 2878766"/>
                  <a:gd name="connsiteY2" fmla="*/ 190123 h 3051018"/>
                  <a:gd name="connsiteX3" fmla="*/ 1285356 w 2878766"/>
                  <a:gd name="connsiteY3" fmla="*/ 760492 h 3051018"/>
                  <a:gd name="connsiteX4" fmla="*/ 1149554 w 2878766"/>
                  <a:gd name="connsiteY4" fmla="*/ 1032096 h 3051018"/>
                  <a:gd name="connsiteX5" fmla="*/ 2525681 w 2878766"/>
                  <a:gd name="connsiteY5" fmla="*/ 2507810 h 3051018"/>
                  <a:gd name="connsiteX6" fmla="*/ 2878766 w 2878766"/>
                  <a:gd name="connsiteY6" fmla="*/ 2598345 h 3051018"/>
                  <a:gd name="connsiteX7" fmla="*/ 361903 w 2878766"/>
                  <a:gd name="connsiteY7" fmla="*/ 3051018 h 3051018"/>
                  <a:gd name="connsiteX8" fmla="*/ 877950 w 2878766"/>
                  <a:gd name="connsiteY8" fmla="*/ 724278 h 3051018"/>
                  <a:gd name="connsiteX9" fmla="*/ 796469 w 2878766"/>
                  <a:gd name="connsiteY9" fmla="*/ 371193 h 3051018"/>
                  <a:gd name="connsiteX10" fmla="*/ 380010 w 2878766"/>
                  <a:gd name="connsiteY10" fmla="*/ 371193 h 3051018"/>
                  <a:gd name="connsiteX11" fmla="*/ 352849 w 2878766"/>
                  <a:gd name="connsiteY11" fmla="*/ 0 h 3051018"/>
                  <a:gd name="connsiteX0" fmla="*/ 352849 w 2878766"/>
                  <a:gd name="connsiteY0" fmla="*/ 0 h 3492507"/>
                  <a:gd name="connsiteX1" fmla="*/ 877950 w 2878766"/>
                  <a:gd name="connsiteY1" fmla="*/ 0 h 3492507"/>
                  <a:gd name="connsiteX2" fmla="*/ 1104287 w 2878766"/>
                  <a:gd name="connsiteY2" fmla="*/ 190123 h 3492507"/>
                  <a:gd name="connsiteX3" fmla="*/ 1285356 w 2878766"/>
                  <a:gd name="connsiteY3" fmla="*/ 760492 h 3492507"/>
                  <a:gd name="connsiteX4" fmla="*/ 1149554 w 2878766"/>
                  <a:gd name="connsiteY4" fmla="*/ 1032096 h 3492507"/>
                  <a:gd name="connsiteX5" fmla="*/ 2525681 w 2878766"/>
                  <a:gd name="connsiteY5" fmla="*/ 2507810 h 3492507"/>
                  <a:gd name="connsiteX6" fmla="*/ 2878766 w 2878766"/>
                  <a:gd name="connsiteY6" fmla="*/ 2598345 h 3492507"/>
                  <a:gd name="connsiteX7" fmla="*/ 361903 w 2878766"/>
                  <a:gd name="connsiteY7" fmla="*/ 3051018 h 3492507"/>
                  <a:gd name="connsiteX8" fmla="*/ 877950 w 2878766"/>
                  <a:gd name="connsiteY8" fmla="*/ 724278 h 3492507"/>
                  <a:gd name="connsiteX9" fmla="*/ 796469 w 2878766"/>
                  <a:gd name="connsiteY9" fmla="*/ 371193 h 3492507"/>
                  <a:gd name="connsiteX10" fmla="*/ 380010 w 2878766"/>
                  <a:gd name="connsiteY10" fmla="*/ 371193 h 3492507"/>
                  <a:gd name="connsiteX11" fmla="*/ 352849 w 2878766"/>
                  <a:gd name="connsiteY11" fmla="*/ 0 h 3492507"/>
                  <a:gd name="connsiteX0" fmla="*/ 352849 w 2878766"/>
                  <a:gd name="connsiteY0" fmla="*/ 0 h 3592451"/>
                  <a:gd name="connsiteX1" fmla="*/ 877950 w 2878766"/>
                  <a:gd name="connsiteY1" fmla="*/ 0 h 3592451"/>
                  <a:gd name="connsiteX2" fmla="*/ 1104287 w 2878766"/>
                  <a:gd name="connsiteY2" fmla="*/ 190123 h 3592451"/>
                  <a:gd name="connsiteX3" fmla="*/ 1285356 w 2878766"/>
                  <a:gd name="connsiteY3" fmla="*/ 760492 h 3592451"/>
                  <a:gd name="connsiteX4" fmla="*/ 1149554 w 2878766"/>
                  <a:gd name="connsiteY4" fmla="*/ 1032096 h 3592451"/>
                  <a:gd name="connsiteX5" fmla="*/ 2525681 w 2878766"/>
                  <a:gd name="connsiteY5" fmla="*/ 2507810 h 3592451"/>
                  <a:gd name="connsiteX6" fmla="*/ 2878766 w 2878766"/>
                  <a:gd name="connsiteY6" fmla="*/ 2598345 h 3592451"/>
                  <a:gd name="connsiteX7" fmla="*/ 361903 w 2878766"/>
                  <a:gd name="connsiteY7" fmla="*/ 3051018 h 3592451"/>
                  <a:gd name="connsiteX8" fmla="*/ 877950 w 2878766"/>
                  <a:gd name="connsiteY8" fmla="*/ 724278 h 3592451"/>
                  <a:gd name="connsiteX9" fmla="*/ 796469 w 2878766"/>
                  <a:gd name="connsiteY9" fmla="*/ 371193 h 3592451"/>
                  <a:gd name="connsiteX10" fmla="*/ 380010 w 2878766"/>
                  <a:gd name="connsiteY10" fmla="*/ 371193 h 3592451"/>
                  <a:gd name="connsiteX11" fmla="*/ 352849 w 2878766"/>
                  <a:gd name="connsiteY11" fmla="*/ 0 h 3592451"/>
                  <a:gd name="connsiteX0" fmla="*/ 352849 w 2878766"/>
                  <a:gd name="connsiteY0" fmla="*/ 0 h 3592451"/>
                  <a:gd name="connsiteX1" fmla="*/ 877950 w 2878766"/>
                  <a:gd name="connsiteY1" fmla="*/ 0 h 3592451"/>
                  <a:gd name="connsiteX2" fmla="*/ 1104287 w 2878766"/>
                  <a:gd name="connsiteY2" fmla="*/ 190123 h 3592451"/>
                  <a:gd name="connsiteX3" fmla="*/ 1285356 w 2878766"/>
                  <a:gd name="connsiteY3" fmla="*/ 760492 h 3592451"/>
                  <a:gd name="connsiteX4" fmla="*/ 1149554 w 2878766"/>
                  <a:gd name="connsiteY4" fmla="*/ 1032096 h 3592451"/>
                  <a:gd name="connsiteX5" fmla="*/ 2525681 w 2878766"/>
                  <a:gd name="connsiteY5" fmla="*/ 2507810 h 3592451"/>
                  <a:gd name="connsiteX6" fmla="*/ 2878766 w 2878766"/>
                  <a:gd name="connsiteY6" fmla="*/ 2598345 h 3592451"/>
                  <a:gd name="connsiteX7" fmla="*/ 361903 w 2878766"/>
                  <a:gd name="connsiteY7" fmla="*/ 3051018 h 3592451"/>
                  <a:gd name="connsiteX8" fmla="*/ 877950 w 2878766"/>
                  <a:gd name="connsiteY8" fmla="*/ 724278 h 3592451"/>
                  <a:gd name="connsiteX9" fmla="*/ 796469 w 2878766"/>
                  <a:gd name="connsiteY9" fmla="*/ 371193 h 3592451"/>
                  <a:gd name="connsiteX10" fmla="*/ 380010 w 2878766"/>
                  <a:gd name="connsiteY10" fmla="*/ 371193 h 3592451"/>
                  <a:gd name="connsiteX11" fmla="*/ 352849 w 2878766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2525681 w 2887031"/>
                  <a:gd name="connsiteY5" fmla="*/ 2507810 h 3592451"/>
                  <a:gd name="connsiteX6" fmla="*/ 2878766 w 2887031"/>
                  <a:gd name="connsiteY6" fmla="*/ 2598345 h 3592451"/>
                  <a:gd name="connsiteX7" fmla="*/ 361903 w 2887031"/>
                  <a:gd name="connsiteY7" fmla="*/ 3051018 h 3592451"/>
                  <a:gd name="connsiteX8" fmla="*/ 877950 w 2887031"/>
                  <a:gd name="connsiteY8" fmla="*/ 724278 h 3592451"/>
                  <a:gd name="connsiteX9" fmla="*/ 796469 w 2887031"/>
                  <a:gd name="connsiteY9" fmla="*/ 371193 h 3592451"/>
                  <a:gd name="connsiteX10" fmla="*/ 380010 w 2887031"/>
                  <a:gd name="connsiteY10" fmla="*/ 371193 h 3592451"/>
                  <a:gd name="connsiteX11" fmla="*/ 352849 w 2887031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2525681 w 2887031"/>
                  <a:gd name="connsiteY5" fmla="*/ 2507810 h 3592451"/>
                  <a:gd name="connsiteX6" fmla="*/ 2878766 w 2887031"/>
                  <a:gd name="connsiteY6" fmla="*/ 2598345 h 3592451"/>
                  <a:gd name="connsiteX7" fmla="*/ 361903 w 2887031"/>
                  <a:gd name="connsiteY7" fmla="*/ 3051018 h 3592451"/>
                  <a:gd name="connsiteX8" fmla="*/ 877950 w 2887031"/>
                  <a:gd name="connsiteY8" fmla="*/ 724278 h 3592451"/>
                  <a:gd name="connsiteX9" fmla="*/ 796469 w 2887031"/>
                  <a:gd name="connsiteY9" fmla="*/ 371193 h 3592451"/>
                  <a:gd name="connsiteX10" fmla="*/ 380010 w 2887031"/>
                  <a:gd name="connsiteY10" fmla="*/ 371193 h 3592451"/>
                  <a:gd name="connsiteX11" fmla="*/ 352849 w 2887031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2525681 w 2887031"/>
                  <a:gd name="connsiteY5" fmla="*/ 2507810 h 3592451"/>
                  <a:gd name="connsiteX6" fmla="*/ 2878766 w 2887031"/>
                  <a:gd name="connsiteY6" fmla="*/ 2598345 h 3592451"/>
                  <a:gd name="connsiteX7" fmla="*/ 361903 w 2887031"/>
                  <a:gd name="connsiteY7" fmla="*/ 3051018 h 3592451"/>
                  <a:gd name="connsiteX8" fmla="*/ 877950 w 2887031"/>
                  <a:gd name="connsiteY8" fmla="*/ 724278 h 3592451"/>
                  <a:gd name="connsiteX9" fmla="*/ 796469 w 2887031"/>
                  <a:gd name="connsiteY9" fmla="*/ 371193 h 3592451"/>
                  <a:gd name="connsiteX10" fmla="*/ 380010 w 2887031"/>
                  <a:gd name="connsiteY10" fmla="*/ 371193 h 3592451"/>
                  <a:gd name="connsiteX11" fmla="*/ 352849 w 2887031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2525681 w 2887031"/>
                  <a:gd name="connsiteY5" fmla="*/ 2507810 h 3592451"/>
                  <a:gd name="connsiteX6" fmla="*/ 2878766 w 2887031"/>
                  <a:gd name="connsiteY6" fmla="*/ 2598345 h 3592451"/>
                  <a:gd name="connsiteX7" fmla="*/ 361903 w 2887031"/>
                  <a:gd name="connsiteY7" fmla="*/ 3051018 h 3592451"/>
                  <a:gd name="connsiteX8" fmla="*/ 877950 w 2887031"/>
                  <a:gd name="connsiteY8" fmla="*/ 724278 h 3592451"/>
                  <a:gd name="connsiteX9" fmla="*/ 796469 w 2887031"/>
                  <a:gd name="connsiteY9" fmla="*/ 371193 h 3592451"/>
                  <a:gd name="connsiteX10" fmla="*/ 380010 w 2887031"/>
                  <a:gd name="connsiteY10" fmla="*/ 371193 h 3592451"/>
                  <a:gd name="connsiteX11" fmla="*/ 352849 w 2887031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2525681 w 2887031"/>
                  <a:gd name="connsiteY5" fmla="*/ 2507810 h 3592451"/>
                  <a:gd name="connsiteX6" fmla="*/ 2878766 w 2887031"/>
                  <a:gd name="connsiteY6" fmla="*/ 2598345 h 3592451"/>
                  <a:gd name="connsiteX7" fmla="*/ 361903 w 2887031"/>
                  <a:gd name="connsiteY7" fmla="*/ 3051018 h 3592451"/>
                  <a:gd name="connsiteX8" fmla="*/ 877950 w 2887031"/>
                  <a:gd name="connsiteY8" fmla="*/ 724278 h 3592451"/>
                  <a:gd name="connsiteX9" fmla="*/ 796469 w 2887031"/>
                  <a:gd name="connsiteY9" fmla="*/ 371193 h 3592451"/>
                  <a:gd name="connsiteX10" fmla="*/ 380010 w 2887031"/>
                  <a:gd name="connsiteY10" fmla="*/ 371193 h 3592451"/>
                  <a:gd name="connsiteX11" fmla="*/ 352849 w 2887031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2525681 w 2887031"/>
                  <a:gd name="connsiteY5" fmla="*/ 2507810 h 3592451"/>
                  <a:gd name="connsiteX6" fmla="*/ 2878766 w 2887031"/>
                  <a:gd name="connsiteY6" fmla="*/ 2598345 h 3592451"/>
                  <a:gd name="connsiteX7" fmla="*/ 361903 w 2887031"/>
                  <a:gd name="connsiteY7" fmla="*/ 3051018 h 3592451"/>
                  <a:gd name="connsiteX8" fmla="*/ 877950 w 2887031"/>
                  <a:gd name="connsiteY8" fmla="*/ 724278 h 3592451"/>
                  <a:gd name="connsiteX9" fmla="*/ 796469 w 2887031"/>
                  <a:gd name="connsiteY9" fmla="*/ 371193 h 3592451"/>
                  <a:gd name="connsiteX10" fmla="*/ 380010 w 2887031"/>
                  <a:gd name="connsiteY10" fmla="*/ 371193 h 3592451"/>
                  <a:gd name="connsiteX11" fmla="*/ 352849 w 2887031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2525681 w 2887031"/>
                  <a:gd name="connsiteY5" fmla="*/ 2507810 h 3592451"/>
                  <a:gd name="connsiteX6" fmla="*/ 2878766 w 2887031"/>
                  <a:gd name="connsiteY6" fmla="*/ 2598345 h 3592451"/>
                  <a:gd name="connsiteX7" fmla="*/ 361903 w 2887031"/>
                  <a:gd name="connsiteY7" fmla="*/ 3051018 h 3592451"/>
                  <a:gd name="connsiteX8" fmla="*/ 877950 w 2887031"/>
                  <a:gd name="connsiteY8" fmla="*/ 724278 h 3592451"/>
                  <a:gd name="connsiteX9" fmla="*/ 796469 w 2887031"/>
                  <a:gd name="connsiteY9" fmla="*/ 371193 h 3592451"/>
                  <a:gd name="connsiteX10" fmla="*/ 380010 w 2887031"/>
                  <a:gd name="connsiteY10" fmla="*/ 371193 h 3592451"/>
                  <a:gd name="connsiteX11" fmla="*/ 352849 w 2887031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2525681 w 2887031"/>
                  <a:gd name="connsiteY5" fmla="*/ 2507810 h 3592451"/>
                  <a:gd name="connsiteX6" fmla="*/ 2878766 w 2887031"/>
                  <a:gd name="connsiteY6" fmla="*/ 2598345 h 3592451"/>
                  <a:gd name="connsiteX7" fmla="*/ 361903 w 2887031"/>
                  <a:gd name="connsiteY7" fmla="*/ 3051018 h 3592451"/>
                  <a:gd name="connsiteX8" fmla="*/ 877950 w 2887031"/>
                  <a:gd name="connsiteY8" fmla="*/ 724278 h 3592451"/>
                  <a:gd name="connsiteX9" fmla="*/ 796469 w 2887031"/>
                  <a:gd name="connsiteY9" fmla="*/ 371193 h 3592451"/>
                  <a:gd name="connsiteX10" fmla="*/ 380010 w 2887031"/>
                  <a:gd name="connsiteY10" fmla="*/ 371193 h 3592451"/>
                  <a:gd name="connsiteX11" fmla="*/ 352849 w 2887031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2525681 w 2887031"/>
                  <a:gd name="connsiteY5" fmla="*/ 2507810 h 3592451"/>
                  <a:gd name="connsiteX6" fmla="*/ 2878766 w 2887031"/>
                  <a:gd name="connsiteY6" fmla="*/ 2598345 h 3592451"/>
                  <a:gd name="connsiteX7" fmla="*/ 361903 w 2887031"/>
                  <a:gd name="connsiteY7" fmla="*/ 3051018 h 3592451"/>
                  <a:gd name="connsiteX8" fmla="*/ 877950 w 2887031"/>
                  <a:gd name="connsiteY8" fmla="*/ 724278 h 3592451"/>
                  <a:gd name="connsiteX9" fmla="*/ 796469 w 2887031"/>
                  <a:gd name="connsiteY9" fmla="*/ 371193 h 3592451"/>
                  <a:gd name="connsiteX10" fmla="*/ 380010 w 2887031"/>
                  <a:gd name="connsiteY10" fmla="*/ 371193 h 3592451"/>
                  <a:gd name="connsiteX11" fmla="*/ 352849 w 2887031"/>
                  <a:gd name="connsiteY11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607479 w 2887031"/>
                  <a:gd name="connsiteY5" fmla="*/ 2785450 h 3592451"/>
                  <a:gd name="connsiteX6" fmla="*/ 2525681 w 2887031"/>
                  <a:gd name="connsiteY6" fmla="*/ 2507810 h 3592451"/>
                  <a:gd name="connsiteX7" fmla="*/ 2878766 w 2887031"/>
                  <a:gd name="connsiteY7" fmla="*/ 2598345 h 3592451"/>
                  <a:gd name="connsiteX8" fmla="*/ 361903 w 2887031"/>
                  <a:gd name="connsiteY8" fmla="*/ 3051018 h 3592451"/>
                  <a:gd name="connsiteX9" fmla="*/ 877950 w 2887031"/>
                  <a:gd name="connsiteY9" fmla="*/ 724278 h 3592451"/>
                  <a:gd name="connsiteX10" fmla="*/ 796469 w 2887031"/>
                  <a:gd name="connsiteY10" fmla="*/ 371193 h 3592451"/>
                  <a:gd name="connsiteX11" fmla="*/ 380010 w 2887031"/>
                  <a:gd name="connsiteY11" fmla="*/ 371193 h 3592451"/>
                  <a:gd name="connsiteX12" fmla="*/ 352849 w 2887031"/>
                  <a:gd name="connsiteY12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607479 w 2887031"/>
                  <a:gd name="connsiteY5" fmla="*/ 2785450 h 3592451"/>
                  <a:gd name="connsiteX6" fmla="*/ 2525681 w 2887031"/>
                  <a:gd name="connsiteY6" fmla="*/ 2507810 h 3592451"/>
                  <a:gd name="connsiteX7" fmla="*/ 2878766 w 2887031"/>
                  <a:gd name="connsiteY7" fmla="*/ 2598345 h 3592451"/>
                  <a:gd name="connsiteX8" fmla="*/ 361903 w 2887031"/>
                  <a:gd name="connsiteY8" fmla="*/ 3051018 h 3592451"/>
                  <a:gd name="connsiteX9" fmla="*/ 877950 w 2887031"/>
                  <a:gd name="connsiteY9" fmla="*/ 724278 h 3592451"/>
                  <a:gd name="connsiteX10" fmla="*/ 796469 w 2887031"/>
                  <a:gd name="connsiteY10" fmla="*/ 371193 h 3592451"/>
                  <a:gd name="connsiteX11" fmla="*/ 380010 w 2887031"/>
                  <a:gd name="connsiteY11" fmla="*/ 371193 h 3592451"/>
                  <a:gd name="connsiteX12" fmla="*/ 352849 w 2887031"/>
                  <a:gd name="connsiteY12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607479 w 2887031"/>
                  <a:gd name="connsiteY5" fmla="*/ 2785450 h 3592451"/>
                  <a:gd name="connsiteX6" fmla="*/ 2525681 w 2887031"/>
                  <a:gd name="connsiteY6" fmla="*/ 2507810 h 3592451"/>
                  <a:gd name="connsiteX7" fmla="*/ 2878766 w 2887031"/>
                  <a:gd name="connsiteY7" fmla="*/ 2598345 h 3592451"/>
                  <a:gd name="connsiteX8" fmla="*/ 361903 w 2887031"/>
                  <a:gd name="connsiteY8" fmla="*/ 3051018 h 3592451"/>
                  <a:gd name="connsiteX9" fmla="*/ 877950 w 2887031"/>
                  <a:gd name="connsiteY9" fmla="*/ 724278 h 3592451"/>
                  <a:gd name="connsiteX10" fmla="*/ 796469 w 2887031"/>
                  <a:gd name="connsiteY10" fmla="*/ 371193 h 3592451"/>
                  <a:gd name="connsiteX11" fmla="*/ 380010 w 2887031"/>
                  <a:gd name="connsiteY11" fmla="*/ 371193 h 3592451"/>
                  <a:gd name="connsiteX12" fmla="*/ 352849 w 2887031"/>
                  <a:gd name="connsiteY12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607479 w 2887031"/>
                  <a:gd name="connsiteY5" fmla="*/ 2785450 h 3592451"/>
                  <a:gd name="connsiteX6" fmla="*/ 2525681 w 2887031"/>
                  <a:gd name="connsiteY6" fmla="*/ 2507810 h 3592451"/>
                  <a:gd name="connsiteX7" fmla="*/ 2878766 w 2887031"/>
                  <a:gd name="connsiteY7" fmla="*/ 2598345 h 3592451"/>
                  <a:gd name="connsiteX8" fmla="*/ 361903 w 2887031"/>
                  <a:gd name="connsiteY8" fmla="*/ 3051018 h 3592451"/>
                  <a:gd name="connsiteX9" fmla="*/ 877950 w 2887031"/>
                  <a:gd name="connsiteY9" fmla="*/ 724278 h 3592451"/>
                  <a:gd name="connsiteX10" fmla="*/ 796469 w 2887031"/>
                  <a:gd name="connsiteY10" fmla="*/ 371193 h 3592451"/>
                  <a:gd name="connsiteX11" fmla="*/ 380010 w 2887031"/>
                  <a:gd name="connsiteY11" fmla="*/ 371193 h 3592451"/>
                  <a:gd name="connsiteX12" fmla="*/ 352849 w 2887031"/>
                  <a:gd name="connsiteY12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607479 w 2887031"/>
                  <a:gd name="connsiteY5" fmla="*/ 2785450 h 3592451"/>
                  <a:gd name="connsiteX6" fmla="*/ 2525681 w 2887031"/>
                  <a:gd name="connsiteY6" fmla="*/ 2507810 h 3592451"/>
                  <a:gd name="connsiteX7" fmla="*/ 2878766 w 2887031"/>
                  <a:gd name="connsiteY7" fmla="*/ 2598345 h 3592451"/>
                  <a:gd name="connsiteX8" fmla="*/ 361903 w 2887031"/>
                  <a:gd name="connsiteY8" fmla="*/ 3051018 h 3592451"/>
                  <a:gd name="connsiteX9" fmla="*/ 877950 w 2887031"/>
                  <a:gd name="connsiteY9" fmla="*/ 724278 h 3592451"/>
                  <a:gd name="connsiteX10" fmla="*/ 796469 w 2887031"/>
                  <a:gd name="connsiteY10" fmla="*/ 371193 h 3592451"/>
                  <a:gd name="connsiteX11" fmla="*/ 380010 w 2887031"/>
                  <a:gd name="connsiteY11" fmla="*/ 371193 h 3592451"/>
                  <a:gd name="connsiteX12" fmla="*/ 352849 w 2887031"/>
                  <a:gd name="connsiteY12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607479 w 2887031"/>
                  <a:gd name="connsiteY5" fmla="*/ 2785450 h 3592451"/>
                  <a:gd name="connsiteX6" fmla="*/ 2525681 w 2887031"/>
                  <a:gd name="connsiteY6" fmla="*/ 2507810 h 3592451"/>
                  <a:gd name="connsiteX7" fmla="*/ 2878766 w 2887031"/>
                  <a:gd name="connsiteY7" fmla="*/ 2598345 h 3592451"/>
                  <a:gd name="connsiteX8" fmla="*/ 361903 w 2887031"/>
                  <a:gd name="connsiteY8" fmla="*/ 3051018 h 3592451"/>
                  <a:gd name="connsiteX9" fmla="*/ 877950 w 2887031"/>
                  <a:gd name="connsiteY9" fmla="*/ 724278 h 3592451"/>
                  <a:gd name="connsiteX10" fmla="*/ 796469 w 2887031"/>
                  <a:gd name="connsiteY10" fmla="*/ 371193 h 3592451"/>
                  <a:gd name="connsiteX11" fmla="*/ 380010 w 2887031"/>
                  <a:gd name="connsiteY11" fmla="*/ 371193 h 3592451"/>
                  <a:gd name="connsiteX12" fmla="*/ 352849 w 2887031"/>
                  <a:gd name="connsiteY12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607479 w 2887031"/>
                  <a:gd name="connsiteY5" fmla="*/ 2785450 h 3592451"/>
                  <a:gd name="connsiteX6" fmla="*/ 2525681 w 2887031"/>
                  <a:gd name="connsiteY6" fmla="*/ 2507810 h 3592451"/>
                  <a:gd name="connsiteX7" fmla="*/ 2878766 w 2887031"/>
                  <a:gd name="connsiteY7" fmla="*/ 2598345 h 3592451"/>
                  <a:gd name="connsiteX8" fmla="*/ 361903 w 2887031"/>
                  <a:gd name="connsiteY8" fmla="*/ 3051018 h 3592451"/>
                  <a:gd name="connsiteX9" fmla="*/ 877950 w 2887031"/>
                  <a:gd name="connsiteY9" fmla="*/ 724278 h 3592451"/>
                  <a:gd name="connsiteX10" fmla="*/ 796469 w 2887031"/>
                  <a:gd name="connsiteY10" fmla="*/ 371193 h 3592451"/>
                  <a:gd name="connsiteX11" fmla="*/ 380010 w 2887031"/>
                  <a:gd name="connsiteY11" fmla="*/ 371193 h 3592451"/>
                  <a:gd name="connsiteX12" fmla="*/ 352849 w 2887031"/>
                  <a:gd name="connsiteY12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607479 w 2887031"/>
                  <a:gd name="connsiteY5" fmla="*/ 2785450 h 3592451"/>
                  <a:gd name="connsiteX6" fmla="*/ 2525681 w 2887031"/>
                  <a:gd name="connsiteY6" fmla="*/ 2507810 h 3592451"/>
                  <a:gd name="connsiteX7" fmla="*/ 2878766 w 2887031"/>
                  <a:gd name="connsiteY7" fmla="*/ 2598345 h 3592451"/>
                  <a:gd name="connsiteX8" fmla="*/ 361903 w 2887031"/>
                  <a:gd name="connsiteY8" fmla="*/ 3051018 h 3592451"/>
                  <a:gd name="connsiteX9" fmla="*/ 877950 w 2887031"/>
                  <a:gd name="connsiteY9" fmla="*/ 724278 h 3592451"/>
                  <a:gd name="connsiteX10" fmla="*/ 796469 w 2887031"/>
                  <a:gd name="connsiteY10" fmla="*/ 371193 h 3592451"/>
                  <a:gd name="connsiteX11" fmla="*/ 380010 w 2887031"/>
                  <a:gd name="connsiteY11" fmla="*/ 371193 h 3592451"/>
                  <a:gd name="connsiteX12" fmla="*/ 352849 w 2887031"/>
                  <a:gd name="connsiteY12" fmla="*/ 0 h 3592451"/>
                  <a:gd name="connsiteX0" fmla="*/ 352849 w 2887031"/>
                  <a:gd name="connsiteY0" fmla="*/ 0 h 3592451"/>
                  <a:gd name="connsiteX1" fmla="*/ 877950 w 2887031"/>
                  <a:gd name="connsiteY1" fmla="*/ 0 h 3592451"/>
                  <a:gd name="connsiteX2" fmla="*/ 1104287 w 2887031"/>
                  <a:gd name="connsiteY2" fmla="*/ 190123 h 3592451"/>
                  <a:gd name="connsiteX3" fmla="*/ 1285356 w 2887031"/>
                  <a:gd name="connsiteY3" fmla="*/ 760492 h 3592451"/>
                  <a:gd name="connsiteX4" fmla="*/ 1149554 w 2887031"/>
                  <a:gd name="connsiteY4" fmla="*/ 1032096 h 3592451"/>
                  <a:gd name="connsiteX5" fmla="*/ 607479 w 2887031"/>
                  <a:gd name="connsiteY5" fmla="*/ 2785450 h 3592451"/>
                  <a:gd name="connsiteX6" fmla="*/ 2525681 w 2887031"/>
                  <a:gd name="connsiteY6" fmla="*/ 2507810 h 3592451"/>
                  <a:gd name="connsiteX7" fmla="*/ 2878766 w 2887031"/>
                  <a:gd name="connsiteY7" fmla="*/ 2598345 h 3592451"/>
                  <a:gd name="connsiteX8" fmla="*/ 361903 w 2887031"/>
                  <a:gd name="connsiteY8" fmla="*/ 3051018 h 3592451"/>
                  <a:gd name="connsiteX9" fmla="*/ 877950 w 2887031"/>
                  <a:gd name="connsiteY9" fmla="*/ 724278 h 3592451"/>
                  <a:gd name="connsiteX10" fmla="*/ 796469 w 2887031"/>
                  <a:gd name="connsiteY10" fmla="*/ 371193 h 3592451"/>
                  <a:gd name="connsiteX11" fmla="*/ 380010 w 2887031"/>
                  <a:gd name="connsiteY11" fmla="*/ 371193 h 3592451"/>
                  <a:gd name="connsiteX12" fmla="*/ 352849 w 2887031"/>
                  <a:gd name="connsiteY12" fmla="*/ 0 h 3592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87031" h="3592451">
                    <a:moveTo>
                      <a:pt x="352849" y="0"/>
                    </a:moveTo>
                    <a:lnTo>
                      <a:pt x="877950" y="0"/>
                    </a:lnTo>
                    <a:cubicBezTo>
                      <a:pt x="1029596" y="44324"/>
                      <a:pt x="1066941" y="50549"/>
                      <a:pt x="1104287" y="190123"/>
                    </a:cubicBezTo>
                    <a:lnTo>
                      <a:pt x="1285356" y="760492"/>
                    </a:lnTo>
                    <a:cubicBezTo>
                      <a:pt x="1306764" y="879602"/>
                      <a:pt x="1280546" y="970136"/>
                      <a:pt x="1149554" y="1032096"/>
                    </a:cubicBezTo>
                    <a:cubicBezTo>
                      <a:pt x="449200" y="1152102"/>
                      <a:pt x="111425" y="2168023"/>
                      <a:pt x="607479" y="2785450"/>
                    </a:cubicBezTo>
                    <a:cubicBezTo>
                      <a:pt x="1513108" y="3745777"/>
                      <a:pt x="2445583" y="2912057"/>
                      <a:pt x="2525681" y="2507810"/>
                    </a:cubicBezTo>
                    <a:cubicBezTo>
                      <a:pt x="2624326" y="2252238"/>
                      <a:pt x="2942046" y="2387192"/>
                      <a:pt x="2878766" y="2598345"/>
                    </a:cubicBezTo>
                    <a:cubicBezTo>
                      <a:pt x="2735137" y="3254061"/>
                      <a:pt x="1400882" y="4205052"/>
                      <a:pt x="361903" y="3051018"/>
                    </a:cubicBezTo>
                    <a:cubicBezTo>
                      <a:pt x="-12118" y="2713683"/>
                      <a:pt x="-398589" y="1391216"/>
                      <a:pt x="877950" y="724278"/>
                    </a:cubicBezTo>
                    <a:lnTo>
                      <a:pt x="796469" y="371193"/>
                    </a:lnTo>
                    <a:lnTo>
                      <a:pt x="380010" y="371193"/>
                    </a:lnTo>
                    <a:cubicBezTo>
                      <a:pt x="142356" y="342712"/>
                      <a:pt x="180928" y="47531"/>
                      <a:pt x="352849" y="0"/>
                    </a:cubicBez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Freeform 135"/>
              <p:cNvSpPr/>
              <p:nvPr/>
            </p:nvSpPr>
            <p:spPr>
              <a:xfrm>
                <a:off x="-4124323" y="858385"/>
                <a:ext cx="2920174" cy="3418337"/>
              </a:xfrm>
              <a:custGeom>
                <a:avLst/>
                <a:gdLst>
                  <a:gd name="connsiteX0" fmla="*/ 2695575 w 2705100"/>
                  <a:gd name="connsiteY0" fmla="*/ 3286125 h 3371850"/>
                  <a:gd name="connsiteX1" fmla="*/ 2228850 w 2705100"/>
                  <a:gd name="connsiteY1" fmla="*/ 3371850 h 3371850"/>
                  <a:gd name="connsiteX2" fmla="*/ 1924050 w 2705100"/>
                  <a:gd name="connsiteY2" fmla="*/ 3057525 h 3371850"/>
                  <a:gd name="connsiteX3" fmla="*/ 1800225 w 2705100"/>
                  <a:gd name="connsiteY3" fmla="*/ 2286000 h 3371850"/>
                  <a:gd name="connsiteX4" fmla="*/ 1514475 w 2705100"/>
                  <a:gd name="connsiteY4" fmla="*/ 2028825 h 3371850"/>
                  <a:gd name="connsiteX5" fmla="*/ 981075 w 2705100"/>
                  <a:gd name="connsiteY5" fmla="*/ 2038350 h 3371850"/>
                  <a:gd name="connsiteX6" fmla="*/ 438150 w 2705100"/>
                  <a:gd name="connsiteY6" fmla="*/ 1714500 h 3371850"/>
                  <a:gd name="connsiteX7" fmla="*/ 0 w 2705100"/>
                  <a:gd name="connsiteY7" fmla="*/ 190500 h 3371850"/>
                  <a:gd name="connsiteX8" fmla="*/ 428625 w 2705100"/>
                  <a:gd name="connsiteY8" fmla="*/ 0 h 3371850"/>
                  <a:gd name="connsiteX9" fmla="*/ 1752600 w 2705100"/>
                  <a:gd name="connsiteY9" fmla="*/ 800100 h 3371850"/>
                  <a:gd name="connsiteX10" fmla="*/ 1743075 w 2705100"/>
                  <a:gd name="connsiteY10" fmla="*/ 1276350 h 3371850"/>
                  <a:gd name="connsiteX11" fmla="*/ 742950 w 2705100"/>
                  <a:gd name="connsiteY11" fmla="*/ 990600 h 3371850"/>
                  <a:gd name="connsiteX12" fmla="*/ 866775 w 2705100"/>
                  <a:gd name="connsiteY12" fmla="*/ 1428750 h 3371850"/>
                  <a:gd name="connsiteX13" fmla="*/ 1076325 w 2705100"/>
                  <a:gd name="connsiteY13" fmla="*/ 1552575 h 3371850"/>
                  <a:gd name="connsiteX14" fmla="*/ 1638300 w 2705100"/>
                  <a:gd name="connsiteY14" fmla="*/ 1562100 h 3371850"/>
                  <a:gd name="connsiteX15" fmla="*/ 2266950 w 2705100"/>
                  <a:gd name="connsiteY15" fmla="*/ 2124075 h 3371850"/>
                  <a:gd name="connsiteX16" fmla="*/ 2371725 w 2705100"/>
                  <a:gd name="connsiteY16" fmla="*/ 2828925 h 3371850"/>
                  <a:gd name="connsiteX17" fmla="*/ 2705100 w 2705100"/>
                  <a:gd name="connsiteY17" fmla="*/ 2819400 h 3371850"/>
                  <a:gd name="connsiteX18" fmla="*/ 2695575 w 2705100"/>
                  <a:gd name="connsiteY18" fmla="*/ 3286125 h 3371850"/>
                  <a:gd name="connsiteX0" fmla="*/ 2695575 w 2705100"/>
                  <a:gd name="connsiteY0" fmla="*/ 3286125 h 3343275"/>
                  <a:gd name="connsiteX1" fmla="*/ 2209800 w 2705100"/>
                  <a:gd name="connsiteY1" fmla="*/ 3343275 h 3343275"/>
                  <a:gd name="connsiteX2" fmla="*/ 1924050 w 2705100"/>
                  <a:gd name="connsiteY2" fmla="*/ 3057525 h 3343275"/>
                  <a:gd name="connsiteX3" fmla="*/ 1800225 w 2705100"/>
                  <a:gd name="connsiteY3" fmla="*/ 2286000 h 3343275"/>
                  <a:gd name="connsiteX4" fmla="*/ 1514475 w 2705100"/>
                  <a:gd name="connsiteY4" fmla="*/ 2028825 h 3343275"/>
                  <a:gd name="connsiteX5" fmla="*/ 981075 w 2705100"/>
                  <a:gd name="connsiteY5" fmla="*/ 2038350 h 3343275"/>
                  <a:gd name="connsiteX6" fmla="*/ 438150 w 2705100"/>
                  <a:gd name="connsiteY6" fmla="*/ 1714500 h 3343275"/>
                  <a:gd name="connsiteX7" fmla="*/ 0 w 2705100"/>
                  <a:gd name="connsiteY7" fmla="*/ 190500 h 3343275"/>
                  <a:gd name="connsiteX8" fmla="*/ 428625 w 2705100"/>
                  <a:gd name="connsiteY8" fmla="*/ 0 h 3343275"/>
                  <a:gd name="connsiteX9" fmla="*/ 1752600 w 2705100"/>
                  <a:gd name="connsiteY9" fmla="*/ 800100 h 3343275"/>
                  <a:gd name="connsiteX10" fmla="*/ 1743075 w 2705100"/>
                  <a:gd name="connsiteY10" fmla="*/ 1276350 h 3343275"/>
                  <a:gd name="connsiteX11" fmla="*/ 742950 w 2705100"/>
                  <a:gd name="connsiteY11" fmla="*/ 990600 h 3343275"/>
                  <a:gd name="connsiteX12" fmla="*/ 866775 w 2705100"/>
                  <a:gd name="connsiteY12" fmla="*/ 1428750 h 3343275"/>
                  <a:gd name="connsiteX13" fmla="*/ 1076325 w 2705100"/>
                  <a:gd name="connsiteY13" fmla="*/ 1552575 h 3343275"/>
                  <a:gd name="connsiteX14" fmla="*/ 1638300 w 2705100"/>
                  <a:gd name="connsiteY14" fmla="*/ 1562100 h 3343275"/>
                  <a:gd name="connsiteX15" fmla="*/ 2266950 w 2705100"/>
                  <a:gd name="connsiteY15" fmla="*/ 2124075 h 3343275"/>
                  <a:gd name="connsiteX16" fmla="*/ 2371725 w 2705100"/>
                  <a:gd name="connsiteY16" fmla="*/ 2828925 h 3343275"/>
                  <a:gd name="connsiteX17" fmla="*/ 2705100 w 2705100"/>
                  <a:gd name="connsiteY17" fmla="*/ 2819400 h 3343275"/>
                  <a:gd name="connsiteX18" fmla="*/ 2695575 w 2705100"/>
                  <a:gd name="connsiteY18" fmla="*/ 3286125 h 3343275"/>
                  <a:gd name="connsiteX0" fmla="*/ 2695575 w 2705100"/>
                  <a:gd name="connsiteY0" fmla="*/ 3286125 h 3343275"/>
                  <a:gd name="connsiteX1" fmla="*/ 2209800 w 2705100"/>
                  <a:gd name="connsiteY1" fmla="*/ 3343275 h 3343275"/>
                  <a:gd name="connsiteX2" fmla="*/ 1924050 w 2705100"/>
                  <a:gd name="connsiteY2" fmla="*/ 3057525 h 3343275"/>
                  <a:gd name="connsiteX3" fmla="*/ 1800225 w 2705100"/>
                  <a:gd name="connsiteY3" fmla="*/ 2286000 h 3343275"/>
                  <a:gd name="connsiteX4" fmla="*/ 1514475 w 2705100"/>
                  <a:gd name="connsiteY4" fmla="*/ 2028825 h 3343275"/>
                  <a:gd name="connsiteX5" fmla="*/ 981075 w 2705100"/>
                  <a:gd name="connsiteY5" fmla="*/ 2038350 h 3343275"/>
                  <a:gd name="connsiteX6" fmla="*/ 438150 w 2705100"/>
                  <a:gd name="connsiteY6" fmla="*/ 1714500 h 3343275"/>
                  <a:gd name="connsiteX7" fmla="*/ 0 w 2705100"/>
                  <a:gd name="connsiteY7" fmla="*/ 190500 h 3343275"/>
                  <a:gd name="connsiteX8" fmla="*/ 428625 w 2705100"/>
                  <a:gd name="connsiteY8" fmla="*/ 0 h 3343275"/>
                  <a:gd name="connsiteX9" fmla="*/ 1752600 w 2705100"/>
                  <a:gd name="connsiteY9" fmla="*/ 800100 h 3343275"/>
                  <a:gd name="connsiteX10" fmla="*/ 1743075 w 2705100"/>
                  <a:gd name="connsiteY10" fmla="*/ 1276350 h 3343275"/>
                  <a:gd name="connsiteX11" fmla="*/ 742950 w 2705100"/>
                  <a:gd name="connsiteY11" fmla="*/ 990600 h 3343275"/>
                  <a:gd name="connsiteX12" fmla="*/ 866775 w 2705100"/>
                  <a:gd name="connsiteY12" fmla="*/ 1428750 h 3343275"/>
                  <a:gd name="connsiteX13" fmla="*/ 1076325 w 2705100"/>
                  <a:gd name="connsiteY13" fmla="*/ 1552575 h 3343275"/>
                  <a:gd name="connsiteX14" fmla="*/ 1638300 w 2705100"/>
                  <a:gd name="connsiteY14" fmla="*/ 1562100 h 3343275"/>
                  <a:gd name="connsiteX15" fmla="*/ 2266950 w 2705100"/>
                  <a:gd name="connsiteY15" fmla="*/ 2124075 h 3343275"/>
                  <a:gd name="connsiteX16" fmla="*/ 2371725 w 2705100"/>
                  <a:gd name="connsiteY16" fmla="*/ 2828925 h 3343275"/>
                  <a:gd name="connsiteX17" fmla="*/ 2705100 w 2705100"/>
                  <a:gd name="connsiteY17" fmla="*/ 2819400 h 3343275"/>
                  <a:gd name="connsiteX18" fmla="*/ 2695575 w 2705100"/>
                  <a:gd name="connsiteY18" fmla="*/ 3286125 h 3343275"/>
                  <a:gd name="connsiteX0" fmla="*/ 2695575 w 2705100"/>
                  <a:gd name="connsiteY0" fmla="*/ 3286125 h 3343275"/>
                  <a:gd name="connsiteX1" fmla="*/ 2209800 w 2705100"/>
                  <a:gd name="connsiteY1" fmla="*/ 3343275 h 3343275"/>
                  <a:gd name="connsiteX2" fmla="*/ 1924050 w 2705100"/>
                  <a:gd name="connsiteY2" fmla="*/ 3057525 h 3343275"/>
                  <a:gd name="connsiteX3" fmla="*/ 1800225 w 2705100"/>
                  <a:gd name="connsiteY3" fmla="*/ 2286000 h 3343275"/>
                  <a:gd name="connsiteX4" fmla="*/ 1514475 w 2705100"/>
                  <a:gd name="connsiteY4" fmla="*/ 2028825 h 3343275"/>
                  <a:gd name="connsiteX5" fmla="*/ 981075 w 2705100"/>
                  <a:gd name="connsiteY5" fmla="*/ 2038350 h 3343275"/>
                  <a:gd name="connsiteX6" fmla="*/ 438150 w 2705100"/>
                  <a:gd name="connsiteY6" fmla="*/ 1714500 h 3343275"/>
                  <a:gd name="connsiteX7" fmla="*/ 0 w 2705100"/>
                  <a:gd name="connsiteY7" fmla="*/ 190500 h 3343275"/>
                  <a:gd name="connsiteX8" fmla="*/ 428625 w 2705100"/>
                  <a:gd name="connsiteY8" fmla="*/ 0 h 3343275"/>
                  <a:gd name="connsiteX9" fmla="*/ 1752600 w 2705100"/>
                  <a:gd name="connsiteY9" fmla="*/ 800100 h 3343275"/>
                  <a:gd name="connsiteX10" fmla="*/ 1743075 w 2705100"/>
                  <a:gd name="connsiteY10" fmla="*/ 1276350 h 3343275"/>
                  <a:gd name="connsiteX11" fmla="*/ 742950 w 2705100"/>
                  <a:gd name="connsiteY11" fmla="*/ 990600 h 3343275"/>
                  <a:gd name="connsiteX12" fmla="*/ 866775 w 2705100"/>
                  <a:gd name="connsiteY12" fmla="*/ 1428750 h 3343275"/>
                  <a:gd name="connsiteX13" fmla="*/ 1076325 w 2705100"/>
                  <a:gd name="connsiteY13" fmla="*/ 1552575 h 3343275"/>
                  <a:gd name="connsiteX14" fmla="*/ 1638300 w 2705100"/>
                  <a:gd name="connsiteY14" fmla="*/ 1562100 h 3343275"/>
                  <a:gd name="connsiteX15" fmla="*/ 2266950 w 2705100"/>
                  <a:gd name="connsiteY15" fmla="*/ 2124075 h 3343275"/>
                  <a:gd name="connsiteX16" fmla="*/ 2371725 w 2705100"/>
                  <a:gd name="connsiteY16" fmla="*/ 2828925 h 3343275"/>
                  <a:gd name="connsiteX17" fmla="*/ 2705100 w 2705100"/>
                  <a:gd name="connsiteY17" fmla="*/ 2819400 h 3343275"/>
                  <a:gd name="connsiteX18" fmla="*/ 2695575 w 2705100"/>
                  <a:gd name="connsiteY18" fmla="*/ 3286125 h 3343275"/>
                  <a:gd name="connsiteX0" fmla="*/ 2695575 w 2786631"/>
                  <a:gd name="connsiteY0" fmla="*/ 3286125 h 3343275"/>
                  <a:gd name="connsiteX1" fmla="*/ 2209800 w 2786631"/>
                  <a:gd name="connsiteY1" fmla="*/ 3343275 h 3343275"/>
                  <a:gd name="connsiteX2" fmla="*/ 1924050 w 2786631"/>
                  <a:gd name="connsiteY2" fmla="*/ 3057525 h 3343275"/>
                  <a:gd name="connsiteX3" fmla="*/ 1800225 w 2786631"/>
                  <a:gd name="connsiteY3" fmla="*/ 2286000 h 3343275"/>
                  <a:gd name="connsiteX4" fmla="*/ 1514475 w 2786631"/>
                  <a:gd name="connsiteY4" fmla="*/ 2028825 h 3343275"/>
                  <a:gd name="connsiteX5" fmla="*/ 981075 w 2786631"/>
                  <a:gd name="connsiteY5" fmla="*/ 2038350 h 3343275"/>
                  <a:gd name="connsiteX6" fmla="*/ 438150 w 2786631"/>
                  <a:gd name="connsiteY6" fmla="*/ 1714500 h 3343275"/>
                  <a:gd name="connsiteX7" fmla="*/ 0 w 2786631"/>
                  <a:gd name="connsiteY7" fmla="*/ 190500 h 3343275"/>
                  <a:gd name="connsiteX8" fmla="*/ 428625 w 2786631"/>
                  <a:gd name="connsiteY8" fmla="*/ 0 h 3343275"/>
                  <a:gd name="connsiteX9" fmla="*/ 1752600 w 2786631"/>
                  <a:gd name="connsiteY9" fmla="*/ 800100 h 3343275"/>
                  <a:gd name="connsiteX10" fmla="*/ 1743075 w 2786631"/>
                  <a:gd name="connsiteY10" fmla="*/ 1276350 h 3343275"/>
                  <a:gd name="connsiteX11" fmla="*/ 742950 w 2786631"/>
                  <a:gd name="connsiteY11" fmla="*/ 990600 h 3343275"/>
                  <a:gd name="connsiteX12" fmla="*/ 866775 w 2786631"/>
                  <a:gd name="connsiteY12" fmla="*/ 1428750 h 3343275"/>
                  <a:gd name="connsiteX13" fmla="*/ 1076325 w 2786631"/>
                  <a:gd name="connsiteY13" fmla="*/ 1552575 h 3343275"/>
                  <a:gd name="connsiteX14" fmla="*/ 1638300 w 2786631"/>
                  <a:gd name="connsiteY14" fmla="*/ 1562100 h 3343275"/>
                  <a:gd name="connsiteX15" fmla="*/ 2266950 w 2786631"/>
                  <a:gd name="connsiteY15" fmla="*/ 2124075 h 3343275"/>
                  <a:gd name="connsiteX16" fmla="*/ 2371725 w 2786631"/>
                  <a:gd name="connsiteY16" fmla="*/ 2828925 h 3343275"/>
                  <a:gd name="connsiteX17" fmla="*/ 2705100 w 2786631"/>
                  <a:gd name="connsiteY17" fmla="*/ 2819400 h 3343275"/>
                  <a:gd name="connsiteX18" fmla="*/ 2695575 w 2786631"/>
                  <a:gd name="connsiteY18" fmla="*/ 3286125 h 3343275"/>
                  <a:gd name="connsiteX0" fmla="*/ 2695575 w 2907634"/>
                  <a:gd name="connsiteY0" fmla="*/ 3286125 h 3343275"/>
                  <a:gd name="connsiteX1" fmla="*/ 2209800 w 2907634"/>
                  <a:gd name="connsiteY1" fmla="*/ 3343275 h 3343275"/>
                  <a:gd name="connsiteX2" fmla="*/ 1924050 w 2907634"/>
                  <a:gd name="connsiteY2" fmla="*/ 3057525 h 3343275"/>
                  <a:gd name="connsiteX3" fmla="*/ 1800225 w 2907634"/>
                  <a:gd name="connsiteY3" fmla="*/ 2286000 h 3343275"/>
                  <a:gd name="connsiteX4" fmla="*/ 1514475 w 2907634"/>
                  <a:gd name="connsiteY4" fmla="*/ 2028825 h 3343275"/>
                  <a:gd name="connsiteX5" fmla="*/ 981075 w 2907634"/>
                  <a:gd name="connsiteY5" fmla="*/ 2038350 h 3343275"/>
                  <a:gd name="connsiteX6" fmla="*/ 438150 w 2907634"/>
                  <a:gd name="connsiteY6" fmla="*/ 1714500 h 3343275"/>
                  <a:gd name="connsiteX7" fmla="*/ 0 w 2907634"/>
                  <a:gd name="connsiteY7" fmla="*/ 190500 h 3343275"/>
                  <a:gd name="connsiteX8" fmla="*/ 428625 w 2907634"/>
                  <a:gd name="connsiteY8" fmla="*/ 0 h 3343275"/>
                  <a:gd name="connsiteX9" fmla="*/ 1752600 w 2907634"/>
                  <a:gd name="connsiteY9" fmla="*/ 800100 h 3343275"/>
                  <a:gd name="connsiteX10" fmla="*/ 1743075 w 2907634"/>
                  <a:gd name="connsiteY10" fmla="*/ 1276350 h 3343275"/>
                  <a:gd name="connsiteX11" fmla="*/ 742950 w 2907634"/>
                  <a:gd name="connsiteY11" fmla="*/ 990600 h 3343275"/>
                  <a:gd name="connsiteX12" fmla="*/ 866775 w 2907634"/>
                  <a:gd name="connsiteY12" fmla="*/ 1428750 h 3343275"/>
                  <a:gd name="connsiteX13" fmla="*/ 1076325 w 2907634"/>
                  <a:gd name="connsiteY13" fmla="*/ 1552575 h 3343275"/>
                  <a:gd name="connsiteX14" fmla="*/ 1638300 w 2907634"/>
                  <a:gd name="connsiteY14" fmla="*/ 1562100 h 3343275"/>
                  <a:gd name="connsiteX15" fmla="*/ 2266950 w 2907634"/>
                  <a:gd name="connsiteY15" fmla="*/ 2124075 h 3343275"/>
                  <a:gd name="connsiteX16" fmla="*/ 2371725 w 2907634"/>
                  <a:gd name="connsiteY16" fmla="*/ 2828925 h 3343275"/>
                  <a:gd name="connsiteX17" fmla="*/ 2705100 w 2907634"/>
                  <a:gd name="connsiteY17" fmla="*/ 2819400 h 3343275"/>
                  <a:gd name="connsiteX18" fmla="*/ 2695575 w 2907634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286125 h 3343275"/>
                  <a:gd name="connsiteX1" fmla="*/ 2209800 w 2920175"/>
                  <a:gd name="connsiteY1" fmla="*/ 3343275 h 3343275"/>
                  <a:gd name="connsiteX2" fmla="*/ 1924050 w 2920175"/>
                  <a:gd name="connsiteY2" fmla="*/ 3057525 h 3343275"/>
                  <a:gd name="connsiteX3" fmla="*/ 1800225 w 2920175"/>
                  <a:gd name="connsiteY3" fmla="*/ 2286000 h 3343275"/>
                  <a:gd name="connsiteX4" fmla="*/ 1514475 w 2920175"/>
                  <a:gd name="connsiteY4" fmla="*/ 2028825 h 3343275"/>
                  <a:gd name="connsiteX5" fmla="*/ 981075 w 2920175"/>
                  <a:gd name="connsiteY5" fmla="*/ 2038350 h 3343275"/>
                  <a:gd name="connsiteX6" fmla="*/ 438150 w 2920175"/>
                  <a:gd name="connsiteY6" fmla="*/ 1714500 h 3343275"/>
                  <a:gd name="connsiteX7" fmla="*/ 0 w 2920175"/>
                  <a:gd name="connsiteY7" fmla="*/ 190500 h 3343275"/>
                  <a:gd name="connsiteX8" fmla="*/ 428625 w 2920175"/>
                  <a:gd name="connsiteY8" fmla="*/ 0 h 3343275"/>
                  <a:gd name="connsiteX9" fmla="*/ 1752600 w 2920175"/>
                  <a:gd name="connsiteY9" fmla="*/ 800100 h 3343275"/>
                  <a:gd name="connsiteX10" fmla="*/ 1743075 w 2920175"/>
                  <a:gd name="connsiteY10" fmla="*/ 1276350 h 3343275"/>
                  <a:gd name="connsiteX11" fmla="*/ 742950 w 2920175"/>
                  <a:gd name="connsiteY11" fmla="*/ 990600 h 3343275"/>
                  <a:gd name="connsiteX12" fmla="*/ 866775 w 2920175"/>
                  <a:gd name="connsiteY12" fmla="*/ 1428750 h 3343275"/>
                  <a:gd name="connsiteX13" fmla="*/ 1076325 w 2920175"/>
                  <a:gd name="connsiteY13" fmla="*/ 1552575 h 3343275"/>
                  <a:gd name="connsiteX14" fmla="*/ 1638300 w 2920175"/>
                  <a:gd name="connsiteY14" fmla="*/ 1562100 h 3343275"/>
                  <a:gd name="connsiteX15" fmla="*/ 2266950 w 2920175"/>
                  <a:gd name="connsiteY15" fmla="*/ 2124075 h 3343275"/>
                  <a:gd name="connsiteX16" fmla="*/ 2371725 w 2920175"/>
                  <a:gd name="connsiteY16" fmla="*/ 2828925 h 3343275"/>
                  <a:gd name="connsiteX17" fmla="*/ 2705100 w 2920175"/>
                  <a:gd name="connsiteY17" fmla="*/ 2819400 h 3343275"/>
                  <a:gd name="connsiteX18" fmla="*/ 2695575 w 2920175"/>
                  <a:gd name="connsiteY18" fmla="*/ 3286125 h 3343275"/>
                  <a:gd name="connsiteX0" fmla="*/ 2695575 w 2920175"/>
                  <a:gd name="connsiteY0" fmla="*/ 3321195 h 3378345"/>
                  <a:gd name="connsiteX1" fmla="*/ 2209800 w 2920175"/>
                  <a:gd name="connsiteY1" fmla="*/ 3378345 h 3378345"/>
                  <a:gd name="connsiteX2" fmla="*/ 1924050 w 2920175"/>
                  <a:gd name="connsiteY2" fmla="*/ 3092595 h 3378345"/>
                  <a:gd name="connsiteX3" fmla="*/ 1800225 w 2920175"/>
                  <a:gd name="connsiteY3" fmla="*/ 2321070 h 3378345"/>
                  <a:gd name="connsiteX4" fmla="*/ 1514475 w 2920175"/>
                  <a:gd name="connsiteY4" fmla="*/ 2063895 h 3378345"/>
                  <a:gd name="connsiteX5" fmla="*/ 981075 w 2920175"/>
                  <a:gd name="connsiteY5" fmla="*/ 2073420 h 3378345"/>
                  <a:gd name="connsiteX6" fmla="*/ 438150 w 2920175"/>
                  <a:gd name="connsiteY6" fmla="*/ 1749570 h 3378345"/>
                  <a:gd name="connsiteX7" fmla="*/ 0 w 2920175"/>
                  <a:gd name="connsiteY7" fmla="*/ 225570 h 3378345"/>
                  <a:gd name="connsiteX8" fmla="*/ 428625 w 2920175"/>
                  <a:gd name="connsiteY8" fmla="*/ 35070 h 3378345"/>
                  <a:gd name="connsiteX9" fmla="*/ 1752600 w 2920175"/>
                  <a:gd name="connsiteY9" fmla="*/ 835170 h 3378345"/>
                  <a:gd name="connsiteX10" fmla="*/ 1743075 w 2920175"/>
                  <a:gd name="connsiteY10" fmla="*/ 1311420 h 3378345"/>
                  <a:gd name="connsiteX11" fmla="*/ 742950 w 2920175"/>
                  <a:gd name="connsiteY11" fmla="*/ 1025670 h 3378345"/>
                  <a:gd name="connsiteX12" fmla="*/ 866775 w 2920175"/>
                  <a:gd name="connsiteY12" fmla="*/ 1463820 h 3378345"/>
                  <a:gd name="connsiteX13" fmla="*/ 1076325 w 2920175"/>
                  <a:gd name="connsiteY13" fmla="*/ 1587645 h 3378345"/>
                  <a:gd name="connsiteX14" fmla="*/ 1638300 w 2920175"/>
                  <a:gd name="connsiteY14" fmla="*/ 1597170 h 3378345"/>
                  <a:gd name="connsiteX15" fmla="*/ 2266950 w 2920175"/>
                  <a:gd name="connsiteY15" fmla="*/ 2159145 h 3378345"/>
                  <a:gd name="connsiteX16" fmla="*/ 2371725 w 2920175"/>
                  <a:gd name="connsiteY16" fmla="*/ 2863995 h 3378345"/>
                  <a:gd name="connsiteX17" fmla="*/ 2705100 w 2920175"/>
                  <a:gd name="connsiteY17" fmla="*/ 2854470 h 3378345"/>
                  <a:gd name="connsiteX18" fmla="*/ 2695575 w 2920175"/>
                  <a:gd name="connsiteY18" fmla="*/ 3321195 h 3378345"/>
                  <a:gd name="connsiteX0" fmla="*/ 2695575 w 2920175"/>
                  <a:gd name="connsiteY0" fmla="*/ 3361190 h 3418340"/>
                  <a:gd name="connsiteX1" fmla="*/ 2209800 w 2920175"/>
                  <a:gd name="connsiteY1" fmla="*/ 3418340 h 3418340"/>
                  <a:gd name="connsiteX2" fmla="*/ 1924050 w 2920175"/>
                  <a:gd name="connsiteY2" fmla="*/ 3132590 h 3418340"/>
                  <a:gd name="connsiteX3" fmla="*/ 1800225 w 2920175"/>
                  <a:gd name="connsiteY3" fmla="*/ 2361065 h 3418340"/>
                  <a:gd name="connsiteX4" fmla="*/ 1514475 w 2920175"/>
                  <a:gd name="connsiteY4" fmla="*/ 2103890 h 3418340"/>
                  <a:gd name="connsiteX5" fmla="*/ 981075 w 2920175"/>
                  <a:gd name="connsiteY5" fmla="*/ 2113415 h 3418340"/>
                  <a:gd name="connsiteX6" fmla="*/ 438150 w 2920175"/>
                  <a:gd name="connsiteY6" fmla="*/ 1789565 h 3418340"/>
                  <a:gd name="connsiteX7" fmla="*/ 0 w 2920175"/>
                  <a:gd name="connsiteY7" fmla="*/ 265565 h 3418340"/>
                  <a:gd name="connsiteX8" fmla="*/ 428625 w 2920175"/>
                  <a:gd name="connsiteY8" fmla="*/ 75065 h 3418340"/>
                  <a:gd name="connsiteX9" fmla="*/ 1752600 w 2920175"/>
                  <a:gd name="connsiteY9" fmla="*/ 875165 h 3418340"/>
                  <a:gd name="connsiteX10" fmla="*/ 1743075 w 2920175"/>
                  <a:gd name="connsiteY10" fmla="*/ 1351415 h 3418340"/>
                  <a:gd name="connsiteX11" fmla="*/ 742950 w 2920175"/>
                  <a:gd name="connsiteY11" fmla="*/ 1065665 h 3418340"/>
                  <a:gd name="connsiteX12" fmla="*/ 866775 w 2920175"/>
                  <a:gd name="connsiteY12" fmla="*/ 1503815 h 3418340"/>
                  <a:gd name="connsiteX13" fmla="*/ 1076325 w 2920175"/>
                  <a:gd name="connsiteY13" fmla="*/ 1627640 h 3418340"/>
                  <a:gd name="connsiteX14" fmla="*/ 1638300 w 2920175"/>
                  <a:gd name="connsiteY14" fmla="*/ 1637165 h 3418340"/>
                  <a:gd name="connsiteX15" fmla="*/ 2266950 w 2920175"/>
                  <a:gd name="connsiteY15" fmla="*/ 2199140 h 3418340"/>
                  <a:gd name="connsiteX16" fmla="*/ 2371725 w 2920175"/>
                  <a:gd name="connsiteY16" fmla="*/ 2903990 h 3418340"/>
                  <a:gd name="connsiteX17" fmla="*/ 2705100 w 2920175"/>
                  <a:gd name="connsiteY17" fmla="*/ 2894465 h 3418340"/>
                  <a:gd name="connsiteX18" fmla="*/ 2695575 w 2920175"/>
                  <a:gd name="connsiteY18" fmla="*/ 3361190 h 3418340"/>
                  <a:gd name="connsiteX0" fmla="*/ 2695575 w 2920175"/>
                  <a:gd name="connsiteY0" fmla="*/ 3361190 h 3418340"/>
                  <a:gd name="connsiteX1" fmla="*/ 2209800 w 2920175"/>
                  <a:gd name="connsiteY1" fmla="*/ 3418340 h 3418340"/>
                  <a:gd name="connsiteX2" fmla="*/ 1924050 w 2920175"/>
                  <a:gd name="connsiteY2" fmla="*/ 3132590 h 3418340"/>
                  <a:gd name="connsiteX3" fmla="*/ 1800225 w 2920175"/>
                  <a:gd name="connsiteY3" fmla="*/ 2361065 h 3418340"/>
                  <a:gd name="connsiteX4" fmla="*/ 1514475 w 2920175"/>
                  <a:gd name="connsiteY4" fmla="*/ 2103890 h 3418340"/>
                  <a:gd name="connsiteX5" fmla="*/ 981075 w 2920175"/>
                  <a:gd name="connsiteY5" fmla="*/ 2113415 h 3418340"/>
                  <a:gd name="connsiteX6" fmla="*/ 438150 w 2920175"/>
                  <a:gd name="connsiteY6" fmla="*/ 1789565 h 3418340"/>
                  <a:gd name="connsiteX7" fmla="*/ 0 w 2920175"/>
                  <a:gd name="connsiteY7" fmla="*/ 265565 h 3418340"/>
                  <a:gd name="connsiteX8" fmla="*/ 428625 w 2920175"/>
                  <a:gd name="connsiteY8" fmla="*/ 75065 h 3418340"/>
                  <a:gd name="connsiteX9" fmla="*/ 1752600 w 2920175"/>
                  <a:gd name="connsiteY9" fmla="*/ 875165 h 3418340"/>
                  <a:gd name="connsiteX10" fmla="*/ 1743075 w 2920175"/>
                  <a:gd name="connsiteY10" fmla="*/ 1351415 h 3418340"/>
                  <a:gd name="connsiteX11" fmla="*/ 742950 w 2920175"/>
                  <a:gd name="connsiteY11" fmla="*/ 1065665 h 3418340"/>
                  <a:gd name="connsiteX12" fmla="*/ 866775 w 2920175"/>
                  <a:gd name="connsiteY12" fmla="*/ 1503815 h 3418340"/>
                  <a:gd name="connsiteX13" fmla="*/ 1076325 w 2920175"/>
                  <a:gd name="connsiteY13" fmla="*/ 1627640 h 3418340"/>
                  <a:gd name="connsiteX14" fmla="*/ 1638300 w 2920175"/>
                  <a:gd name="connsiteY14" fmla="*/ 1637165 h 3418340"/>
                  <a:gd name="connsiteX15" fmla="*/ 2266950 w 2920175"/>
                  <a:gd name="connsiteY15" fmla="*/ 2199140 h 3418340"/>
                  <a:gd name="connsiteX16" fmla="*/ 2371725 w 2920175"/>
                  <a:gd name="connsiteY16" fmla="*/ 2903990 h 3418340"/>
                  <a:gd name="connsiteX17" fmla="*/ 2705100 w 2920175"/>
                  <a:gd name="connsiteY17" fmla="*/ 2894465 h 3418340"/>
                  <a:gd name="connsiteX18" fmla="*/ 2695575 w 2920175"/>
                  <a:gd name="connsiteY18" fmla="*/ 3361190 h 3418340"/>
                  <a:gd name="connsiteX0" fmla="*/ 2695575 w 2920175"/>
                  <a:gd name="connsiteY0" fmla="*/ 3361190 h 3418340"/>
                  <a:gd name="connsiteX1" fmla="*/ 2209800 w 2920175"/>
                  <a:gd name="connsiteY1" fmla="*/ 3418340 h 3418340"/>
                  <a:gd name="connsiteX2" fmla="*/ 1924050 w 2920175"/>
                  <a:gd name="connsiteY2" fmla="*/ 3132590 h 3418340"/>
                  <a:gd name="connsiteX3" fmla="*/ 1800225 w 2920175"/>
                  <a:gd name="connsiteY3" fmla="*/ 2361065 h 3418340"/>
                  <a:gd name="connsiteX4" fmla="*/ 1514475 w 2920175"/>
                  <a:gd name="connsiteY4" fmla="*/ 2103890 h 3418340"/>
                  <a:gd name="connsiteX5" fmla="*/ 981075 w 2920175"/>
                  <a:gd name="connsiteY5" fmla="*/ 2113415 h 3418340"/>
                  <a:gd name="connsiteX6" fmla="*/ 438150 w 2920175"/>
                  <a:gd name="connsiteY6" fmla="*/ 1789565 h 3418340"/>
                  <a:gd name="connsiteX7" fmla="*/ 0 w 2920175"/>
                  <a:gd name="connsiteY7" fmla="*/ 265565 h 3418340"/>
                  <a:gd name="connsiteX8" fmla="*/ 428625 w 2920175"/>
                  <a:gd name="connsiteY8" fmla="*/ 75065 h 3418340"/>
                  <a:gd name="connsiteX9" fmla="*/ 1752600 w 2920175"/>
                  <a:gd name="connsiteY9" fmla="*/ 875165 h 3418340"/>
                  <a:gd name="connsiteX10" fmla="*/ 1743075 w 2920175"/>
                  <a:gd name="connsiteY10" fmla="*/ 1351415 h 3418340"/>
                  <a:gd name="connsiteX11" fmla="*/ 742950 w 2920175"/>
                  <a:gd name="connsiteY11" fmla="*/ 1065665 h 3418340"/>
                  <a:gd name="connsiteX12" fmla="*/ 866775 w 2920175"/>
                  <a:gd name="connsiteY12" fmla="*/ 1503815 h 3418340"/>
                  <a:gd name="connsiteX13" fmla="*/ 1076325 w 2920175"/>
                  <a:gd name="connsiteY13" fmla="*/ 1627640 h 3418340"/>
                  <a:gd name="connsiteX14" fmla="*/ 1638300 w 2920175"/>
                  <a:gd name="connsiteY14" fmla="*/ 1637165 h 3418340"/>
                  <a:gd name="connsiteX15" fmla="*/ 2266950 w 2920175"/>
                  <a:gd name="connsiteY15" fmla="*/ 2199140 h 3418340"/>
                  <a:gd name="connsiteX16" fmla="*/ 2371725 w 2920175"/>
                  <a:gd name="connsiteY16" fmla="*/ 2903990 h 3418340"/>
                  <a:gd name="connsiteX17" fmla="*/ 2705100 w 2920175"/>
                  <a:gd name="connsiteY17" fmla="*/ 2894465 h 3418340"/>
                  <a:gd name="connsiteX18" fmla="*/ 2695575 w 2920175"/>
                  <a:gd name="connsiteY18" fmla="*/ 3361190 h 3418340"/>
                  <a:gd name="connsiteX0" fmla="*/ 2695575 w 2920175"/>
                  <a:gd name="connsiteY0" fmla="*/ 3361190 h 3418340"/>
                  <a:gd name="connsiteX1" fmla="*/ 2209800 w 2920175"/>
                  <a:gd name="connsiteY1" fmla="*/ 3418340 h 3418340"/>
                  <a:gd name="connsiteX2" fmla="*/ 1924050 w 2920175"/>
                  <a:gd name="connsiteY2" fmla="*/ 3132590 h 3418340"/>
                  <a:gd name="connsiteX3" fmla="*/ 1800225 w 2920175"/>
                  <a:gd name="connsiteY3" fmla="*/ 2361065 h 3418340"/>
                  <a:gd name="connsiteX4" fmla="*/ 1514475 w 2920175"/>
                  <a:gd name="connsiteY4" fmla="*/ 2103890 h 3418340"/>
                  <a:gd name="connsiteX5" fmla="*/ 981075 w 2920175"/>
                  <a:gd name="connsiteY5" fmla="*/ 2113415 h 3418340"/>
                  <a:gd name="connsiteX6" fmla="*/ 438150 w 2920175"/>
                  <a:gd name="connsiteY6" fmla="*/ 1789565 h 3418340"/>
                  <a:gd name="connsiteX7" fmla="*/ 0 w 2920175"/>
                  <a:gd name="connsiteY7" fmla="*/ 265565 h 3418340"/>
                  <a:gd name="connsiteX8" fmla="*/ 428625 w 2920175"/>
                  <a:gd name="connsiteY8" fmla="*/ 75065 h 3418340"/>
                  <a:gd name="connsiteX9" fmla="*/ 1752600 w 2920175"/>
                  <a:gd name="connsiteY9" fmla="*/ 875165 h 3418340"/>
                  <a:gd name="connsiteX10" fmla="*/ 1743075 w 2920175"/>
                  <a:gd name="connsiteY10" fmla="*/ 1351415 h 3418340"/>
                  <a:gd name="connsiteX11" fmla="*/ 742950 w 2920175"/>
                  <a:gd name="connsiteY11" fmla="*/ 1065665 h 3418340"/>
                  <a:gd name="connsiteX12" fmla="*/ 866775 w 2920175"/>
                  <a:gd name="connsiteY12" fmla="*/ 1503815 h 3418340"/>
                  <a:gd name="connsiteX13" fmla="*/ 1076325 w 2920175"/>
                  <a:gd name="connsiteY13" fmla="*/ 1627640 h 3418340"/>
                  <a:gd name="connsiteX14" fmla="*/ 1638300 w 2920175"/>
                  <a:gd name="connsiteY14" fmla="*/ 1637165 h 3418340"/>
                  <a:gd name="connsiteX15" fmla="*/ 2266950 w 2920175"/>
                  <a:gd name="connsiteY15" fmla="*/ 2199140 h 3418340"/>
                  <a:gd name="connsiteX16" fmla="*/ 2371725 w 2920175"/>
                  <a:gd name="connsiteY16" fmla="*/ 2903990 h 3418340"/>
                  <a:gd name="connsiteX17" fmla="*/ 2705100 w 2920175"/>
                  <a:gd name="connsiteY17" fmla="*/ 2894465 h 3418340"/>
                  <a:gd name="connsiteX18" fmla="*/ 2695575 w 2920175"/>
                  <a:gd name="connsiteY18" fmla="*/ 3361190 h 3418340"/>
                  <a:gd name="connsiteX0" fmla="*/ 2695575 w 2920175"/>
                  <a:gd name="connsiteY0" fmla="*/ 3361190 h 3418340"/>
                  <a:gd name="connsiteX1" fmla="*/ 2209800 w 2920175"/>
                  <a:gd name="connsiteY1" fmla="*/ 3418340 h 3418340"/>
                  <a:gd name="connsiteX2" fmla="*/ 1924050 w 2920175"/>
                  <a:gd name="connsiteY2" fmla="*/ 3132590 h 3418340"/>
                  <a:gd name="connsiteX3" fmla="*/ 1800225 w 2920175"/>
                  <a:gd name="connsiteY3" fmla="*/ 2361065 h 3418340"/>
                  <a:gd name="connsiteX4" fmla="*/ 1514475 w 2920175"/>
                  <a:gd name="connsiteY4" fmla="*/ 2103890 h 3418340"/>
                  <a:gd name="connsiteX5" fmla="*/ 981075 w 2920175"/>
                  <a:gd name="connsiteY5" fmla="*/ 2113415 h 3418340"/>
                  <a:gd name="connsiteX6" fmla="*/ 438150 w 2920175"/>
                  <a:gd name="connsiteY6" fmla="*/ 1789565 h 3418340"/>
                  <a:gd name="connsiteX7" fmla="*/ 0 w 2920175"/>
                  <a:gd name="connsiteY7" fmla="*/ 265565 h 3418340"/>
                  <a:gd name="connsiteX8" fmla="*/ 428625 w 2920175"/>
                  <a:gd name="connsiteY8" fmla="*/ 75065 h 3418340"/>
                  <a:gd name="connsiteX9" fmla="*/ 1752600 w 2920175"/>
                  <a:gd name="connsiteY9" fmla="*/ 875165 h 3418340"/>
                  <a:gd name="connsiteX10" fmla="*/ 1743075 w 2920175"/>
                  <a:gd name="connsiteY10" fmla="*/ 1351415 h 3418340"/>
                  <a:gd name="connsiteX11" fmla="*/ 742950 w 2920175"/>
                  <a:gd name="connsiteY11" fmla="*/ 1065665 h 3418340"/>
                  <a:gd name="connsiteX12" fmla="*/ 866775 w 2920175"/>
                  <a:gd name="connsiteY12" fmla="*/ 1503815 h 3418340"/>
                  <a:gd name="connsiteX13" fmla="*/ 1076325 w 2920175"/>
                  <a:gd name="connsiteY13" fmla="*/ 1627640 h 3418340"/>
                  <a:gd name="connsiteX14" fmla="*/ 1638300 w 2920175"/>
                  <a:gd name="connsiteY14" fmla="*/ 1637165 h 3418340"/>
                  <a:gd name="connsiteX15" fmla="*/ 2266950 w 2920175"/>
                  <a:gd name="connsiteY15" fmla="*/ 2199140 h 3418340"/>
                  <a:gd name="connsiteX16" fmla="*/ 2371725 w 2920175"/>
                  <a:gd name="connsiteY16" fmla="*/ 2903990 h 3418340"/>
                  <a:gd name="connsiteX17" fmla="*/ 2705100 w 2920175"/>
                  <a:gd name="connsiteY17" fmla="*/ 2894465 h 3418340"/>
                  <a:gd name="connsiteX18" fmla="*/ 2695575 w 2920175"/>
                  <a:gd name="connsiteY18" fmla="*/ 3361190 h 3418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920175" h="3418340">
                    <a:moveTo>
                      <a:pt x="2695575" y="3361190"/>
                    </a:moveTo>
                    <a:lnTo>
                      <a:pt x="2209800" y="3418340"/>
                    </a:lnTo>
                    <a:cubicBezTo>
                      <a:pt x="2047875" y="3408815"/>
                      <a:pt x="1933575" y="3304040"/>
                      <a:pt x="1924050" y="3132590"/>
                    </a:cubicBezTo>
                    <a:lnTo>
                      <a:pt x="1800225" y="2361065"/>
                    </a:lnTo>
                    <a:cubicBezTo>
                      <a:pt x="1769207" y="2162944"/>
                      <a:pt x="1706077" y="2077210"/>
                      <a:pt x="1514475" y="2103890"/>
                    </a:cubicBezTo>
                    <a:lnTo>
                      <a:pt x="981075" y="2113415"/>
                    </a:lnTo>
                    <a:cubicBezTo>
                      <a:pt x="771525" y="2110240"/>
                      <a:pt x="552450" y="2059440"/>
                      <a:pt x="438150" y="1789565"/>
                    </a:cubicBezTo>
                    <a:lnTo>
                      <a:pt x="0" y="265565"/>
                    </a:lnTo>
                    <a:cubicBezTo>
                      <a:pt x="19050" y="-36060"/>
                      <a:pt x="285750" y="-51935"/>
                      <a:pt x="428625" y="75065"/>
                    </a:cubicBezTo>
                    <a:cubicBezTo>
                      <a:pt x="774700" y="532265"/>
                      <a:pt x="1111250" y="875165"/>
                      <a:pt x="1752600" y="875165"/>
                    </a:cubicBezTo>
                    <a:cubicBezTo>
                      <a:pt x="2006600" y="957715"/>
                      <a:pt x="1993900" y="1278390"/>
                      <a:pt x="1743075" y="1351415"/>
                    </a:cubicBezTo>
                    <a:cubicBezTo>
                      <a:pt x="1514475" y="1351415"/>
                      <a:pt x="1123950" y="1332365"/>
                      <a:pt x="742950" y="1065665"/>
                    </a:cubicBezTo>
                    <a:lnTo>
                      <a:pt x="866775" y="1503815"/>
                    </a:lnTo>
                    <a:cubicBezTo>
                      <a:pt x="927100" y="1630815"/>
                      <a:pt x="939800" y="1614940"/>
                      <a:pt x="1076325" y="1627640"/>
                    </a:cubicBezTo>
                    <a:lnTo>
                      <a:pt x="1638300" y="1637165"/>
                    </a:lnTo>
                    <a:cubicBezTo>
                      <a:pt x="1857375" y="1653040"/>
                      <a:pt x="2171700" y="1783215"/>
                      <a:pt x="2266950" y="2199140"/>
                    </a:cubicBezTo>
                    <a:lnTo>
                      <a:pt x="2371725" y="2903990"/>
                    </a:lnTo>
                    <a:lnTo>
                      <a:pt x="2705100" y="2894465"/>
                    </a:lnTo>
                    <a:cubicBezTo>
                      <a:pt x="2930525" y="2897640"/>
                      <a:pt x="3051175" y="3281815"/>
                      <a:pt x="2695575" y="3361190"/>
                    </a:cubicBez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Oval 136"/>
              <p:cNvSpPr/>
              <p:nvPr/>
            </p:nvSpPr>
            <p:spPr>
              <a:xfrm>
                <a:off x="-4462446" y="-122166"/>
                <a:ext cx="786214" cy="786214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" name="Oval 39"/>
            <p:cNvSpPr/>
            <p:nvPr/>
          </p:nvSpPr>
          <p:spPr>
            <a:xfrm>
              <a:off x="5163931" y="2491625"/>
              <a:ext cx="212068" cy="20788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 err="1">
                <a:solidFill>
                  <a:schemeClr val="tx1"/>
                </a:solidFill>
              </a:endParaRP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5189022" y="2513365"/>
              <a:ext cx="161886" cy="139611"/>
              <a:chOff x="-5603240" y="177002"/>
              <a:chExt cx="4892040" cy="4303802"/>
            </a:xfrm>
            <a:solidFill>
              <a:schemeClr val="accent1"/>
            </a:solidFill>
          </p:grpSpPr>
          <p:sp>
            <p:nvSpPr>
              <p:cNvPr id="127" name="Rounded Rectangle 43"/>
              <p:cNvSpPr/>
              <p:nvPr/>
            </p:nvSpPr>
            <p:spPr>
              <a:xfrm>
                <a:off x="-952500" y="1630681"/>
                <a:ext cx="241300" cy="2850123"/>
              </a:xfrm>
              <a:custGeom>
                <a:avLst/>
                <a:gdLst/>
                <a:ahLst/>
                <a:cxnLst/>
                <a:rect l="l" t="t" r="r" b="b"/>
                <a:pathLst>
                  <a:path w="241300" h="2850123">
                    <a:moveTo>
                      <a:pt x="120650" y="0"/>
                    </a:moveTo>
                    <a:cubicBezTo>
                      <a:pt x="187283" y="0"/>
                      <a:pt x="241300" y="54017"/>
                      <a:pt x="241300" y="120650"/>
                    </a:cubicBezTo>
                    <a:lnTo>
                      <a:pt x="241300" y="2850123"/>
                    </a:lnTo>
                    <a:lnTo>
                      <a:pt x="0" y="2850123"/>
                    </a:lnTo>
                    <a:lnTo>
                      <a:pt x="0" y="120650"/>
                    </a:lnTo>
                    <a:cubicBezTo>
                      <a:pt x="0" y="54017"/>
                      <a:pt x="54017" y="0"/>
                      <a:pt x="120650" y="0"/>
                    </a:cubicBez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ounded Rectangle 67"/>
              <p:cNvSpPr/>
              <p:nvPr/>
            </p:nvSpPr>
            <p:spPr>
              <a:xfrm>
                <a:off x="-5603240" y="2468881"/>
                <a:ext cx="241300" cy="2011923"/>
              </a:xfrm>
              <a:custGeom>
                <a:avLst/>
                <a:gdLst/>
                <a:ahLst/>
                <a:cxnLst/>
                <a:rect l="l" t="t" r="r" b="b"/>
                <a:pathLst>
                  <a:path w="241300" h="2011923">
                    <a:moveTo>
                      <a:pt x="120650" y="0"/>
                    </a:moveTo>
                    <a:cubicBezTo>
                      <a:pt x="187283" y="0"/>
                      <a:pt x="241300" y="54017"/>
                      <a:pt x="241300" y="120650"/>
                    </a:cubicBezTo>
                    <a:lnTo>
                      <a:pt x="241300" y="2011923"/>
                    </a:lnTo>
                    <a:lnTo>
                      <a:pt x="0" y="2011923"/>
                    </a:lnTo>
                    <a:lnTo>
                      <a:pt x="0" y="120650"/>
                    </a:lnTo>
                    <a:cubicBezTo>
                      <a:pt x="0" y="54017"/>
                      <a:pt x="54017" y="0"/>
                      <a:pt x="120650" y="0"/>
                    </a:cubicBez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Rectangle 51"/>
              <p:cNvSpPr/>
              <p:nvPr/>
            </p:nvSpPr>
            <p:spPr>
              <a:xfrm>
                <a:off x="-5173980" y="3472815"/>
                <a:ext cx="4053840" cy="1007989"/>
              </a:xfrm>
              <a:custGeom>
                <a:avLst/>
                <a:gdLst/>
                <a:ahLst/>
                <a:cxnLst/>
                <a:rect l="l" t="t" r="r" b="b"/>
                <a:pathLst>
                  <a:path w="4053840" h="1007989">
                    <a:moveTo>
                      <a:pt x="0" y="0"/>
                    </a:moveTo>
                    <a:lnTo>
                      <a:pt x="4053840" y="0"/>
                    </a:lnTo>
                    <a:lnTo>
                      <a:pt x="4053840" y="1007989"/>
                    </a:lnTo>
                    <a:lnTo>
                      <a:pt x="3817620" y="1007989"/>
                    </a:lnTo>
                    <a:lnTo>
                      <a:pt x="3817620" y="237318"/>
                    </a:lnTo>
                    <a:lnTo>
                      <a:pt x="236220" y="237318"/>
                    </a:lnTo>
                    <a:lnTo>
                      <a:pt x="236220" y="1007989"/>
                    </a:lnTo>
                    <a:lnTo>
                      <a:pt x="0" y="1007989"/>
                    </a:ln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Freeform 129"/>
              <p:cNvSpPr/>
              <p:nvPr/>
            </p:nvSpPr>
            <p:spPr>
              <a:xfrm>
                <a:off x="-5168950" y="1974590"/>
                <a:ext cx="4038650" cy="1314709"/>
              </a:xfrm>
              <a:custGeom>
                <a:avLst/>
                <a:gdLst>
                  <a:gd name="connsiteX0" fmla="*/ 4038600 w 4038600"/>
                  <a:gd name="connsiteY0" fmla="*/ 19050 h 1276350"/>
                  <a:gd name="connsiteX1" fmla="*/ 4038600 w 4038600"/>
                  <a:gd name="connsiteY1" fmla="*/ 1276350 h 1276350"/>
                  <a:gd name="connsiteX2" fmla="*/ 0 w 4038600"/>
                  <a:gd name="connsiteY2" fmla="*/ 1276350 h 1276350"/>
                  <a:gd name="connsiteX3" fmla="*/ 0 w 4038600"/>
                  <a:gd name="connsiteY3" fmla="*/ 838200 h 1276350"/>
                  <a:gd name="connsiteX4" fmla="*/ 400050 w 4038600"/>
                  <a:gd name="connsiteY4" fmla="*/ 412750 h 1276350"/>
                  <a:gd name="connsiteX5" fmla="*/ 1539875 w 4038600"/>
                  <a:gd name="connsiteY5" fmla="*/ 412750 h 1276350"/>
                  <a:gd name="connsiteX6" fmla="*/ 1539875 w 4038600"/>
                  <a:gd name="connsiteY6" fmla="*/ 904875 h 1276350"/>
                  <a:gd name="connsiteX7" fmla="*/ 1698625 w 4038600"/>
                  <a:gd name="connsiteY7" fmla="*/ 904875 h 1276350"/>
                  <a:gd name="connsiteX8" fmla="*/ 1698625 w 4038600"/>
                  <a:gd name="connsiteY8" fmla="*/ 409575 h 1276350"/>
                  <a:gd name="connsiteX9" fmla="*/ 1844675 w 4038600"/>
                  <a:gd name="connsiteY9" fmla="*/ 409575 h 1276350"/>
                  <a:gd name="connsiteX10" fmla="*/ 1844675 w 4038600"/>
                  <a:gd name="connsiteY10" fmla="*/ 901700 h 1276350"/>
                  <a:gd name="connsiteX11" fmla="*/ 2994025 w 4038600"/>
                  <a:gd name="connsiteY11" fmla="*/ 901700 h 1276350"/>
                  <a:gd name="connsiteX12" fmla="*/ 3895725 w 4038600"/>
                  <a:gd name="connsiteY12" fmla="*/ 0 h 1276350"/>
                  <a:gd name="connsiteX13" fmla="*/ 4038600 w 4038600"/>
                  <a:gd name="connsiteY13" fmla="*/ 19050 h 1276350"/>
                  <a:gd name="connsiteX0" fmla="*/ 4038600 w 4038600"/>
                  <a:gd name="connsiteY0" fmla="*/ 49742 h 1307042"/>
                  <a:gd name="connsiteX1" fmla="*/ 4038600 w 4038600"/>
                  <a:gd name="connsiteY1" fmla="*/ 1307042 h 1307042"/>
                  <a:gd name="connsiteX2" fmla="*/ 0 w 4038600"/>
                  <a:gd name="connsiteY2" fmla="*/ 1307042 h 1307042"/>
                  <a:gd name="connsiteX3" fmla="*/ 0 w 4038600"/>
                  <a:gd name="connsiteY3" fmla="*/ 868892 h 1307042"/>
                  <a:gd name="connsiteX4" fmla="*/ 400050 w 4038600"/>
                  <a:gd name="connsiteY4" fmla="*/ 443442 h 1307042"/>
                  <a:gd name="connsiteX5" fmla="*/ 1539875 w 4038600"/>
                  <a:gd name="connsiteY5" fmla="*/ 443442 h 1307042"/>
                  <a:gd name="connsiteX6" fmla="*/ 1539875 w 4038600"/>
                  <a:gd name="connsiteY6" fmla="*/ 935567 h 1307042"/>
                  <a:gd name="connsiteX7" fmla="*/ 1698625 w 4038600"/>
                  <a:gd name="connsiteY7" fmla="*/ 935567 h 1307042"/>
                  <a:gd name="connsiteX8" fmla="*/ 1698625 w 4038600"/>
                  <a:gd name="connsiteY8" fmla="*/ 440267 h 1307042"/>
                  <a:gd name="connsiteX9" fmla="*/ 1844675 w 4038600"/>
                  <a:gd name="connsiteY9" fmla="*/ 440267 h 1307042"/>
                  <a:gd name="connsiteX10" fmla="*/ 1844675 w 4038600"/>
                  <a:gd name="connsiteY10" fmla="*/ 932392 h 1307042"/>
                  <a:gd name="connsiteX11" fmla="*/ 2994025 w 4038600"/>
                  <a:gd name="connsiteY11" fmla="*/ 932392 h 1307042"/>
                  <a:gd name="connsiteX12" fmla="*/ 3895725 w 4038600"/>
                  <a:gd name="connsiteY12" fmla="*/ 30692 h 1307042"/>
                  <a:gd name="connsiteX13" fmla="*/ 4038600 w 4038600"/>
                  <a:gd name="connsiteY13" fmla="*/ 49742 h 1307042"/>
                  <a:gd name="connsiteX0" fmla="*/ 4038600 w 4038600"/>
                  <a:gd name="connsiteY0" fmla="*/ 57409 h 1314709"/>
                  <a:gd name="connsiteX1" fmla="*/ 4038600 w 4038600"/>
                  <a:gd name="connsiteY1" fmla="*/ 1314709 h 1314709"/>
                  <a:gd name="connsiteX2" fmla="*/ 0 w 4038600"/>
                  <a:gd name="connsiteY2" fmla="*/ 1314709 h 1314709"/>
                  <a:gd name="connsiteX3" fmla="*/ 0 w 4038600"/>
                  <a:gd name="connsiteY3" fmla="*/ 876559 h 1314709"/>
                  <a:gd name="connsiteX4" fmla="*/ 400050 w 4038600"/>
                  <a:gd name="connsiteY4" fmla="*/ 451109 h 1314709"/>
                  <a:gd name="connsiteX5" fmla="*/ 1539875 w 4038600"/>
                  <a:gd name="connsiteY5" fmla="*/ 451109 h 1314709"/>
                  <a:gd name="connsiteX6" fmla="*/ 1539875 w 4038600"/>
                  <a:gd name="connsiteY6" fmla="*/ 943234 h 1314709"/>
                  <a:gd name="connsiteX7" fmla="*/ 1698625 w 4038600"/>
                  <a:gd name="connsiteY7" fmla="*/ 943234 h 1314709"/>
                  <a:gd name="connsiteX8" fmla="*/ 1698625 w 4038600"/>
                  <a:gd name="connsiteY8" fmla="*/ 447934 h 1314709"/>
                  <a:gd name="connsiteX9" fmla="*/ 1844675 w 4038600"/>
                  <a:gd name="connsiteY9" fmla="*/ 447934 h 1314709"/>
                  <a:gd name="connsiteX10" fmla="*/ 1844675 w 4038600"/>
                  <a:gd name="connsiteY10" fmla="*/ 940059 h 1314709"/>
                  <a:gd name="connsiteX11" fmla="*/ 2994025 w 4038600"/>
                  <a:gd name="connsiteY11" fmla="*/ 940059 h 1314709"/>
                  <a:gd name="connsiteX12" fmla="*/ 3895725 w 4038600"/>
                  <a:gd name="connsiteY12" fmla="*/ 38359 h 1314709"/>
                  <a:gd name="connsiteX13" fmla="*/ 4038600 w 4038600"/>
                  <a:gd name="connsiteY13" fmla="*/ 57409 h 1314709"/>
                  <a:gd name="connsiteX0" fmla="*/ 4038600 w 4038600"/>
                  <a:gd name="connsiteY0" fmla="*/ 57409 h 1314709"/>
                  <a:gd name="connsiteX1" fmla="*/ 4038600 w 4038600"/>
                  <a:gd name="connsiteY1" fmla="*/ 1314709 h 1314709"/>
                  <a:gd name="connsiteX2" fmla="*/ 0 w 4038600"/>
                  <a:gd name="connsiteY2" fmla="*/ 1314709 h 1314709"/>
                  <a:gd name="connsiteX3" fmla="*/ 0 w 4038600"/>
                  <a:gd name="connsiteY3" fmla="*/ 876559 h 1314709"/>
                  <a:gd name="connsiteX4" fmla="*/ 400050 w 4038600"/>
                  <a:gd name="connsiteY4" fmla="*/ 451109 h 1314709"/>
                  <a:gd name="connsiteX5" fmla="*/ 1539875 w 4038600"/>
                  <a:gd name="connsiteY5" fmla="*/ 451109 h 1314709"/>
                  <a:gd name="connsiteX6" fmla="*/ 1539875 w 4038600"/>
                  <a:gd name="connsiteY6" fmla="*/ 943234 h 1314709"/>
                  <a:gd name="connsiteX7" fmla="*/ 1698625 w 4038600"/>
                  <a:gd name="connsiteY7" fmla="*/ 943234 h 1314709"/>
                  <a:gd name="connsiteX8" fmla="*/ 1698625 w 4038600"/>
                  <a:gd name="connsiteY8" fmla="*/ 447934 h 1314709"/>
                  <a:gd name="connsiteX9" fmla="*/ 1844675 w 4038600"/>
                  <a:gd name="connsiteY9" fmla="*/ 447934 h 1314709"/>
                  <a:gd name="connsiteX10" fmla="*/ 1844675 w 4038600"/>
                  <a:gd name="connsiteY10" fmla="*/ 940059 h 1314709"/>
                  <a:gd name="connsiteX11" fmla="*/ 2994025 w 4038600"/>
                  <a:gd name="connsiteY11" fmla="*/ 940059 h 1314709"/>
                  <a:gd name="connsiteX12" fmla="*/ 3895725 w 4038600"/>
                  <a:gd name="connsiteY12" fmla="*/ 38359 h 1314709"/>
                  <a:gd name="connsiteX13" fmla="*/ 4038600 w 4038600"/>
                  <a:gd name="connsiteY13" fmla="*/ 57409 h 1314709"/>
                  <a:gd name="connsiteX0" fmla="*/ 4038650 w 4038650"/>
                  <a:gd name="connsiteY0" fmla="*/ 57409 h 1314709"/>
                  <a:gd name="connsiteX1" fmla="*/ 4038650 w 4038650"/>
                  <a:gd name="connsiteY1" fmla="*/ 1314709 h 1314709"/>
                  <a:gd name="connsiteX2" fmla="*/ 50 w 4038650"/>
                  <a:gd name="connsiteY2" fmla="*/ 1314709 h 1314709"/>
                  <a:gd name="connsiteX3" fmla="*/ 50 w 4038650"/>
                  <a:gd name="connsiteY3" fmla="*/ 876559 h 1314709"/>
                  <a:gd name="connsiteX4" fmla="*/ 400100 w 4038650"/>
                  <a:gd name="connsiteY4" fmla="*/ 451109 h 1314709"/>
                  <a:gd name="connsiteX5" fmla="*/ 1539925 w 4038650"/>
                  <a:gd name="connsiteY5" fmla="*/ 451109 h 1314709"/>
                  <a:gd name="connsiteX6" fmla="*/ 1539925 w 4038650"/>
                  <a:gd name="connsiteY6" fmla="*/ 943234 h 1314709"/>
                  <a:gd name="connsiteX7" fmla="*/ 1698675 w 4038650"/>
                  <a:gd name="connsiteY7" fmla="*/ 943234 h 1314709"/>
                  <a:gd name="connsiteX8" fmla="*/ 1698675 w 4038650"/>
                  <a:gd name="connsiteY8" fmla="*/ 447934 h 1314709"/>
                  <a:gd name="connsiteX9" fmla="*/ 1844725 w 4038650"/>
                  <a:gd name="connsiteY9" fmla="*/ 447934 h 1314709"/>
                  <a:gd name="connsiteX10" fmla="*/ 1844725 w 4038650"/>
                  <a:gd name="connsiteY10" fmla="*/ 940059 h 1314709"/>
                  <a:gd name="connsiteX11" fmla="*/ 2994075 w 4038650"/>
                  <a:gd name="connsiteY11" fmla="*/ 940059 h 1314709"/>
                  <a:gd name="connsiteX12" fmla="*/ 3895775 w 4038650"/>
                  <a:gd name="connsiteY12" fmla="*/ 38359 h 1314709"/>
                  <a:gd name="connsiteX13" fmla="*/ 4038650 w 4038650"/>
                  <a:gd name="connsiteY13" fmla="*/ 57409 h 1314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38650" h="1314709">
                    <a:moveTo>
                      <a:pt x="4038650" y="57409"/>
                    </a:moveTo>
                    <a:lnTo>
                      <a:pt x="4038650" y="1314709"/>
                    </a:lnTo>
                    <a:lnTo>
                      <a:pt x="50" y="1314709"/>
                    </a:lnTo>
                    <a:lnTo>
                      <a:pt x="50" y="876559"/>
                    </a:lnTo>
                    <a:cubicBezTo>
                      <a:pt x="-3125" y="652192"/>
                      <a:pt x="142925" y="453226"/>
                      <a:pt x="400100" y="451109"/>
                    </a:cubicBezTo>
                    <a:lnTo>
                      <a:pt x="1539925" y="451109"/>
                    </a:lnTo>
                    <a:lnTo>
                      <a:pt x="1539925" y="943234"/>
                    </a:lnTo>
                    <a:lnTo>
                      <a:pt x="1698675" y="943234"/>
                    </a:lnTo>
                    <a:lnTo>
                      <a:pt x="1698675" y="447934"/>
                    </a:lnTo>
                    <a:lnTo>
                      <a:pt x="1844725" y="447934"/>
                    </a:lnTo>
                    <a:lnTo>
                      <a:pt x="1844725" y="940059"/>
                    </a:lnTo>
                    <a:lnTo>
                      <a:pt x="2994075" y="940059"/>
                    </a:lnTo>
                    <a:lnTo>
                      <a:pt x="3895775" y="38359"/>
                    </a:lnTo>
                    <a:cubicBezTo>
                      <a:pt x="3962450" y="-37841"/>
                      <a:pt x="4035475" y="16134"/>
                      <a:pt x="4038650" y="57409"/>
                    </a:cubicBez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Freeform 130"/>
              <p:cNvSpPr/>
              <p:nvPr/>
            </p:nvSpPr>
            <p:spPr>
              <a:xfrm>
                <a:off x="-3476625" y="177002"/>
                <a:ext cx="558800" cy="2093123"/>
              </a:xfrm>
              <a:custGeom>
                <a:avLst/>
                <a:gdLst>
                  <a:gd name="connsiteX0" fmla="*/ 0 w 558800"/>
                  <a:gd name="connsiteY0" fmla="*/ 1819275 h 1819275"/>
                  <a:gd name="connsiteX1" fmla="*/ 155575 w 558800"/>
                  <a:gd name="connsiteY1" fmla="*/ 1819275 h 1819275"/>
                  <a:gd name="connsiteX2" fmla="*/ 155575 w 558800"/>
                  <a:gd name="connsiteY2" fmla="*/ 0 h 1819275"/>
                  <a:gd name="connsiteX3" fmla="*/ 409575 w 558800"/>
                  <a:gd name="connsiteY3" fmla="*/ 0 h 1819275"/>
                  <a:gd name="connsiteX4" fmla="*/ 558800 w 558800"/>
                  <a:gd name="connsiteY4" fmla="*/ 0 h 1819275"/>
                  <a:gd name="connsiteX5" fmla="*/ 3175 w 558800"/>
                  <a:gd name="connsiteY5" fmla="*/ 0 h 1819275"/>
                  <a:gd name="connsiteX6" fmla="*/ 0 w 558800"/>
                  <a:gd name="connsiteY6" fmla="*/ 1819275 h 1819275"/>
                  <a:gd name="connsiteX0" fmla="*/ 0 w 558800"/>
                  <a:gd name="connsiteY0" fmla="*/ 1980141 h 1980141"/>
                  <a:gd name="connsiteX1" fmla="*/ 155575 w 558800"/>
                  <a:gd name="connsiteY1" fmla="*/ 1980141 h 1980141"/>
                  <a:gd name="connsiteX2" fmla="*/ 155575 w 558800"/>
                  <a:gd name="connsiteY2" fmla="*/ 160866 h 1980141"/>
                  <a:gd name="connsiteX3" fmla="*/ 409575 w 558800"/>
                  <a:gd name="connsiteY3" fmla="*/ 160866 h 1980141"/>
                  <a:gd name="connsiteX4" fmla="*/ 558800 w 558800"/>
                  <a:gd name="connsiteY4" fmla="*/ 160866 h 1980141"/>
                  <a:gd name="connsiteX5" fmla="*/ 3175 w 558800"/>
                  <a:gd name="connsiteY5" fmla="*/ 160866 h 1980141"/>
                  <a:gd name="connsiteX6" fmla="*/ 0 w 558800"/>
                  <a:gd name="connsiteY6" fmla="*/ 1980141 h 1980141"/>
                  <a:gd name="connsiteX0" fmla="*/ 0 w 558800"/>
                  <a:gd name="connsiteY0" fmla="*/ 2093123 h 2093123"/>
                  <a:gd name="connsiteX1" fmla="*/ 155575 w 558800"/>
                  <a:gd name="connsiteY1" fmla="*/ 2093123 h 2093123"/>
                  <a:gd name="connsiteX2" fmla="*/ 155575 w 558800"/>
                  <a:gd name="connsiteY2" fmla="*/ 273848 h 2093123"/>
                  <a:gd name="connsiteX3" fmla="*/ 409575 w 558800"/>
                  <a:gd name="connsiteY3" fmla="*/ 273848 h 2093123"/>
                  <a:gd name="connsiteX4" fmla="*/ 558800 w 558800"/>
                  <a:gd name="connsiteY4" fmla="*/ 273848 h 2093123"/>
                  <a:gd name="connsiteX5" fmla="*/ 3175 w 558800"/>
                  <a:gd name="connsiteY5" fmla="*/ 273848 h 2093123"/>
                  <a:gd name="connsiteX6" fmla="*/ 0 w 558800"/>
                  <a:gd name="connsiteY6" fmla="*/ 2093123 h 2093123"/>
                  <a:gd name="connsiteX0" fmla="*/ 0 w 558800"/>
                  <a:gd name="connsiteY0" fmla="*/ 2093123 h 2093123"/>
                  <a:gd name="connsiteX1" fmla="*/ 155575 w 558800"/>
                  <a:gd name="connsiteY1" fmla="*/ 2093123 h 2093123"/>
                  <a:gd name="connsiteX2" fmla="*/ 155575 w 558800"/>
                  <a:gd name="connsiteY2" fmla="*/ 273848 h 2093123"/>
                  <a:gd name="connsiteX3" fmla="*/ 409575 w 558800"/>
                  <a:gd name="connsiteY3" fmla="*/ 273848 h 2093123"/>
                  <a:gd name="connsiteX4" fmla="*/ 558800 w 558800"/>
                  <a:gd name="connsiteY4" fmla="*/ 273848 h 2093123"/>
                  <a:gd name="connsiteX5" fmla="*/ 3175 w 558800"/>
                  <a:gd name="connsiteY5" fmla="*/ 273848 h 2093123"/>
                  <a:gd name="connsiteX6" fmla="*/ 0 w 558800"/>
                  <a:gd name="connsiteY6" fmla="*/ 2093123 h 2093123"/>
                  <a:gd name="connsiteX0" fmla="*/ 0 w 558800"/>
                  <a:gd name="connsiteY0" fmla="*/ 2093123 h 2093123"/>
                  <a:gd name="connsiteX1" fmla="*/ 155575 w 558800"/>
                  <a:gd name="connsiteY1" fmla="*/ 2093123 h 2093123"/>
                  <a:gd name="connsiteX2" fmla="*/ 155575 w 558800"/>
                  <a:gd name="connsiteY2" fmla="*/ 273848 h 2093123"/>
                  <a:gd name="connsiteX3" fmla="*/ 409575 w 558800"/>
                  <a:gd name="connsiteY3" fmla="*/ 273848 h 2093123"/>
                  <a:gd name="connsiteX4" fmla="*/ 558800 w 558800"/>
                  <a:gd name="connsiteY4" fmla="*/ 273848 h 2093123"/>
                  <a:gd name="connsiteX5" fmla="*/ 3175 w 558800"/>
                  <a:gd name="connsiteY5" fmla="*/ 273848 h 2093123"/>
                  <a:gd name="connsiteX6" fmla="*/ 0 w 558800"/>
                  <a:gd name="connsiteY6" fmla="*/ 2093123 h 2093123"/>
                  <a:gd name="connsiteX0" fmla="*/ 0 w 558800"/>
                  <a:gd name="connsiteY0" fmla="*/ 2093123 h 2093123"/>
                  <a:gd name="connsiteX1" fmla="*/ 155575 w 558800"/>
                  <a:gd name="connsiteY1" fmla="*/ 2093123 h 2093123"/>
                  <a:gd name="connsiteX2" fmla="*/ 155575 w 558800"/>
                  <a:gd name="connsiteY2" fmla="*/ 273848 h 2093123"/>
                  <a:gd name="connsiteX3" fmla="*/ 409575 w 558800"/>
                  <a:gd name="connsiteY3" fmla="*/ 273848 h 2093123"/>
                  <a:gd name="connsiteX4" fmla="*/ 558800 w 558800"/>
                  <a:gd name="connsiteY4" fmla="*/ 273848 h 2093123"/>
                  <a:gd name="connsiteX5" fmla="*/ 3175 w 558800"/>
                  <a:gd name="connsiteY5" fmla="*/ 273848 h 2093123"/>
                  <a:gd name="connsiteX6" fmla="*/ 0 w 558800"/>
                  <a:gd name="connsiteY6" fmla="*/ 2093123 h 2093123"/>
                  <a:gd name="connsiteX0" fmla="*/ 0 w 558800"/>
                  <a:gd name="connsiteY0" fmla="*/ 2093123 h 2093123"/>
                  <a:gd name="connsiteX1" fmla="*/ 155575 w 558800"/>
                  <a:gd name="connsiteY1" fmla="*/ 2093123 h 2093123"/>
                  <a:gd name="connsiteX2" fmla="*/ 155575 w 558800"/>
                  <a:gd name="connsiteY2" fmla="*/ 273848 h 2093123"/>
                  <a:gd name="connsiteX3" fmla="*/ 409575 w 558800"/>
                  <a:gd name="connsiteY3" fmla="*/ 273848 h 2093123"/>
                  <a:gd name="connsiteX4" fmla="*/ 558800 w 558800"/>
                  <a:gd name="connsiteY4" fmla="*/ 273848 h 2093123"/>
                  <a:gd name="connsiteX5" fmla="*/ 3175 w 558800"/>
                  <a:gd name="connsiteY5" fmla="*/ 273848 h 2093123"/>
                  <a:gd name="connsiteX6" fmla="*/ 0 w 558800"/>
                  <a:gd name="connsiteY6" fmla="*/ 2093123 h 2093123"/>
                  <a:gd name="connsiteX0" fmla="*/ 0 w 558800"/>
                  <a:gd name="connsiteY0" fmla="*/ 2093123 h 2093123"/>
                  <a:gd name="connsiteX1" fmla="*/ 155575 w 558800"/>
                  <a:gd name="connsiteY1" fmla="*/ 2093123 h 2093123"/>
                  <a:gd name="connsiteX2" fmla="*/ 155575 w 558800"/>
                  <a:gd name="connsiteY2" fmla="*/ 273848 h 2093123"/>
                  <a:gd name="connsiteX3" fmla="*/ 409575 w 558800"/>
                  <a:gd name="connsiteY3" fmla="*/ 273848 h 2093123"/>
                  <a:gd name="connsiteX4" fmla="*/ 558800 w 558800"/>
                  <a:gd name="connsiteY4" fmla="*/ 273848 h 2093123"/>
                  <a:gd name="connsiteX5" fmla="*/ 3175 w 558800"/>
                  <a:gd name="connsiteY5" fmla="*/ 273848 h 2093123"/>
                  <a:gd name="connsiteX6" fmla="*/ 0 w 558800"/>
                  <a:gd name="connsiteY6" fmla="*/ 2093123 h 2093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8800" h="2093123">
                    <a:moveTo>
                      <a:pt x="0" y="2093123"/>
                    </a:moveTo>
                    <a:lnTo>
                      <a:pt x="155575" y="2093123"/>
                    </a:lnTo>
                    <a:lnTo>
                      <a:pt x="155575" y="273848"/>
                    </a:lnTo>
                    <a:cubicBezTo>
                      <a:pt x="183092" y="108748"/>
                      <a:pt x="394758" y="127798"/>
                      <a:pt x="409575" y="273848"/>
                    </a:cubicBezTo>
                    <a:lnTo>
                      <a:pt x="558800" y="273848"/>
                    </a:lnTo>
                    <a:cubicBezTo>
                      <a:pt x="516467" y="-94452"/>
                      <a:pt x="39158" y="-88102"/>
                      <a:pt x="3175" y="273848"/>
                    </a:cubicBezTo>
                    <a:cubicBezTo>
                      <a:pt x="2117" y="880273"/>
                      <a:pt x="1058" y="1486698"/>
                      <a:pt x="0" y="2093123"/>
                    </a:cubicBez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Rectangle 131"/>
              <p:cNvSpPr/>
              <p:nvPr/>
            </p:nvSpPr>
            <p:spPr>
              <a:xfrm>
                <a:off x="-3228975" y="561975"/>
                <a:ext cx="568325" cy="733425"/>
              </a:xfrm>
              <a:prstGeom prst="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-1860399" y="946301"/>
                <a:ext cx="742648" cy="742648"/>
              </a:xfrm>
              <a:prstGeom prst="ellips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Freeform 133"/>
              <p:cNvSpPr/>
              <p:nvPr/>
            </p:nvSpPr>
            <p:spPr>
              <a:xfrm>
                <a:off x="-3175001" y="1282700"/>
                <a:ext cx="1781175" cy="1479550"/>
              </a:xfrm>
              <a:custGeom>
                <a:avLst/>
                <a:gdLst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781175 w 1781175"/>
                  <a:gd name="connsiteY9" fmla="*/ 631825 h 1479550"/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781175 w 1781175"/>
                  <a:gd name="connsiteY9" fmla="*/ 631825 h 1479550"/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781175 w 1781175"/>
                  <a:gd name="connsiteY9" fmla="*/ 631825 h 1479550"/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781175 w 1781175"/>
                  <a:gd name="connsiteY9" fmla="*/ 631825 h 1479550"/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781175 w 1781175"/>
                  <a:gd name="connsiteY9" fmla="*/ 631825 h 1479550"/>
                  <a:gd name="connsiteX0" fmla="*/ 1781175 w 1784237"/>
                  <a:gd name="connsiteY0" fmla="*/ 631825 h 1479550"/>
                  <a:gd name="connsiteX1" fmla="*/ 933450 w 1784237"/>
                  <a:gd name="connsiteY1" fmla="*/ 1479550 h 1479550"/>
                  <a:gd name="connsiteX2" fmla="*/ 0 w 1784237"/>
                  <a:gd name="connsiteY2" fmla="*/ 1479550 h 1479550"/>
                  <a:gd name="connsiteX3" fmla="*/ 0 w 1784237"/>
                  <a:gd name="connsiteY3" fmla="*/ 1136650 h 1479550"/>
                  <a:gd name="connsiteX4" fmla="*/ 403225 w 1784237"/>
                  <a:gd name="connsiteY4" fmla="*/ 1136650 h 1479550"/>
                  <a:gd name="connsiteX5" fmla="*/ 120650 w 1784237"/>
                  <a:gd name="connsiteY5" fmla="*/ 0 h 1479550"/>
                  <a:gd name="connsiteX6" fmla="*/ 231775 w 1784237"/>
                  <a:gd name="connsiteY6" fmla="*/ 0 h 1479550"/>
                  <a:gd name="connsiteX7" fmla="*/ 514350 w 1784237"/>
                  <a:gd name="connsiteY7" fmla="*/ 1133475 h 1479550"/>
                  <a:gd name="connsiteX8" fmla="*/ 625475 w 1784237"/>
                  <a:gd name="connsiteY8" fmla="*/ 1133475 h 1479550"/>
                  <a:gd name="connsiteX9" fmla="*/ 1149350 w 1784237"/>
                  <a:gd name="connsiteY9" fmla="*/ 615950 h 1479550"/>
                  <a:gd name="connsiteX10" fmla="*/ 1781175 w 1784237"/>
                  <a:gd name="connsiteY10" fmla="*/ 631825 h 1479550"/>
                  <a:gd name="connsiteX0" fmla="*/ 1781175 w 1784237"/>
                  <a:gd name="connsiteY0" fmla="*/ 631825 h 1479550"/>
                  <a:gd name="connsiteX1" fmla="*/ 933450 w 1784237"/>
                  <a:gd name="connsiteY1" fmla="*/ 1479550 h 1479550"/>
                  <a:gd name="connsiteX2" fmla="*/ 0 w 1784237"/>
                  <a:gd name="connsiteY2" fmla="*/ 1479550 h 1479550"/>
                  <a:gd name="connsiteX3" fmla="*/ 0 w 1784237"/>
                  <a:gd name="connsiteY3" fmla="*/ 1136650 h 1479550"/>
                  <a:gd name="connsiteX4" fmla="*/ 403225 w 1784237"/>
                  <a:gd name="connsiteY4" fmla="*/ 1136650 h 1479550"/>
                  <a:gd name="connsiteX5" fmla="*/ 120650 w 1784237"/>
                  <a:gd name="connsiteY5" fmla="*/ 0 h 1479550"/>
                  <a:gd name="connsiteX6" fmla="*/ 231775 w 1784237"/>
                  <a:gd name="connsiteY6" fmla="*/ 0 h 1479550"/>
                  <a:gd name="connsiteX7" fmla="*/ 514350 w 1784237"/>
                  <a:gd name="connsiteY7" fmla="*/ 1133475 h 1479550"/>
                  <a:gd name="connsiteX8" fmla="*/ 625475 w 1784237"/>
                  <a:gd name="connsiteY8" fmla="*/ 1133475 h 1479550"/>
                  <a:gd name="connsiteX9" fmla="*/ 1149350 w 1784237"/>
                  <a:gd name="connsiteY9" fmla="*/ 615950 h 1479550"/>
                  <a:gd name="connsiteX10" fmla="*/ 1781175 w 1784237"/>
                  <a:gd name="connsiteY10" fmla="*/ 631825 h 1479550"/>
                  <a:gd name="connsiteX0" fmla="*/ 1781175 w 1783756"/>
                  <a:gd name="connsiteY0" fmla="*/ 631825 h 1479550"/>
                  <a:gd name="connsiteX1" fmla="*/ 933450 w 1783756"/>
                  <a:gd name="connsiteY1" fmla="*/ 1479550 h 1479550"/>
                  <a:gd name="connsiteX2" fmla="*/ 0 w 1783756"/>
                  <a:gd name="connsiteY2" fmla="*/ 1479550 h 1479550"/>
                  <a:gd name="connsiteX3" fmla="*/ 0 w 1783756"/>
                  <a:gd name="connsiteY3" fmla="*/ 1136650 h 1479550"/>
                  <a:gd name="connsiteX4" fmla="*/ 403225 w 1783756"/>
                  <a:gd name="connsiteY4" fmla="*/ 1136650 h 1479550"/>
                  <a:gd name="connsiteX5" fmla="*/ 120650 w 1783756"/>
                  <a:gd name="connsiteY5" fmla="*/ 0 h 1479550"/>
                  <a:gd name="connsiteX6" fmla="*/ 231775 w 1783756"/>
                  <a:gd name="connsiteY6" fmla="*/ 0 h 1479550"/>
                  <a:gd name="connsiteX7" fmla="*/ 514350 w 1783756"/>
                  <a:gd name="connsiteY7" fmla="*/ 1133475 h 1479550"/>
                  <a:gd name="connsiteX8" fmla="*/ 625475 w 1783756"/>
                  <a:gd name="connsiteY8" fmla="*/ 1133475 h 1479550"/>
                  <a:gd name="connsiteX9" fmla="*/ 1149350 w 1783756"/>
                  <a:gd name="connsiteY9" fmla="*/ 615950 h 1479550"/>
                  <a:gd name="connsiteX10" fmla="*/ 1781175 w 1783756"/>
                  <a:gd name="connsiteY10" fmla="*/ 631825 h 1479550"/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149350 w 1781175"/>
                  <a:gd name="connsiteY9" fmla="*/ 615950 h 1479550"/>
                  <a:gd name="connsiteX10" fmla="*/ 1781175 w 1781175"/>
                  <a:gd name="connsiteY10" fmla="*/ 631825 h 1479550"/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149350 w 1781175"/>
                  <a:gd name="connsiteY9" fmla="*/ 615950 h 1479550"/>
                  <a:gd name="connsiteX10" fmla="*/ 1781175 w 1781175"/>
                  <a:gd name="connsiteY10" fmla="*/ 631825 h 1479550"/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149350 w 1781175"/>
                  <a:gd name="connsiteY9" fmla="*/ 615950 h 1479550"/>
                  <a:gd name="connsiteX10" fmla="*/ 1781175 w 1781175"/>
                  <a:gd name="connsiteY10" fmla="*/ 631825 h 1479550"/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149350 w 1781175"/>
                  <a:gd name="connsiteY9" fmla="*/ 615950 h 1479550"/>
                  <a:gd name="connsiteX10" fmla="*/ 1781175 w 1781175"/>
                  <a:gd name="connsiteY10" fmla="*/ 631825 h 1479550"/>
                  <a:gd name="connsiteX0" fmla="*/ 1781175 w 1781175"/>
                  <a:gd name="connsiteY0" fmla="*/ 631825 h 1479550"/>
                  <a:gd name="connsiteX1" fmla="*/ 933450 w 1781175"/>
                  <a:gd name="connsiteY1" fmla="*/ 1479550 h 1479550"/>
                  <a:gd name="connsiteX2" fmla="*/ 0 w 1781175"/>
                  <a:gd name="connsiteY2" fmla="*/ 1479550 h 1479550"/>
                  <a:gd name="connsiteX3" fmla="*/ 0 w 1781175"/>
                  <a:gd name="connsiteY3" fmla="*/ 1136650 h 1479550"/>
                  <a:gd name="connsiteX4" fmla="*/ 403225 w 1781175"/>
                  <a:gd name="connsiteY4" fmla="*/ 1136650 h 1479550"/>
                  <a:gd name="connsiteX5" fmla="*/ 120650 w 1781175"/>
                  <a:gd name="connsiteY5" fmla="*/ 0 h 1479550"/>
                  <a:gd name="connsiteX6" fmla="*/ 231775 w 1781175"/>
                  <a:gd name="connsiteY6" fmla="*/ 0 h 1479550"/>
                  <a:gd name="connsiteX7" fmla="*/ 514350 w 1781175"/>
                  <a:gd name="connsiteY7" fmla="*/ 1133475 h 1479550"/>
                  <a:gd name="connsiteX8" fmla="*/ 625475 w 1781175"/>
                  <a:gd name="connsiteY8" fmla="*/ 1133475 h 1479550"/>
                  <a:gd name="connsiteX9" fmla="*/ 1149350 w 1781175"/>
                  <a:gd name="connsiteY9" fmla="*/ 615950 h 1479550"/>
                  <a:gd name="connsiteX10" fmla="*/ 1781175 w 1781175"/>
                  <a:gd name="connsiteY10" fmla="*/ 631825 h 147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81175" h="1479550">
                    <a:moveTo>
                      <a:pt x="1781175" y="631825"/>
                    </a:moveTo>
                    <a:lnTo>
                      <a:pt x="933450" y="1479550"/>
                    </a:lnTo>
                    <a:lnTo>
                      <a:pt x="0" y="1479550"/>
                    </a:lnTo>
                    <a:lnTo>
                      <a:pt x="0" y="1136650"/>
                    </a:lnTo>
                    <a:lnTo>
                      <a:pt x="403225" y="1136650"/>
                    </a:lnTo>
                    <a:cubicBezTo>
                      <a:pt x="385233" y="735542"/>
                      <a:pt x="132292" y="674158"/>
                      <a:pt x="120650" y="0"/>
                    </a:cubicBezTo>
                    <a:lnTo>
                      <a:pt x="231775" y="0"/>
                    </a:lnTo>
                    <a:cubicBezTo>
                      <a:pt x="246592" y="622300"/>
                      <a:pt x="486833" y="708025"/>
                      <a:pt x="514350" y="1133475"/>
                    </a:cubicBezTo>
                    <a:lnTo>
                      <a:pt x="625475" y="1133475"/>
                    </a:lnTo>
                    <a:lnTo>
                      <a:pt x="1149350" y="615950"/>
                    </a:lnTo>
                    <a:cubicBezTo>
                      <a:pt x="1243542" y="494242"/>
                      <a:pt x="1573212" y="394758"/>
                      <a:pt x="1781175" y="631825"/>
                    </a:cubicBez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2" name="Oval 41"/>
            <p:cNvSpPr/>
            <p:nvPr/>
          </p:nvSpPr>
          <p:spPr>
            <a:xfrm>
              <a:off x="5267293" y="2760914"/>
              <a:ext cx="212068" cy="20788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43" name="Oval 343"/>
            <p:cNvSpPr/>
            <p:nvPr/>
          </p:nvSpPr>
          <p:spPr>
            <a:xfrm>
              <a:off x="5305322" y="2794885"/>
              <a:ext cx="152273" cy="149509"/>
            </a:xfrm>
            <a:custGeom>
              <a:avLst/>
              <a:gdLst/>
              <a:ahLst/>
              <a:cxnLst/>
              <a:rect l="l" t="t" r="r" b="b"/>
              <a:pathLst>
                <a:path w="4862133" h="4869925">
                  <a:moveTo>
                    <a:pt x="4118834" y="2769100"/>
                  </a:moveTo>
                  <a:cubicBezTo>
                    <a:pt x="4230134" y="2769100"/>
                    <a:pt x="4320360" y="2859326"/>
                    <a:pt x="4320360" y="2970626"/>
                  </a:cubicBezTo>
                  <a:cubicBezTo>
                    <a:pt x="4320360" y="3081926"/>
                    <a:pt x="4230134" y="3172152"/>
                    <a:pt x="4118834" y="3172152"/>
                  </a:cubicBezTo>
                  <a:cubicBezTo>
                    <a:pt x="4007534" y="3172152"/>
                    <a:pt x="3917308" y="3081926"/>
                    <a:pt x="3917308" y="2970626"/>
                  </a:cubicBezTo>
                  <a:cubicBezTo>
                    <a:pt x="3917308" y="2859326"/>
                    <a:pt x="4007534" y="2769100"/>
                    <a:pt x="4118834" y="2769100"/>
                  </a:cubicBezTo>
                  <a:close/>
                  <a:moveTo>
                    <a:pt x="4118834" y="2600893"/>
                  </a:moveTo>
                  <a:cubicBezTo>
                    <a:pt x="3914636" y="2600893"/>
                    <a:pt x="3749101" y="2766428"/>
                    <a:pt x="3749101" y="2970626"/>
                  </a:cubicBezTo>
                  <a:cubicBezTo>
                    <a:pt x="3749101" y="3174824"/>
                    <a:pt x="3914636" y="3340359"/>
                    <a:pt x="4118834" y="3340359"/>
                  </a:cubicBezTo>
                  <a:cubicBezTo>
                    <a:pt x="4323032" y="3340359"/>
                    <a:pt x="4488567" y="3174824"/>
                    <a:pt x="4488567" y="2970626"/>
                  </a:cubicBezTo>
                  <a:cubicBezTo>
                    <a:pt x="4488567" y="2766428"/>
                    <a:pt x="4323032" y="2600893"/>
                    <a:pt x="4118834" y="2600893"/>
                  </a:cubicBezTo>
                  <a:close/>
                  <a:moveTo>
                    <a:pt x="743174" y="0"/>
                  </a:moveTo>
                  <a:cubicBezTo>
                    <a:pt x="931786" y="0"/>
                    <a:pt x="1084687" y="152901"/>
                    <a:pt x="1084687" y="341513"/>
                  </a:cubicBezTo>
                  <a:cubicBezTo>
                    <a:pt x="1084687" y="530125"/>
                    <a:pt x="931786" y="683026"/>
                    <a:pt x="743174" y="683026"/>
                  </a:cubicBezTo>
                  <a:cubicBezTo>
                    <a:pt x="646905" y="683026"/>
                    <a:pt x="559940" y="643193"/>
                    <a:pt x="498205" y="578777"/>
                  </a:cubicBezTo>
                  <a:cubicBezTo>
                    <a:pt x="446783" y="614466"/>
                    <a:pt x="415119" y="650012"/>
                    <a:pt x="362173" y="719003"/>
                  </a:cubicBezTo>
                  <a:cubicBezTo>
                    <a:pt x="720313" y="2550343"/>
                    <a:pt x="1238473" y="2796723"/>
                    <a:pt x="1482313" y="2784023"/>
                  </a:cubicBezTo>
                  <a:cubicBezTo>
                    <a:pt x="2038573" y="2799263"/>
                    <a:pt x="2450053" y="1778183"/>
                    <a:pt x="2625313" y="726623"/>
                  </a:cubicBezTo>
                  <a:cubicBezTo>
                    <a:pt x="2576215" y="653823"/>
                    <a:pt x="2537274" y="618263"/>
                    <a:pt x="2480833" y="587097"/>
                  </a:cubicBezTo>
                  <a:cubicBezTo>
                    <a:pt x="2419811" y="646650"/>
                    <a:pt x="2336310" y="683026"/>
                    <a:pt x="2244314" y="683026"/>
                  </a:cubicBezTo>
                  <a:cubicBezTo>
                    <a:pt x="2055702" y="683026"/>
                    <a:pt x="1902801" y="530125"/>
                    <a:pt x="1902801" y="341513"/>
                  </a:cubicBezTo>
                  <a:cubicBezTo>
                    <a:pt x="1902801" y="152901"/>
                    <a:pt x="2055702" y="0"/>
                    <a:pt x="2244314" y="0"/>
                  </a:cubicBezTo>
                  <a:cubicBezTo>
                    <a:pt x="2382211" y="0"/>
                    <a:pt x="2501020" y="81730"/>
                    <a:pt x="2554189" y="199737"/>
                  </a:cubicBezTo>
                  <a:cubicBezTo>
                    <a:pt x="2981953" y="419274"/>
                    <a:pt x="2993506" y="648885"/>
                    <a:pt x="2991073" y="787583"/>
                  </a:cubicBezTo>
                  <a:cubicBezTo>
                    <a:pt x="2762473" y="2207443"/>
                    <a:pt x="2282413" y="2857683"/>
                    <a:pt x="1870933" y="3058343"/>
                  </a:cubicBezTo>
                  <a:cubicBezTo>
                    <a:pt x="1863313" y="3225983"/>
                    <a:pt x="1794733" y="3355523"/>
                    <a:pt x="1688053" y="3469823"/>
                  </a:cubicBezTo>
                  <a:cubicBezTo>
                    <a:pt x="1775009" y="4771675"/>
                    <a:pt x="3626227" y="4834168"/>
                    <a:pt x="3903314" y="3678423"/>
                  </a:cubicBezTo>
                  <a:cubicBezTo>
                    <a:pt x="3597389" y="3589168"/>
                    <a:pt x="3375535" y="3305806"/>
                    <a:pt x="3375535" y="2970626"/>
                  </a:cubicBezTo>
                  <a:cubicBezTo>
                    <a:pt x="3375535" y="2560113"/>
                    <a:pt x="3708321" y="2227327"/>
                    <a:pt x="4118834" y="2227327"/>
                  </a:cubicBezTo>
                  <a:cubicBezTo>
                    <a:pt x="4529347" y="2227327"/>
                    <a:pt x="4862133" y="2560113"/>
                    <a:pt x="4862133" y="2970626"/>
                  </a:cubicBezTo>
                  <a:cubicBezTo>
                    <a:pt x="4862133" y="3322951"/>
                    <a:pt x="4617002" y="3618022"/>
                    <a:pt x="4287601" y="3692936"/>
                  </a:cubicBezTo>
                  <a:cubicBezTo>
                    <a:pt x="4139467" y="5083941"/>
                    <a:pt x="1572879" y="5498369"/>
                    <a:pt x="1314673" y="3507923"/>
                  </a:cubicBezTo>
                  <a:cubicBezTo>
                    <a:pt x="1197833" y="3365683"/>
                    <a:pt x="1164813" y="3261543"/>
                    <a:pt x="1124173" y="3058343"/>
                  </a:cubicBezTo>
                  <a:cubicBezTo>
                    <a:pt x="479013" y="2776403"/>
                    <a:pt x="230093" y="1801043"/>
                    <a:pt x="11653" y="863783"/>
                  </a:cubicBezTo>
                  <a:cubicBezTo>
                    <a:pt x="-56416" y="503018"/>
                    <a:pt x="185622" y="361153"/>
                    <a:pt x="428081" y="209927"/>
                  </a:cubicBezTo>
                  <a:cubicBezTo>
                    <a:pt x="479491" y="86612"/>
                    <a:pt x="601218" y="0"/>
                    <a:pt x="743174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4326124" y="3187665"/>
              <a:ext cx="212068" cy="20788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 err="1">
                <a:solidFill>
                  <a:schemeClr val="tx1"/>
                </a:solidFill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4373080" y="3210552"/>
              <a:ext cx="118156" cy="162113"/>
              <a:chOff x="3136900" y="244475"/>
              <a:chExt cx="822325" cy="1150938"/>
            </a:xfrm>
            <a:solidFill>
              <a:schemeClr val="accent1"/>
            </a:solidFill>
          </p:grpSpPr>
          <p:sp>
            <p:nvSpPr>
              <p:cNvPr id="125" name="Freeform 67"/>
              <p:cNvSpPr>
                <a:spLocks/>
              </p:cNvSpPr>
              <p:nvPr/>
            </p:nvSpPr>
            <p:spPr bwMode="auto">
              <a:xfrm>
                <a:off x="3387725" y="244475"/>
                <a:ext cx="315913" cy="315913"/>
              </a:xfrm>
              <a:custGeom>
                <a:avLst/>
                <a:gdLst>
                  <a:gd name="T0" fmla="*/ 99 w 199"/>
                  <a:gd name="T1" fmla="*/ 0 h 199"/>
                  <a:gd name="T2" fmla="*/ 99 w 199"/>
                  <a:gd name="T3" fmla="*/ 0 h 199"/>
                  <a:gd name="T4" fmla="*/ 121 w 199"/>
                  <a:gd name="T5" fmla="*/ 2 h 199"/>
                  <a:gd name="T6" fmla="*/ 139 w 199"/>
                  <a:gd name="T7" fmla="*/ 7 h 199"/>
                  <a:gd name="T8" fmla="*/ 155 w 199"/>
                  <a:gd name="T9" fmla="*/ 16 h 199"/>
                  <a:gd name="T10" fmla="*/ 170 w 199"/>
                  <a:gd name="T11" fmla="*/ 29 h 199"/>
                  <a:gd name="T12" fmla="*/ 183 w 199"/>
                  <a:gd name="T13" fmla="*/ 44 h 199"/>
                  <a:gd name="T14" fmla="*/ 192 w 199"/>
                  <a:gd name="T15" fmla="*/ 62 h 199"/>
                  <a:gd name="T16" fmla="*/ 197 w 199"/>
                  <a:gd name="T17" fmla="*/ 80 h 199"/>
                  <a:gd name="T18" fmla="*/ 199 w 199"/>
                  <a:gd name="T19" fmla="*/ 100 h 199"/>
                  <a:gd name="T20" fmla="*/ 199 w 199"/>
                  <a:gd name="T21" fmla="*/ 100 h 199"/>
                  <a:gd name="T22" fmla="*/ 197 w 199"/>
                  <a:gd name="T23" fmla="*/ 120 h 199"/>
                  <a:gd name="T24" fmla="*/ 192 w 199"/>
                  <a:gd name="T25" fmla="*/ 138 h 199"/>
                  <a:gd name="T26" fmla="*/ 183 w 199"/>
                  <a:gd name="T27" fmla="*/ 156 h 199"/>
                  <a:gd name="T28" fmla="*/ 170 w 199"/>
                  <a:gd name="T29" fmla="*/ 170 h 199"/>
                  <a:gd name="T30" fmla="*/ 155 w 199"/>
                  <a:gd name="T31" fmla="*/ 183 h 199"/>
                  <a:gd name="T32" fmla="*/ 139 w 199"/>
                  <a:gd name="T33" fmla="*/ 192 h 199"/>
                  <a:gd name="T34" fmla="*/ 121 w 199"/>
                  <a:gd name="T35" fmla="*/ 198 h 199"/>
                  <a:gd name="T36" fmla="*/ 99 w 199"/>
                  <a:gd name="T37" fmla="*/ 199 h 199"/>
                  <a:gd name="T38" fmla="*/ 99 w 199"/>
                  <a:gd name="T39" fmla="*/ 199 h 199"/>
                  <a:gd name="T40" fmla="*/ 79 w 199"/>
                  <a:gd name="T41" fmla="*/ 198 h 199"/>
                  <a:gd name="T42" fmla="*/ 61 w 199"/>
                  <a:gd name="T43" fmla="*/ 192 h 199"/>
                  <a:gd name="T44" fmla="*/ 45 w 199"/>
                  <a:gd name="T45" fmla="*/ 183 h 199"/>
                  <a:gd name="T46" fmla="*/ 30 w 199"/>
                  <a:gd name="T47" fmla="*/ 170 h 199"/>
                  <a:gd name="T48" fmla="*/ 18 w 199"/>
                  <a:gd name="T49" fmla="*/ 156 h 199"/>
                  <a:gd name="T50" fmla="*/ 9 w 199"/>
                  <a:gd name="T51" fmla="*/ 138 h 199"/>
                  <a:gd name="T52" fmla="*/ 3 w 199"/>
                  <a:gd name="T53" fmla="*/ 120 h 199"/>
                  <a:gd name="T54" fmla="*/ 0 w 199"/>
                  <a:gd name="T55" fmla="*/ 100 h 199"/>
                  <a:gd name="T56" fmla="*/ 0 w 199"/>
                  <a:gd name="T57" fmla="*/ 100 h 199"/>
                  <a:gd name="T58" fmla="*/ 3 w 199"/>
                  <a:gd name="T59" fmla="*/ 80 h 199"/>
                  <a:gd name="T60" fmla="*/ 9 w 199"/>
                  <a:gd name="T61" fmla="*/ 62 h 199"/>
                  <a:gd name="T62" fmla="*/ 18 w 199"/>
                  <a:gd name="T63" fmla="*/ 44 h 199"/>
                  <a:gd name="T64" fmla="*/ 30 w 199"/>
                  <a:gd name="T65" fmla="*/ 29 h 199"/>
                  <a:gd name="T66" fmla="*/ 45 w 199"/>
                  <a:gd name="T67" fmla="*/ 16 h 199"/>
                  <a:gd name="T68" fmla="*/ 61 w 199"/>
                  <a:gd name="T69" fmla="*/ 7 h 199"/>
                  <a:gd name="T70" fmla="*/ 79 w 199"/>
                  <a:gd name="T71" fmla="*/ 2 h 199"/>
                  <a:gd name="T72" fmla="*/ 99 w 199"/>
                  <a:gd name="T73" fmla="*/ 0 h 199"/>
                  <a:gd name="T74" fmla="*/ 99 w 199"/>
                  <a:gd name="T75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99" h="199">
                    <a:moveTo>
                      <a:pt x="99" y="0"/>
                    </a:moveTo>
                    <a:lnTo>
                      <a:pt x="99" y="0"/>
                    </a:lnTo>
                    <a:lnTo>
                      <a:pt x="121" y="2"/>
                    </a:lnTo>
                    <a:lnTo>
                      <a:pt x="139" y="7"/>
                    </a:lnTo>
                    <a:lnTo>
                      <a:pt x="155" y="16"/>
                    </a:lnTo>
                    <a:lnTo>
                      <a:pt x="170" y="29"/>
                    </a:lnTo>
                    <a:lnTo>
                      <a:pt x="183" y="44"/>
                    </a:lnTo>
                    <a:lnTo>
                      <a:pt x="192" y="62"/>
                    </a:lnTo>
                    <a:lnTo>
                      <a:pt x="197" y="80"/>
                    </a:lnTo>
                    <a:lnTo>
                      <a:pt x="199" y="100"/>
                    </a:lnTo>
                    <a:lnTo>
                      <a:pt x="199" y="100"/>
                    </a:lnTo>
                    <a:lnTo>
                      <a:pt x="197" y="120"/>
                    </a:lnTo>
                    <a:lnTo>
                      <a:pt x="192" y="138"/>
                    </a:lnTo>
                    <a:lnTo>
                      <a:pt x="183" y="156"/>
                    </a:lnTo>
                    <a:lnTo>
                      <a:pt x="170" y="170"/>
                    </a:lnTo>
                    <a:lnTo>
                      <a:pt x="155" y="183"/>
                    </a:lnTo>
                    <a:lnTo>
                      <a:pt x="139" y="192"/>
                    </a:lnTo>
                    <a:lnTo>
                      <a:pt x="121" y="198"/>
                    </a:lnTo>
                    <a:lnTo>
                      <a:pt x="99" y="199"/>
                    </a:lnTo>
                    <a:lnTo>
                      <a:pt x="99" y="199"/>
                    </a:lnTo>
                    <a:lnTo>
                      <a:pt x="79" y="198"/>
                    </a:lnTo>
                    <a:lnTo>
                      <a:pt x="61" y="192"/>
                    </a:lnTo>
                    <a:lnTo>
                      <a:pt x="45" y="183"/>
                    </a:lnTo>
                    <a:lnTo>
                      <a:pt x="30" y="170"/>
                    </a:lnTo>
                    <a:lnTo>
                      <a:pt x="18" y="156"/>
                    </a:lnTo>
                    <a:lnTo>
                      <a:pt x="9" y="138"/>
                    </a:lnTo>
                    <a:lnTo>
                      <a:pt x="3" y="120"/>
                    </a:lnTo>
                    <a:lnTo>
                      <a:pt x="0" y="100"/>
                    </a:lnTo>
                    <a:lnTo>
                      <a:pt x="0" y="100"/>
                    </a:lnTo>
                    <a:lnTo>
                      <a:pt x="3" y="80"/>
                    </a:lnTo>
                    <a:lnTo>
                      <a:pt x="9" y="62"/>
                    </a:lnTo>
                    <a:lnTo>
                      <a:pt x="18" y="44"/>
                    </a:lnTo>
                    <a:lnTo>
                      <a:pt x="30" y="29"/>
                    </a:lnTo>
                    <a:lnTo>
                      <a:pt x="45" y="16"/>
                    </a:lnTo>
                    <a:lnTo>
                      <a:pt x="61" y="7"/>
                    </a:lnTo>
                    <a:lnTo>
                      <a:pt x="79" y="2"/>
                    </a:lnTo>
                    <a:lnTo>
                      <a:pt x="99" y="0"/>
                    </a:lnTo>
                    <a:lnTo>
                      <a:pt x="99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26" name="Freeform 68"/>
              <p:cNvSpPr>
                <a:spLocks/>
              </p:cNvSpPr>
              <p:nvPr/>
            </p:nvSpPr>
            <p:spPr bwMode="auto">
              <a:xfrm>
                <a:off x="3136900" y="609600"/>
                <a:ext cx="822325" cy="785813"/>
              </a:xfrm>
              <a:custGeom>
                <a:avLst/>
                <a:gdLst>
                  <a:gd name="T0" fmla="*/ 293 w 518"/>
                  <a:gd name="T1" fmla="*/ 76 h 495"/>
                  <a:gd name="T2" fmla="*/ 308 w 518"/>
                  <a:gd name="T3" fmla="*/ 58 h 495"/>
                  <a:gd name="T4" fmla="*/ 342 w 518"/>
                  <a:gd name="T5" fmla="*/ 78 h 495"/>
                  <a:gd name="T6" fmla="*/ 375 w 518"/>
                  <a:gd name="T7" fmla="*/ 191 h 495"/>
                  <a:gd name="T8" fmla="*/ 348 w 518"/>
                  <a:gd name="T9" fmla="*/ 205 h 495"/>
                  <a:gd name="T10" fmla="*/ 295 w 518"/>
                  <a:gd name="T11" fmla="*/ 191 h 495"/>
                  <a:gd name="T12" fmla="*/ 293 w 518"/>
                  <a:gd name="T13" fmla="*/ 122 h 495"/>
                  <a:gd name="T14" fmla="*/ 301 w 518"/>
                  <a:gd name="T15" fmla="*/ 221 h 495"/>
                  <a:gd name="T16" fmla="*/ 337 w 518"/>
                  <a:gd name="T17" fmla="*/ 239 h 495"/>
                  <a:gd name="T18" fmla="*/ 306 w 518"/>
                  <a:gd name="T19" fmla="*/ 299 h 495"/>
                  <a:gd name="T20" fmla="*/ 254 w 518"/>
                  <a:gd name="T21" fmla="*/ 307 h 495"/>
                  <a:gd name="T22" fmla="*/ 201 w 518"/>
                  <a:gd name="T23" fmla="*/ 287 h 495"/>
                  <a:gd name="T24" fmla="*/ 187 w 518"/>
                  <a:gd name="T25" fmla="*/ 310 h 495"/>
                  <a:gd name="T26" fmla="*/ 328 w 518"/>
                  <a:gd name="T27" fmla="*/ 319 h 495"/>
                  <a:gd name="T28" fmla="*/ 353 w 518"/>
                  <a:gd name="T29" fmla="*/ 346 h 495"/>
                  <a:gd name="T30" fmla="*/ 344 w 518"/>
                  <a:gd name="T31" fmla="*/ 377 h 495"/>
                  <a:gd name="T32" fmla="*/ 197 w 518"/>
                  <a:gd name="T33" fmla="*/ 388 h 495"/>
                  <a:gd name="T34" fmla="*/ 190 w 518"/>
                  <a:gd name="T35" fmla="*/ 399 h 495"/>
                  <a:gd name="T36" fmla="*/ 328 w 518"/>
                  <a:gd name="T37" fmla="*/ 404 h 495"/>
                  <a:gd name="T38" fmla="*/ 353 w 518"/>
                  <a:gd name="T39" fmla="*/ 430 h 495"/>
                  <a:gd name="T40" fmla="*/ 344 w 518"/>
                  <a:gd name="T41" fmla="*/ 461 h 495"/>
                  <a:gd name="T42" fmla="*/ 176 w 518"/>
                  <a:gd name="T43" fmla="*/ 471 h 495"/>
                  <a:gd name="T44" fmla="*/ 165 w 518"/>
                  <a:gd name="T45" fmla="*/ 453 h 495"/>
                  <a:gd name="T46" fmla="*/ 322 w 518"/>
                  <a:gd name="T47" fmla="*/ 444 h 495"/>
                  <a:gd name="T48" fmla="*/ 326 w 518"/>
                  <a:gd name="T49" fmla="*/ 432 h 495"/>
                  <a:gd name="T50" fmla="*/ 185 w 518"/>
                  <a:gd name="T51" fmla="*/ 426 h 495"/>
                  <a:gd name="T52" fmla="*/ 163 w 518"/>
                  <a:gd name="T53" fmla="*/ 395 h 495"/>
                  <a:gd name="T54" fmla="*/ 177 w 518"/>
                  <a:gd name="T55" fmla="*/ 366 h 495"/>
                  <a:gd name="T56" fmla="*/ 322 w 518"/>
                  <a:gd name="T57" fmla="*/ 361 h 495"/>
                  <a:gd name="T58" fmla="*/ 326 w 518"/>
                  <a:gd name="T59" fmla="*/ 348 h 495"/>
                  <a:gd name="T60" fmla="*/ 185 w 518"/>
                  <a:gd name="T61" fmla="*/ 343 h 495"/>
                  <a:gd name="T62" fmla="*/ 159 w 518"/>
                  <a:gd name="T63" fmla="*/ 303 h 495"/>
                  <a:gd name="T64" fmla="*/ 177 w 518"/>
                  <a:gd name="T65" fmla="*/ 267 h 495"/>
                  <a:gd name="T66" fmla="*/ 228 w 518"/>
                  <a:gd name="T67" fmla="*/ 259 h 495"/>
                  <a:gd name="T68" fmla="*/ 246 w 518"/>
                  <a:gd name="T69" fmla="*/ 118 h 495"/>
                  <a:gd name="T70" fmla="*/ 225 w 518"/>
                  <a:gd name="T71" fmla="*/ 178 h 495"/>
                  <a:gd name="T72" fmla="*/ 194 w 518"/>
                  <a:gd name="T73" fmla="*/ 198 h 495"/>
                  <a:gd name="T74" fmla="*/ 147 w 518"/>
                  <a:gd name="T75" fmla="*/ 205 h 495"/>
                  <a:gd name="T76" fmla="*/ 154 w 518"/>
                  <a:gd name="T77" fmla="*/ 122 h 495"/>
                  <a:gd name="T78" fmla="*/ 196 w 518"/>
                  <a:gd name="T79" fmla="*/ 60 h 495"/>
                  <a:gd name="T80" fmla="*/ 223 w 518"/>
                  <a:gd name="T81" fmla="*/ 71 h 495"/>
                  <a:gd name="T82" fmla="*/ 134 w 518"/>
                  <a:gd name="T83" fmla="*/ 0 h 495"/>
                  <a:gd name="T84" fmla="*/ 72 w 518"/>
                  <a:gd name="T85" fmla="*/ 15 h 495"/>
                  <a:gd name="T86" fmla="*/ 16 w 518"/>
                  <a:gd name="T87" fmla="*/ 67 h 495"/>
                  <a:gd name="T88" fmla="*/ 0 w 518"/>
                  <a:gd name="T89" fmla="*/ 127 h 495"/>
                  <a:gd name="T90" fmla="*/ 13 w 518"/>
                  <a:gd name="T91" fmla="*/ 468 h 495"/>
                  <a:gd name="T92" fmla="*/ 53 w 518"/>
                  <a:gd name="T93" fmla="*/ 479 h 495"/>
                  <a:gd name="T94" fmla="*/ 87 w 518"/>
                  <a:gd name="T95" fmla="*/ 444 h 495"/>
                  <a:gd name="T96" fmla="*/ 395 w 518"/>
                  <a:gd name="T97" fmla="*/ 495 h 495"/>
                  <a:gd name="T98" fmla="*/ 431 w 518"/>
                  <a:gd name="T99" fmla="*/ 444 h 495"/>
                  <a:gd name="T100" fmla="*/ 465 w 518"/>
                  <a:gd name="T101" fmla="*/ 479 h 495"/>
                  <a:gd name="T102" fmla="*/ 505 w 518"/>
                  <a:gd name="T103" fmla="*/ 468 h 495"/>
                  <a:gd name="T104" fmla="*/ 518 w 518"/>
                  <a:gd name="T105" fmla="*/ 127 h 495"/>
                  <a:gd name="T106" fmla="*/ 502 w 518"/>
                  <a:gd name="T107" fmla="*/ 67 h 495"/>
                  <a:gd name="T108" fmla="*/ 451 w 518"/>
                  <a:gd name="T109" fmla="*/ 15 h 495"/>
                  <a:gd name="T110" fmla="*/ 389 w 518"/>
                  <a:gd name="T111" fmla="*/ 0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18" h="495">
                    <a:moveTo>
                      <a:pt x="389" y="0"/>
                    </a:moveTo>
                    <a:lnTo>
                      <a:pt x="389" y="0"/>
                    </a:lnTo>
                    <a:lnTo>
                      <a:pt x="272" y="0"/>
                    </a:lnTo>
                    <a:lnTo>
                      <a:pt x="272" y="93"/>
                    </a:lnTo>
                    <a:lnTo>
                      <a:pt x="293" y="98"/>
                    </a:lnTo>
                    <a:lnTo>
                      <a:pt x="293" y="76"/>
                    </a:lnTo>
                    <a:lnTo>
                      <a:pt x="293" y="76"/>
                    </a:lnTo>
                    <a:lnTo>
                      <a:pt x="295" y="71"/>
                    </a:lnTo>
                    <a:lnTo>
                      <a:pt x="295" y="67"/>
                    </a:lnTo>
                    <a:lnTo>
                      <a:pt x="299" y="62"/>
                    </a:lnTo>
                    <a:lnTo>
                      <a:pt x="302" y="60"/>
                    </a:lnTo>
                    <a:lnTo>
                      <a:pt x="308" y="58"/>
                    </a:lnTo>
                    <a:lnTo>
                      <a:pt x="315" y="58"/>
                    </a:lnTo>
                    <a:lnTo>
                      <a:pt x="322" y="60"/>
                    </a:lnTo>
                    <a:lnTo>
                      <a:pt x="330" y="65"/>
                    </a:lnTo>
                    <a:lnTo>
                      <a:pt x="330" y="65"/>
                    </a:lnTo>
                    <a:lnTo>
                      <a:pt x="335" y="71"/>
                    </a:lnTo>
                    <a:lnTo>
                      <a:pt x="342" y="78"/>
                    </a:lnTo>
                    <a:lnTo>
                      <a:pt x="353" y="98"/>
                    </a:lnTo>
                    <a:lnTo>
                      <a:pt x="364" y="122"/>
                    </a:lnTo>
                    <a:lnTo>
                      <a:pt x="371" y="147"/>
                    </a:lnTo>
                    <a:lnTo>
                      <a:pt x="375" y="171"/>
                    </a:lnTo>
                    <a:lnTo>
                      <a:pt x="377" y="181"/>
                    </a:lnTo>
                    <a:lnTo>
                      <a:pt x="375" y="191"/>
                    </a:lnTo>
                    <a:lnTo>
                      <a:pt x="373" y="200"/>
                    </a:lnTo>
                    <a:lnTo>
                      <a:pt x="371" y="205"/>
                    </a:lnTo>
                    <a:lnTo>
                      <a:pt x="366" y="207"/>
                    </a:lnTo>
                    <a:lnTo>
                      <a:pt x="360" y="209"/>
                    </a:lnTo>
                    <a:lnTo>
                      <a:pt x="360" y="209"/>
                    </a:lnTo>
                    <a:lnTo>
                      <a:pt x="348" y="205"/>
                    </a:lnTo>
                    <a:lnTo>
                      <a:pt x="335" y="201"/>
                    </a:lnTo>
                    <a:lnTo>
                      <a:pt x="324" y="198"/>
                    </a:lnTo>
                    <a:lnTo>
                      <a:pt x="310" y="196"/>
                    </a:lnTo>
                    <a:lnTo>
                      <a:pt x="310" y="196"/>
                    </a:lnTo>
                    <a:lnTo>
                      <a:pt x="301" y="194"/>
                    </a:lnTo>
                    <a:lnTo>
                      <a:pt x="295" y="191"/>
                    </a:lnTo>
                    <a:lnTo>
                      <a:pt x="293" y="185"/>
                    </a:lnTo>
                    <a:lnTo>
                      <a:pt x="293" y="178"/>
                    </a:lnTo>
                    <a:lnTo>
                      <a:pt x="293" y="178"/>
                    </a:lnTo>
                    <a:lnTo>
                      <a:pt x="293" y="140"/>
                    </a:lnTo>
                    <a:lnTo>
                      <a:pt x="293" y="122"/>
                    </a:lnTo>
                    <a:lnTo>
                      <a:pt x="293" y="122"/>
                    </a:lnTo>
                    <a:lnTo>
                      <a:pt x="272" y="116"/>
                    </a:lnTo>
                    <a:lnTo>
                      <a:pt x="272" y="232"/>
                    </a:lnTo>
                    <a:lnTo>
                      <a:pt x="272" y="232"/>
                    </a:lnTo>
                    <a:lnTo>
                      <a:pt x="277" y="229"/>
                    </a:lnTo>
                    <a:lnTo>
                      <a:pt x="292" y="223"/>
                    </a:lnTo>
                    <a:lnTo>
                      <a:pt x="301" y="221"/>
                    </a:lnTo>
                    <a:lnTo>
                      <a:pt x="310" y="221"/>
                    </a:lnTo>
                    <a:lnTo>
                      <a:pt x="319" y="223"/>
                    </a:lnTo>
                    <a:lnTo>
                      <a:pt x="328" y="229"/>
                    </a:lnTo>
                    <a:lnTo>
                      <a:pt x="328" y="229"/>
                    </a:lnTo>
                    <a:lnTo>
                      <a:pt x="333" y="234"/>
                    </a:lnTo>
                    <a:lnTo>
                      <a:pt x="337" y="239"/>
                    </a:lnTo>
                    <a:lnTo>
                      <a:pt x="339" y="249"/>
                    </a:lnTo>
                    <a:lnTo>
                      <a:pt x="339" y="258"/>
                    </a:lnTo>
                    <a:lnTo>
                      <a:pt x="337" y="267"/>
                    </a:lnTo>
                    <a:lnTo>
                      <a:pt x="331" y="278"/>
                    </a:lnTo>
                    <a:lnTo>
                      <a:pt x="321" y="288"/>
                    </a:lnTo>
                    <a:lnTo>
                      <a:pt x="306" y="299"/>
                    </a:lnTo>
                    <a:lnTo>
                      <a:pt x="306" y="299"/>
                    </a:lnTo>
                    <a:lnTo>
                      <a:pt x="301" y="301"/>
                    </a:lnTo>
                    <a:lnTo>
                      <a:pt x="292" y="305"/>
                    </a:lnTo>
                    <a:lnTo>
                      <a:pt x="279" y="307"/>
                    </a:lnTo>
                    <a:lnTo>
                      <a:pt x="266" y="307"/>
                    </a:lnTo>
                    <a:lnTo>
                      <a:pt x="254" y="307"/>
                    </a:lnTo>
                    <a:lnTo>
                      <a:pt x="241" y="303"/>
                    </a:lnTo>
                    <a:lnTo>
                      <a:pt x="230" y="297"/>
                    </a:lnTo>
                    <a:lnTo>
                      <a:pt x="225" y="292"/>
                    </a:lnTo>
                    <a:lnTo>
                      <a:pt x="221" y="287"/>
                    </a:lnTo>
                    <a:lnTo>
                      <a:pt x="201" y="287"/>
                    </a:lnTo>
                    <a:lnTo>
                      <a:pt x="201" y="287"/>
                    </a:lnTo>
                    <a:lnTo>
                      <a:pt x="196" y="288"/>
                    </a:lnTo>
                    <a:lnTo>
                      <a:pt x="190" y="292"/>
                    </a:lnTo>
                    <a:lnTo>
                      <a:pt x="187" y="297"/>
                    </a:lnTo>
                    <a:lnTo>
                      <a:pt x="185" y="303"/>
                    </a:lnTo>
                    <a:lnTo>
                      <a:pt x="185" y="303"/>
                    </a:lnTo>
                    <a:lnTo>
                      <a:pt x="187" y="310"/>
                    </a:lnTo>
                    <a:lnTo>
                      <a:pt x="190" y="314"/>
                    </a:lnTo>
                    <a:lnTo>
                      <a:pt x="196" y="317"/>
                    </a:lnTo>
                    <a:lnTo>
                      <a:pt x="201" y="319"/>
                    </a:lnTo>
                    <a:lnTo>
                      <a:pt x="321" y="319"/>
                    </a:lnTo>
                    <a:lnTo>
                      <a:pt x="321" y="319"/>
                    </a:lnTo>
                    <a:lnTo>
                      <a:pt x="328" y="319"/>
                    </a:lnTo>
                    <a:lnTo>
                      <a:pt x="333" y="323"/>
                    </a:lnTo>
                    <a:lnTo>
                      <a:pt x="339" y="325"/>
                    </a:lnTo>
                    <a:lnTo>
                      <a:pt x="344" y="330"/>
                    </a:lnTo>
                    <a:lnTo>
                      <a:pt x="348" y="334"/>
                    </a:lnTo>
                    <a:lnTo>
                      <a:pt x="351" y="341"/>
                    </a:lnTo>
                    <a:lnTo>
                      <a:pt x="353" y="346"/>
                    </a:lnTo>
                    <a:lnTo>
                      <a:pt x="355" y="354"/>
                    </a:lnTo>
                    <a:lnTo>
                      <a:pt x="355" y="354"/>
                    </a:lnTo>
                    <a:lnTo>
                      <a:pt x="353" y="361"/>
                    </a:lnTo>
                    <a:lnTo>
                      <a:pt x="351" y="366"/>
                    </a:lnTo>
                    <a:lnTo>
                      <a:pt x="348" y="372"/>
                    </a:lnTo>
                    <a:lnTo>
                      <a:pt x="344" y="377"/>
                    </a:lnTo>
                    <a:lnTo>
                      <a:pt x="339" y="381"/>
                    </a:lnTo>
                    <a:lnTo>
                      <a:pt x="333" y="384"/>
                    </a:lnTo>
                    <a:lnTo>
                      <a:pt x="328" y="386"/>
                    </a:lnTo>
                    <a:lnTo>
                      <a:pt x="321" y="388"/>
                    </a:lnTo>
                    <a:lnTo>
                      <a:pt x="197" y="388"/>
                    </a:lnTo>
                    <a:lnTo>
                      <a:pt x="197" y="388"/>
                    </a:lnTo>
                    <a:lnTo>
                      <a:pt x="194" y="388"/>
                    </a:lnTo>
                    <a:lnTo>
                      <a:pt x="192" y="390"/>
                    </a:lnTo>
                    <a:lnTo>
                      <a:pt x="190" y="392"/>
                    </a:lnTo>
                    <a:lnTo>
                      <a:pt x="190" y="395"/>
                    </a:lnTo>
                    <a:lnTo>
                      <a:pt x="190" y="395"/>
                    </a:lnTo>
                    <a:lnTo>
                      <a:pt x="190" y="399"/>
                    </a:lnTo>
                    <a:lnTo>
                      <a:pt x="192" y="401"/>
                    </a:lnTo>
                    <a:lnTo>
                      <a:pt x="194" y="403"/>
                    </a:lnTo>
                    <a:lnTo>
                      <a:pt x="197" y="403"/>
                    </a:lnTo>
                    <a:lnTo>
                      <a:pt x="321" y="403"/>
                    </a:lnTo>
                    <a:lnTo>
                      <a:pt x="321" y="403"/>
                    </a:lnTo>
                    <a:lnTo>
                      <a:pt x="328" y="404"/>
                    </a:lnTo>
                    <a:lnTo>
                      <a:pt x="333" y="406"/>
                    </a:lnTo>
                    <a:lnTo>
                      <a:pt x="339" y="408"/>
                    </a:lnTo>
                    <a:lnTo>
                      <a:pt x="344" y="413"/>
                    </a:lnTo>
                    <a:lnTo>
                      <a:pt x="348" y="417"/>
                    </a:lnTo>
                    <a:lnTo>
                      <a:pt x="351" y="424"/>
                    </a:lnTo>
                    <a:lnTo>
                      <a:pt x="353" y="430"/>
                    </a:lnTo>
                    <a:lnTo>
                      <a:pt x="355" y="437"/>
                    </a:lnTo>
                    <a:lnTo>
                      <a:pt x="355" y="437"/>
                    </a:lnTo>
                    <a:lnTo>
                      <a:pt x="353" y="444"/>
                    </a:lnTo>
                    <a:lnTo>
                      <a:pt x="351" y="450"/>
                    </a:lnTo>
                    <a:lnTo>
                      <a:pt x="348" y="455"/>
                    </a:lnTo>
                    <a:lnTo>
                      <a:pt x="344" y="461"/>
                    </a:lnTo>
                    <a:lnTo>
                      <a:pt x="339" y="466"/>
                    </a:lnTo>
                    <a:lnTo>
                      <a:pt x="333" y="468"/>
                    </a:lnTo>
                    <a:lnTo>
                      <a:pt x="328" y="470"/>
                    </a:lnTo>
                    <a:lnTo>
                      <a:pt x="321" y="471"/>
                    </a:lnTo>
                    <a:lnTo>
                      <a:pt x="176" y="471"/>
                    </a:lnTo>
                    <a:lnTo>
                      <a:pt x="176" y="471"/>
                    </a:lnTo>
                    <a:lnTo>
                      <a:pt x="172" y="470"/>
                    </a:lnTo>
                    <a:lnTo>
                      <a:pt x="167" y="468"/>
                    </a:lnTo>
                    <a:lnTo>
                      <a:pt x="165" y="462"/>
                    </a:lnTo>
                    <a:lnTo>
                      <a:pt x="163" y="457"/>
                    </a:lnTo>
                    <a:lnTo>
                      <a:pt x="163" y="457"/>
                    </a:lnTo>
                    <a:lnTo>
                      <a:pt x="165" y="453"/>
                    </a:lnTo>
                    <a:lnTo>
                      <a:pt x="167" y="448"/>
                    </a:lnTo>
                    <a:lnTo>
                      <a:pt x="172" y="446"/>
                    </a:lnTo>
                    <a:lnTo>
                      <a:pt x="176" y="444"/>
                    </a:lnTo>
                    <a:lnTo>
                      <a:pt x="321" y="444"/>
                    </a:lnTo>
                    <a:lnTo>
                      <a:pt x="321" y="444"/>
                    </a:lnTo>
                    <a:lnTo>
                      <a:pt x="322" y="444"/>
                    </a:lnTo>
                    <a:lnTo>
                      <a:pt x="326" y="442"/>
                    </a:lnTo>
                    <a:lnTo>
                      <a:pt x="328" y="441"/>
                    </a:lnTo>
                    <a:lnTo>
                      <a:pt x="328" y="437"/>
                    </a:lnTo>
                    <a:lnTo>
                      <a:pt x="328" y="437"/>
                    </a:lnTo>
                    <a:lnTo>
                      <a:pt x="328" y="433"/>
                    </a:lnTo>
                    <a:lnTo>
                      <a:pt x="326" y="432"/>
                    </a:lnTo>
                    <a:lnTo>
                      <a:pt x="322" y="430"/>
                    </a:lnTo>
                    <a:lnTo>
                      <a:pt x="321" y="430"/>
                    </a:lnTo>
                    <a:lnTo>
                      <a:pt x="197" y="430"/>
                    </a:lnTo>
                    <a:lnTo>
                      <a:pt x="197" y="430"/>
                    </a:lnTo>
                    <a:lnTo>
                      <a:pt x="190" y="428"/>
                    </a:lnTo>
                    <a:lnTo>
                      <a:pt x="185" y="426"/>
                    </a:lnTo>
                    <a:lnTo>
                      <a:pt x="177" y="423"/>
                    </a:lnTo>
                    <a:lnTo>
                      <a:pt x="174" y="419"/>
                    </a:lnTo>
                    <a:lnTo>
                      <a:pt x="168" y="413"/>
                    </a:lnTo>
                    <a:lnTo>
                      <a:pt x="167" y="408"/>
                    </a:lnTo>
                    <a:lnTo>
                      <a:pt x="165" y="403"/>
                    </a:lnTo>
                    <a:lnTo>
                      <a:pt x="163" y="395"/>
                    </a:lnTo>
                    <a:lnTo>
                      <a:pt x="163" y="395"/>
                    </a:lnTo>
                    <a:lnTo>
                      <a:pt x="165" y="388"/>
                    </a:lnTo>
                    <a:lnTo>
                      <a:pt x="167" y="383"/>
                    </a:lnTo>
                    <a:lnTo>
                      <a:pt x="168" y="375"/>
                    </a:lnTo>
                    <a:lnTo>
                      <a:pt x="174" y="372"/>
                    </a:lnTo>
                    <a:lnTo>
                      <a:pt x="177" y="366"/>
                    </a:lnTo>
                    <a:lnTo>
                      <a:pt x="185" y="365"/>
                    </a:lnTo>
                    <a:lnTo>
                      <a:pt x="190" y="361"/>
                    </a:lnTo>
                    <a:lnTo>
                      <a:pt x="197" y="361"/>
                    </a:lnTo>
                    <a:lnTo>
                      <a:pt x="321" y="361"/>
                    </a:lnTo>
                    <a:lnTo>
                      <a:pt x="321" y="361"/>
                    </a:lnTo>
                    <a:lnTo>
                      <a:pt x="322" y="361"/>
                    </a:lnTo>
                    <a:lnTo>
                      <a:pt x="326" y="359"/>
                    </a:lnTo>
                    <a:lnTo>
                      <a:pt x="328" y="357"/>
                    </a:lnTo>
                    <a:lnTo>
                      <a:pt x="328" y="354"/>
                    </a:lnTo>
                    <a:lnTo>
                      <a:pt x="328" y="354"/>
                    </a:lnTo>
                    <a:lnTo>
                      <a:pt x="328" y="350"/>
                    </a:lnTo>
                    <a:lnTo>
                      <a:pt x="326" y="348"/>
                    </a:lnTo>
                    <a:lnTo>
                      <a:pt x="322" y="346"/>
                    </a:lnTo>
                    <a:lnTo>
                      <a:pt x="321" y="346"/>
                    </a:lnTo>
                    <a:lnTo>
                      <a:pt x="201" y="346"/>
                    </a:lnTo>
                    <a:lnTo>
                      <a:pt x="201" y="346"/>
                    </a:lnTo>
                    <a:lnTo>
                      <a:pt x="192" y="345"/>
                    </a:lnTo>
                    <a:lnTo>
                      <a:pt x="185" y="343"/>
                    </a:lnTo>
                    <a:lnTo>
                      <a:pt x="177" y="339"/>
                    </a:lnTo>
                    <a:lnTo>
                      <a:pt x="170" y="334"/>
                    </a:lnTo>
                    <a:lnTo>
                      <a:pt x="167" y="326"/>
                    </a:lnTo>
                    <a:lnTo>
                      <a:pt x="161" y="319"/>
                    </a:lnTo>
                    <a:lnTo>
                      <a:pt x="159" y="312"/>
                    </a:lnTo>
                    <a:lnTo>
                      <a:pt x="159" y="303"/>
                    </a:lnTo>
                    <a:lnTo>
                      <a:pt x="159" y="303"/>
                    </a:lnTo>
                    <a:lnTo>
                      <a:pt x="159" y="294"/>
                    </a:lnTo>
                    <a:lnTo>
                      <a:pt x="161" y="287"/>
                    </a:lnTo>
                    <a:lnTo>
                      <a:pt x="167" y="279"/>
                    </a:lnTo>
                    <a:lnTo>
                      <a:pt x="170" y="272"/>
                    </a:lnTo>
                    <a:lnTo>
                      <a:pt x="177" y="267"/>
                    </a:lnTo>
                    <a:lnTo>
                      <a:pt x="185" y="263"/>
                    </a:lnTo>
                    <a:lnTo>
                      <a:pt x="192" y="261"/>
                    </a:lnTo>
                    <a:lnTo>
                      <a:pt x="201" y="259"/>
                    </a:lnTo>
                    <a:lnTo>
                      <a:pt x="228" y="259"/>
                    </a:lnTo>
                    <a:lnTo>
                      <a:pt x="228" y="259"/>
                    </a:lnTo>
                    <a:lnTo>
                      <a:pt x="228" y="259"/>
                    </a:lnTo>
                    <a:lnTo>
                      <a:pt x="237" y="259"/>
                    </a:lnTo>
                    <a:lnTo>
                      <a:pt x="237" y="259"/>
                    </a:lnTo>
                    <a:lnTo>
                      <a:pt x="243" y="259"/>
                    </a:lnTo>
                    <a:lnTo>
                      <a:pt x="245" y="256"/>
                    </a:lnTo>
                    <a:lnTo>
                      <a:pt x="246" y="250"/>
                    </a:lnTo>
                    <a:lnTo>
                      <a:pt x="246" y="118"/>
                    </a:lnTo>
                    <a:lnTo>
                      <a:pt x="246" y="118"/>
                    </a:lnTo>
                    <a:lnTo>
                      <a:pt x="225" y="123"/>
                    </a:lnTo>
                    <a:lnTo>
                      <a:pt x="225" y="140"/>
                    </a:lnTo>
                    <a:lnTo>
                      <a:pt x="225" y="140"/>
                    </a:lnTo>
                    <a:lnTo>
                      <a:pt x="225" y="178"/>
                    </a:lnTo>
                    <a:lnTo>
                      <a:pt x="225" y="178"/>
                    </a:lnTo>
                    <a:lnTo>
                      <a:pt x="225" y="185"/>
                    </a:lnTo>
                    <a:lnTo>
                      <a:pt x="223" y="191"/>
                    </a:lnTo>
                    <a:lnTo>
                      <a:pt x="217" y="194"/>
                    </a:lnTo>
                    <a:lnTo>
                      <a:pt x="208" y="196"/>
                    </a:lnTo>
                    <a:lnTo>
                      <a:pt x="208" y="196"/>
                    </a:lnTo>
                    <a:lnTo>
                      <a:pt x="194" y="198"/>
                    </a:lnTo>
                    <a:lnTo>
                      <a:pt x="183" y="201"/>
                    </a:lnTo>
                    <a:lnTo>
                      <a:pt x="170" y="205"/>
                    </a:lnTo>
                    <a:lnTo>
                      <a:pt x="158" y="209"/>
                    </a:lnTo>
                    <a:lnTo>
                      <a:pt x="158" y="209"/>
                    </a:lnTo>
                    <a:lnTo>
                      <a:pt x="152" y="207"/>
                    </a:lnTo>
                    <a:lnTo>
                      <a:pt x="147" y="205"/>
                    </a:lnTo>
                    <a:lnTo>
                      <a:pt x="145" y="200"/>
                    </a:lnTo>
                    <a:lnTo>
                      <a:pt x="143" y="191"/>
                    </a:lnTo>
                    <a:lnTo>
                      <a:pt x="141" y="181"/>
                    </a:lnTo>
                    <a:lnTo>
                      <a:pt x="143" y="171"/>
                    </a:lnTo>
                    <a:lnTo>
                      <a:pt x="147" y="147"/>
                    </a:lnTo>
                    <a:lnTo>
                      <a:pt x="154" y="122"/>
                    </a:lnTo>
                    <a:lnTo>
                      <a:pt x="165" y="98"/>
                    </a:lnTo>
                    <a:lnTo>
                      <a:pt x="176" y="78"/>
                    </a:lnTo>
                    <a:lnTo>
                      <a:pt x="181" y="71"/>
                    </a:lnTo>
                    <a:lnTo>
                      <a:pt x="188" y="65"/>
                    </a:lnTo>
                    <a:lnTo>
                      <a:pt x="188" y="65"/>
                    </a:lnTo>
                    <a:lnTo>
                      <a:pt x="196" y="60"/>
                    </a:lnTo>
                    <a:lnTo>
                      <a:pt x="203" y="58"/>
                    </a:lnTo>
                    <a:lnTo>
                      <a:pt x="210" y="58"/>
                    </a:lnTo>
                    <a:lnTo>
                      <a:pt x="216" y="60"/>
                    </a:lnTo>
                    <a:lnTo>
                      <a:pt x="219" y="62"/>
                    </a:lnTo>
                    <a:lnTo>
                      <a:pt x="223" y="67"/>
                    </a:lnTo>
                    <a:lnTo>
                      <a:pt x="223" y="71"/>
                    </a:lnTo>
                    <a:lnTo>
                      <a:pt x="225" y="76"/>
                    </a:lnTo>
                    <a:lnTo>
                      <a:pt x="225" y="100"/>
                    </a:lnTo>
                    <a:lnTo>
                      <a:pt x="246" y="94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134" y="0"/>
                    </a:lnTo>
                    <a:lnTo>
                      <a:pt x="134" y="0"/>
                    </a:lnTo>
                    <a:lnTo>
                      <a:pt x="121" y="0"/>
                    </a:lnTo>
                    <a:lnTo>
                      <a:pt x="107" y="2"/>
                    </a:lnTo>
                    <a:lnTo>
                      <a:pt x="96" y="6"/>
                    </a:lnTo>
                    <a:lnTo>
                      <a:pt x="83" y="9"/>
                    </a:lnTo>
                    <a:lnTo>
                      <a:pt x="72" y="15"/>
                    </a:lnTo>
                    <a:lnTo>
                      <a:pt x="60" y="22"/>
                    </a:lnTo>
                    <a:lnTo>
                      <a:pt x="51" y="29"/>
                    </a:lnTo>
                    <a:lnTo>
                      <a:pt x="40" y="36"/>
                    </a:lnTo>
                    <a:lnTo>
                      <a:pt x="33" y="46"/>
                    </a:lnTo>
                    <a:lnTo>
                      <a:pt x="24" y="56"/>
                    </a:lnTo>
                    <a:lnTo>
                      <a:pt x="16" y="67"/>
                    </a:lnTo>
                    <a:lnTo>
                      <a:pt x="11" y="78"/>
                    </a:lnTo>
                    <a:lnTo>
                      <a:pt x="7" y="89"/>
                    </a:lnTo>
                    <a:lnTo>
                      <a:pt x="4" y="102"/>
                    </a:lnTo>
                    <a:lnTo>
                      <a:pt x="2" y="11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44"/>
                    </a:lnTo>
                    <a:lnTo>
                      <a:pt x="4" y="453"/>
                    </a:lnTo>
                    <a:lnTo>
                      <a:pt x="7" y="461"/>
                    </a:lnTo>
                    <a:lnTo>
                      <a:pt x="13" y="468"/>
                    </a:lnTo>
                    <a:lnTo>
                      <a:pt x="20" y="473"/>
                    </a:lnTo>
                    <a:lnTo>
                      <a:pt x="27" y="477"/>
                    </a:lnTo>
                    <a:lnTo>
                      <a:pt x="34" y="479"/>
                    </a:lnTo>
                    <a:lnTo>
                      <a:pt x="43" y="481"/>
                    </a:lnTo>
                    <a:lnTo>
                      <a:pt x="43" y="481"/>
                    </a:lnTo>
                    <a:lnTo>
                      <a:pt x="53" y="479"/>
                    </a:lnTo>
                    <a:lnTo>
                      <a:pt x="60" y="477"/>
                    </a:lnTo>
                    <a:lnTo>
                      <a:pt x="67" y="473"/>
                    </a:lnTo>
                    <a:lnTo>
                      <a:pt x="74" y="468"/>
                    </a:lnTo>
                    <a:lnTo>
                      <a:pt x="80" y="461"/>
                    </a:lnTo>
                    <a:lnTo>
                      <a:pt x="83" y="453"/>
                    </a:lnTo>
                    <a:lnTo>
                      <a:pt x="87" y="444"/>
                    </a:lnTo>
                    <a:lnTo>
                      <a:pt x="87" y="437"/>
                    </a:lnTo>
                    <a:lnTo>
                      <a:pt x="87" y="437"/>
                    </a:lnTo>
                    <a:lnTo>
                      <a:pt x="87" y="158"/>
                    </a:lnTo>
                    <a:lnTo>
                      <a:pt x="123" y="158"/>
                    </a:lnTo>
                    <a:lnTo>
                      <a:pt x="123" y="495"/>
                    </a:lnTo>
                    <a:lnTo>
                      <a:pt x="395" y="495"/>
                    </a:lnTo>
                    <a:lnTo>
                      <a:pt x="395" y="158"/>
                    </a:lnTo>
                    <a:lnTo>
                      <a:pt x="431" y="158"/>
                    </a:lnTo>
                    <a:lnTo>
                      <a:pt x="431" y="158"/>
                    </a:lnTo>
                    <a:lnTo>
                      <a:pt x="431" y="437"/>
                    </a:lnTo>
                    <a:lnTo>
                      <a:pt x="431" y="437"/>
                    </a:lnTo>
                    <a:lnTo>
                      <a:pt x="431" y="444"/>
                    </a:lnTo>
                    <a:lnTo>
                      <a:pt x="435" y="453"/>
                    </a:lnTo>
                    <a:lnTo>
                      <a:pt x="438" y="461"/>
                    </a:lnTo>
                    <a:lnTo>
                      <a:pt x="444" y="468"/>
                    </a:lnTo>
                    <a:lnTo>
                      <a:pt x="451" y="473"/>
                    </a:lnTo>
                    <a:lnTo>
                      <a:pt x="458" y="477"/>
                    </a:lnTo>
                    <a:lnTo>
                      <a:pt x="465" y="479"/>
                    </a:lnTo>
                    <a:lnTo>
                      <a:pt x="475" y="481"/>
                    </a:lnTo>
                    <a:lnTo>
                      <a:pt x="475" y="481"/>
                    </a:lnTo>
                    <a:lnTo>
                      <a:pt x="484" y="479"/>
                    </a:lnTo>
                    <a:lnTo>
                      <a:pt x="491" y="477"/>
                    </a:lnTo>
                    <a:lnTo>
                      <a:pt x="498" y="473"/>
                    </a:lnTo>
                    <a:lnTo>
                      <a:pt x="505" y="468"/>
                    </a:lnTo>
                    <a:lnTo>
                      <a:pt x="511" y="461"/>
                    </a:lnTo>
                    <a:lnTo>
                      <a:pt x="514" y="453"/>
                    </a:lnTo>
                    <a:lnTo>
                      <a:pt x="516" y="444"/>
                    </a:lnTo>
                    <a:lnTo>
                      <a:pt x="518" y="437"/>
                    </a:lnTo>
                    <a:lnTo>
                      <a:pt x="518" y="437"/>
                    </a:lnTo>
                    <a:lnTo>
                      <a:pt x="518" y="127"/>
                    </a:lnTo>
                    <a:lnTo>
                      <a:pt x="518" y="127"/>
                    </a:lnTo>
                    <a:lnTo>
                      <a:pt x="516" y="114"/>
                    </a:lnTo>
                    <a:lnTo>
                      <a:pt x="514" y="102"/>
                    </a:lnTo>
                    <a:lnTo>
                      <a:pt x="513" y="89"/>
                    </a:lnTo>
                    <a:lnTo>
                      <a:pt x="507" y="78"/>
                    </a:lnTo>
                    <a:lnTo>
                      <a:pt x="502" y="67"/>
                    </a:lnTo>
                    <a:lnTo>
                      <a:pt x="496" y="56"/>
                    </a:lnTo>
                    <a:lnTo>
                      <a:pt x="489" y="46"/>
                    </a:lnTo>
                    <a:lnTo>
                      <a:pt x="480" y="36"/>
                    </a:lnTo>
                    <a:lnTo>
                      <a:pt x="471" y="29"/>
                    </a:lnTo>
                    <a:lnTo>
                      <a:pt x="462" y="22"/>
                    </a:lnTo>
                    <a:lnTo>
                      <a:pt x="451" y="15"/>
                    </a:lnTo>
                    <a:lnTo>
                      <a:pt x="438" y="9"/>
                    </a:lnTo>
                    <a:lnTo>
                      <a:pt x="427" y="6"/>
                    </a:lnTo>
                    <a:lnTo>
                      <a:pt x="415" y="2"/>
                    </a:lnTo>
                    <a:lnTo>
                      <a:pt x="402" y="0"/>
                    </a:lnTo>
                    <a:lnTo>
                      <a:pt x="389" y="0"/>
                    </a:lnTo>
                    <a:lnTo>
                      <a:pt x="389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</p:grpSp>
        <p:sp>
          <p:nvSpPr>
            <p:cNvPr id="66" name="Oval 65"/>
            <p:cNvSpPr/>
            <p:nvPr/>
          </p:nvSpPr>
          <p:spPr>
            <a:xfrm>
              <a:off x="5185735" y="3187665"/>
              <a:ext cx="212068" cy="20788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 err="1">
                <a:solidFill>
                  <a:schemeClr val="tx1"/>
                </a:solidFill>
              </a:endParaRPr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5225061" y="3227193"/>
              <a:ext cx="133416" cy="128830"/>
              <a:chOff x="4418013" y="244475"/>
              <a:chExt cx="1168400" cy="1150938"/>
            </a:xfrm>
            <a:solidFill>
              <a:schemeClr val="accent1"/>
            </a:solidFill>
          </p:grpSpPr>
          <p:sp>
            <p:nvSpPr>
              <p:cNvPr id="117" name="Freeform 103"/>
              <p:cNvSpPr>
                <a:spLocks/>
              </p:cNvSpPr>
              <p:nvPr/>
            </p:nvSpPr>
            <p:spPr bwMode="auto">
              <a:xfrm>
                <a:off x="4418013" y="244475"/>
                <a:ext cx="358775" cy="319088"/>
              </a:xfrm>
              <a:custGeom>
                <a:avLst/>
                <a:gdLst>
                  <a:gd name="T0" fmla="*/ 28 w 226"/>
                  <a:gd name="T1" fmla="*/ 26 h 201"/>
                  <a:gd name="T2" fmla="*/ 28 w 226"/>
                  <a:gd name="T3" fmla="*/ 26 h 201"/>
                  <a:gd name="T4" fmla="*/ 28 w 226"/>
                  <a:gd name="T5" fmla="*/ 22 h 201"/>
                  <a:gd name="T6" fmla="*/ 29 w 226"/>
                  <a:gd name="T7" fmla="*/ 20 h 201"/>
                  <a:gd name="T8" fmla="*/ 64 w 226"/>
                  <a:gd name="T9" fmla="*/ 0 h 201"/>
                  <a:gd name="T10" fmla="*/ 64 w 226"/>
                  <a:gd name="T11" fmla="*/ 0 h 201"/>
                  <a:gd name="T12" fmla="*/ 68 w 226"/>
                  <a:gd name="T13" fmla="*/ 0 h 201"/>
                  <a:gd name="T14" fmla="*/ 72 w 226"/>
                  <a:gd name="T15" fmla="*/ 2 h 201"/>
                  <a:gd name="T16" fmla="*/ 86 w 226"/>
                  <a:gd name="T17" fmla="*/ 28 h 201"/>
                  <a:gd name="T18" fmla="*/ 86 w 226"/>
                  <a:gd name="T19" fmla="*/ 28 h 201"/>
                  <a:gd name="T20" fmla="*/ 105 w 226"/>
                  <a:gd name="T21" fmla="*/ 24 h 201"/>
                  <a:gd name="T22" fmla="*/ 125 w 226"/>
                  <a:gd name="T23" fmla="*/ 24 h 201"/>
                  <a:gd name="T24" fmla="*/ 145 w 226"/>
                  <a:gd name="T25" fmla="*/ 26 h 201"/>
                  <a:gd name="T26" fmla="*/ 166 w 226"/>
                  <a:gd name="T27" fmla="*/ 31 h 201"/>
                  <a:gd name="T28" fmla="*/ 182 w 226"/>
                  <a:gd name="T29" fmla="*/ 40 h 201"/>
                  <a:gd name="T30" fmla="*/ 199 w 226"/>
                  <a:gd name="T31" fmla="*/ 53 h 201"/>
                  <a:gd name="T32" fmla="*/ 213 w 226"/>
                  <a:gd name="T33" fmla="*/ 68 h 201"/>
                  <a:gd name="T34" fmla="*/ 226 w 226"/>
                  <a:gd name="T35" fmla="*/ 85 h 201"/>
                  <a:gd name="T36" fmla="*/ 158 w 226"/>
                  <a:gd name="T37" fmla="*/ 123 h 201"/>
                  <a:gd name="T38" fmla="*/ 158 w 226"/>
                  <a:gd name="T39" fmla="*/ 123 h 201"/>
                  <a:gd name="T40" fmla="*/ 160 w 226"/>
                  <a:gd name="T41" fmla="*/ 131 h 201"/>
                  <a:gd name="T42" fmla="*/ 162 w 226"/>
                  <a:gd name="T43" fmla="*/ 138 h 201"/>
                  <a:gd name="T44" fmla="*/ 162 w 226"/>
                  <a:gd name="T45" fmla="*/ 147 h 201"/>
                  <a:gd name="T46" fmla="*/ 160 w 226"/>
                  <a:gd name="T47" fmla="*/ 155 h 201"/>
                  <a:gd name="T48" fmla="*/ 158 w 226"/>
                  <a:gd name="T49" fmla="*/ 162 h 201"/>
                  <a:gd name="T50" fmla="*/ 153 w 226"/>
                  <a:gd name="T51" fmla="*/ 169 h 201"/>
                  <a:gd name="T52" fmla="*/ 147 w 226"/>
                  <a:gd name="T53" fmla="*/ 175 h 201"/>
                  <a:gd name="T54" fmla="*/ 140 w 226"/>
                  <a:gd name="T55" fmla="*/ 180 h 201"/>
                  <a:gd name="T56" fmla="*/ 140 w 226"/>
                  <a:gd name="T57" fmla="*/ 180 h 201"/>
                  <a:gd name="T58" fmla="*/ 132 w 226"/>
                  <a:gd name="T59" fmla="*/ 184 h 201"/>
                  <a:gd name="T60" fmla="*/ 125 w 226"/>
                  <a:gd name="T61" fmla="*/ 186 h 201"/>
                  <a:gd name="T62" fmla="*/ 116 w 226"/>
                  <a:gd name="T63" fmla="*/ 186 h 201"/>
                  <a:gd name="T64" fmla="*/ 109 w 226"/>
                  <a:gd name="T65" fmla="*/ 184 h 201"/>
                  <a:gd name="T66" fmla="*/ 101 w 226"/>
                  <a:gd name="T67" fmla="*/ 180 h 201"/>
                  <a:gd name="T68" fmla="*/ 94 w 226"/>
                  <a:gd name="T69" fmla="*/ 177 h 201"/>
                  <a:gd name="T70" fmla="*/ 88 w 226"/>
                  <a:gd name="T71" fmla="*/ 171 h 201"/>
                  <a:gd name="T72" fmla="*/ 83 w 226"/>
                  <a:gd name="T73" fmla="*/ 164 h 201"/>
                  <a:gd name="T74" fmla="*/ 15 w 226"/>
                  <a:gd name="T75" fmla="*/ 201 h 201"/>
                  <a:gd name="T76" fmla="*/ 15 w 226"/>
                  <a:gd name="T77" fmla="*/ 201 h 201"/>
                  <a:gd name="T78" fmla="*/ 6 w 226"/>
                  <a:gd name="T79" fmla="*/ 180 h 201"/>
                  <a:gd name="T80" fmla="*/ 2 w 226"/>
                  <a:gd name="T81" fmla="*/ 160 h 201"/>
                  <a:gd name="T82" fmla="*/ 0 w 226"/>
                  <a:gd name="T83" fmla="*/ 140 h 201"/>
                  <a:gd name="T84" fmla="*/ 2 w 226"/>
                  <a:gd name="T85" fmla="*/ 121 h 201"/>
                  <a:gd name="T86" fmla="*/ 7 w 226"/>
                  <a:gd name="T87" fmla="*/ 101 h 201"/>
                  <a:gd name="T88" fmla="*/ 17 w 226"/>
                  <a:gd name="T89" fmla="*/ 83 h 201"/>
                  <a:gd name="T90" fmla="*/ 28 w 226"/>
                  <a:gd name="T91" fmla="*/ 66 h 201"/>
                  <a:gd name="T92" fmla="*/ 42 w 226"/>
                  <a:gd name="T93" fmla="*/ 52 h 201"/>
                  <a:gd name="T94" fmla="*/ 28 w 226"/>
                  <a:gd name="T95" fmla="*/ 26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6" h="201">
                    <a:moveTo>
                      <a:pt x="28" y="26"/>
                    </a:moveTo>
                    <a:lnTo>
                      <a:pt x="28" y="26"/>
                    </a:lnTo>
                    <a:lnTo>
                      <a:pt x="28" y="22"/>
                    </a:lnTo>
                    <a:lnTo>
                      <a:pt x="29" y="20"/>
                    </a:lnTo>
                    <a:lnTo>
                      <a:pt x="64" y="0"/>
                    </a:lnTo>
                    <a:lnTo>
                      <a:pt x="64" y="0"/>
                    </a:lnTo>
                    <a:lnTo>
                      <a:pt x="68" y="0"/>
                    </a:lnTo>
                    <a:lnTo>
                      <a:pt x="72" y="2"/>
                    </a:lnTo>
                    <a:lnTo>
                      <a:pt x="86" y="28"/>
                    </a:lnTo>
                    <a:lnTo>
                      <a:pt x="86" y="28"/>
                    </a:lnTo>
                    <a:lnTo>
                      <a:pt x="105" y="24"/>
                    </a:lnTo>
                    <a:lnTo>
                      <a:pt x="125" y="24"/>
                    </a:lnTo>
                    <a:lnTo>
                      <a:pt x="145" y="26"/>
                    </a:lnTo>
                    <a:lnTo>
                      <a:pt x="166" y="31"/>
                    </a:lnTo>
                    <a:lnTo>
                      <a:pt x="182" y="40"/>
                    </a:lnTo>
                    <a:lnTo>
                      <a:pt x="199" y="53"/>
                    </a:lnTo>
                    <a:lnTo>
                      <a:pt x="213" y="68"/>
                    </a:lnTo>
                    <a:lnTo>
                      <a:pt x="226" y="85"/>
                    </a:lnTo>
                    <a:lnTo>
                      <a:pt x="158" y="123"/>
                    </a:lnTo>
                    <a:lnTo>
                      <a:pt x="158" y="123"/>
                    </a:lnTo>
                    <a:lnTo>
                      <a:pt x="160" y="131"/>
                    </a:lnTo>
                    <a:lnTo>
                      <a:pt x="162" y="138"/>
                    </a:lnTo>
                    <a:lnTo>
                      <a:pt x="162" y="147"/>
                    </a:lnTo>
                    <a:lnTo>
                      <a:pt x="160" y="155"/>
                    </a:lnTo>
                    <a:lnTo>
                      <a:pt x="158" y="162"/>
                    </a:lnTo>
                    <a:lnTo>
                      <a:pt x="153" y="169"/>
                    </a:lnTo>
                    <a:lnTo>
                      <a:pt x="147" y="175"/>
                    </a:lnTo>
                    <a:lnTo>
                      <a:pt x="140" y="180"/>
                    </a:lnTo>
                    <a:lnTo>
                      <a:pt x="140" y="180"/>
                    </a:lnTo>
                    <a:lnTo>
                      <a:pt x="132" y="184"/>
                    </a:lnTo>
                    <a:lnTo>
                      <a:pt x="125" y="186"/>
                    </a:lnTo>
                    <a:lnTo>
                      <a:pt x="116" y="186"/>
                    </a:lnTo>
                    <a:lnTo>
                      <a:pt x="109" y="184"/>
                    </a:lnTo>
                    <a:lnTo>
                      <a:pt x="101" y="180"/>
                    </a:lnTo>
                    <a:lnTo>
                      <a:pt x="94" y="177"/>
                    </a:lnTo>
                    <a:lnTo>
                      <a:pt x="88" y="171"/>
                    </a:lnTo>
                    <a:lnTo>
                      <a:pt x="83" y="164"/>
                    </a:lnTo>
                    <a:lnTo>
                      <a:pt x="15" y="201"/>
                    </a:lnTo>
                    <a:lnTo>
                      <a:pt x="15" y="201"/>
                    </a:lnTo>
                    <a:lnTo>
                      <a:pt x="6" y="180"/>
                    </a:lnTo>
                    <a:lnTo>
                      <a:pt x="2" y="160"/>
                    </a:lnTo>
                    <a:lnTo>
                      <a:pt x="0" y="140"/>
                    </a:lnTo>
                    <a:lnTo>
                      <a:pt x="2" y="121"/>
                    </a:lnTo>
                    <a:lnTo>
                      <a:pt x="7" y="101"/>
                    </a:lnTo>
                    <a:lnTo>
                      <a:pt x="17" y="83"/>
                    </a:lnTo>
                    <a:lnTo>
                      <a:pt x="28" y="66"/>
                    </a:lnTo>
                    <a:lnTo>
                      <a:pt x="42" y="52"/>
                    </a:lnTo>
                    <a:lnTo>
                      <a:pt x="28" y="2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18" name="Rectangle 104"/>
              <p:cNvSpPr>
                <a:spLocks noChangeArrowheads="1"/>
              </p:cNvSpPr>
              <p:nvPr/>
            </p:nvSpPr>
            <p:spPr bwMode="auto">
              <a:xfrm>
                <a:off x="5224463" y="1020763"/>
                <a:ext cx="361950" cy="37465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19" name="Freeform 105"/>
              <p:cNvSpPr>
                <a:spLocks/>
              </p:cNvSpPr>
              <p:nvPr/>
            </p:nvSpPr>
            <p:spPr bwMode="auto">
              <a:xfrm>
                <a:off x="4794251" y="1020763"/>
                <a:ext cx="385763" cy="187325"/>
              </a:xfrm>
              <a:custGeom>
                <a:avLst/>
                <a:gdLst>
                  <a:gd name="T0" fmla="*/ 243 w 243"/>
                  <a:gd name="T1" fmla="*/ 118 h 118"/>
                  <a:gd name="T2" fmla="*/ 59 w 243"/>
                  <a:gd name="T3" fmla="*/ 118 h 118"/>
                  <a:gd name="T4" fmla="*/ 59 w 243"/>
                  <a:gd name="T5" fmla="*/ 118 h 118"/>
                  <a:gd name="T6" fmla="*/ 46 w 243"/>
                  <a:gd name="T7" fmla="*/ 116 h 118"/>
                  <a:gd name="T8" fmla="*/ 37 w 243"/>
                  <a:gd name="T9" fmla="*/ 113 h 118"/>
                  <a:gd name="T10" fmla="*/ 26 w 243"/>
                  <a:gd name="T11" fmla="*/ 107 h 118"/>
                  <a:gd name="T12" fmla="*/ 17 w 243"/>
                  <a:gd name="T13" fmla="*/ 102 h 118"/>
                  <a:gd name="T14" fmla="*/ 11 w 243"/>
                  <a:gd name="T15" fmla="*/ 92 h 118"/>
                  <a:gd name="T16" fmla="*/ 6 w 243"/>
                  <a:gd name="T17" fmla="*/ 81 h 118"/>
                  <a:gd name="T18" fmla="*/ 2 w 243"/>
                  <a:gd name="T19" fmla="*/ 70 h 118"/>
                  <a:gd name="T20" fmla="*/ 0 w 243"/>
                  <a:gd name="T21" fmla="*/ 59 h 118"/>
                  <a:gd name="T22" fmla="*/ 0 w 243"/>
                  <a:gd name="T23" fmla="*/ 59 h 118"/>
                  <a:gd name="T24" fmla="*/ 2 w 243"/>
                  <a:gd name="T25" fmla="*/ 48 h 118"/>
                  <a:gd name="T26" fmla="*/ 6 w 243"/>
                  <a:gd name="T27" fmla="*/ 37 h 118"/>
                  <a:gd name="T28" fmla="*/ 11 w 243"/>
                  <a:gd name="T29" fmla="*/ 26 h 118"/>
                  <a:gd name="T30" fmla="*/ 17 w 243"/>
                  <a:gd name="T31" fmla="*/ 19 h 118"/>
                  <a:gd name="T32" fmla="*/ 26 w 243"/>
                  <a:gd name="T33" fmla="*/ 12 h 118"/>
                  <a:gd name="T34" fmla="*/ 37 w 243"/>
                  <a:gd name="T35" fmla="*/ 6 h 118"/>
                  <a:gd name="T36" fmla="*/ 46 w 243"/>
                  <a:gd name="T37" fmla="*/ 2 h 118"/>
                  <a:gd name="T38" fmla="*/ 59 w 243"/>
                  <a:gd name="T39" fmla="*/ 0 h 118"/>
                  <a:gd name="T40" fmla="*/ 243 w 243"/>
                  <a:gd name="T41" fmla="*/ 0 h 118"/>
                  <a:gd name="T42" fmla="*/ 243 w 243"/>
                  <a:gd name="T43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43" h="118">
                    <a:moveTo>
                      <a:pt x="243" y="118"/>
                    </a:moveTo>
                    <a:lnTo>
                      <a:pt x="59" y="118"/>
                    </a:lnTo>
                    <a:lnTo>
                      <a:pt x="59" y="118"/>
                    </a:lnTo>
                    <a:lnTo>
                      <a:pt x="46" y="116"/>
                    </a:lnTo>
                    <a:lnTo>
                      <a:pt x="37" y="113"/>
                    </a:lnTo>
                    <a:lnTo>
                      <a:pt x="26" y="107"/>
                    </a:lnTo>
                    <a:lnTo>
                      <a:pt x="17" y="102"/>
                    </a:lnTo>
                    <a:lnTo>
                      <a:pt x="11" y="92"/>
                    </a:lnTo>
                    <a:lnTo>
                      <a:pt x="6" y="81"/>
                    </a:lnTo>
                    <a:lnTo>
                      <a:pt x="2" y="7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2" y="48"/>
                    </a:lnTo>
                    <a:lnTo>
                      <a:pt x="6" y="37"/>
                    </a:lnTo>
                    <a:lnTo>
                      <a:pt x="11" y="26"/>
                    </a:lnTo>
                    <a:lnTo>
                      <a:pt x="17" y="19"/>
                    </a:lnTo>
                    <a:lnTo>
                      <a:pt x="26" y="12"/>
                    </a:lnTo>
                    <a:lnTo>
                      <a:pt x="37" y="6"/>
                    </a:lnTo>
                    <a:lnTo>
                      <a:pt x="46" y="2"/>
                    </a:lnTo>
                    <a:lnTo>
                      <a:pt x="59" y="0"/>
                    </a:lnTo>
                    <a:lnTo>
                      <a:pt x="243" y="0"/>
                    </a:lnTo>
                    <a:lnTo>
                      <a:pt x="243" y="11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20" name="Freeform 106"/>
              <p:cNvSpPr>
                <a:spLocks/>
              </p:cNvSpPr>
              <p:nvPr/>
            </p:nvSpPr>
            <p:spPr bwMode="auto">
              <a:xfrm>
                <a:off x="4549776" y="1246188"/>
                <a:ext cx="630238" cy="149225"/>
              </a:xfrm>
              <a:custGeom>
                <a:avLst/>
                <a:gdLst>
                  <a:gd name="T0" fmla="*/ 0 w 397"/>
                  <a:gd name="T1" fmla="*/ 24 h 94"/>
                  <a:gd name="T2" fmla="*/ 0 w 397"/>
                  <a:gd name="T3" fmla="*/ 24 h 94"/>
                  <a:gd name="T4" fmla="*/ 2 w 397"/>
                  <a:gd name="T5" fmla="*/ 15 h 94"/>
                  <a:gd name="T6" fmla="*/ 7 w 397"/>
                  <a:gd name="T7" fmla="*/ 6 h 94"/>
                  <a:gd name="T8" fmla="*/ 15 w 397"/>
                  <a:gd name="T9" fmla="*/ 2 h 94"/>
                  <a:gd name="T10" fmla="*/ 24 w 397"/>
                  <a:gd name="T11" fmla="*/ 0 h 94"/>
                  <a:gd name="T12" fmla="*/ 397 w 397"/>
                  <a:gd name="T13" fmla="*/ 0 h 94"/>
                  <a:gd name="T14" fmla="*/ 397 w 397"/>
                  <a:gd name="T15" fmla="*/ 94 h 94"/>
                  <a:gd name="T16" fmla="*/ 0 w 397"/>
                  <a:gd name="T17" fmla="*/ 94 h 94"/>
                  <a:gd name="T18" fmla="*/ 0 w 397"/>
                  <a:gd name="T19" fmla="*/ 2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97" h="94">
                    <a:moveTo>
                      <a:pt x="0" y="24"/>
                    </a:moveTo>
                    <a:lnTo>
                      <a:pt x="0" y="24"/>
                    </a:lnTo>
                    <a:lnTo>
                      <a:pt x="2" y="15"/>
                    </a:lnTo>
                    <a:lnTo>
                      <a:pt x="7" y="6"/>
                    </a:lnTo>
                    <a:lnTo>
                      <a:pt x="15" y="2"/>
                    </a:lnTo>
                    <a:lnTo>
                      <a:pt x="24" y="0"/>
                    </a:lnTo>
                    <a:lnTo>
                      <a:pt x="397" y="0"/>
                    </a:lnTo>
                    <a:lnTo>
                      <a:pt x="397" y="94"/>
                    </a:lnTo>
                    <a:lnTo>
                      <a:pt x="0" y="94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21" name="Freeform 107"/>
              <p:cNvSpPr>
                <a:spLocks/>
              </p:cNvSpPr>
              <p:nvPr/>
            </p:nvSpPr>
            <p:spPr bwMode="auto">
              <a:xfrm>
                <a:off x="4549776" y="984250"/>
                <a:ext cx="223838" cy="223838"/>
              </a:xfrm>
              <a:custGeom>
                <a:avLst/>
                <a:gdLst>
                  <a:gd name="T0" fmla="*/ 72 w 141"/>
                  <a:gd name="T1" fmla="*/ 0 h 141"/>
                  <a:gd name="T2" fmla="*/ 72 w 141"/>
                  <a:gd name="T3" fmla="*/ 0 h 141"/>
                  <a:gd name="T4" fmla="*/ 84 w 141"/>
                  <a:gd name="T5" fmla="*/ 1 h 141"/>
                  <a:gd name="T6" fmla="*/ 99 w 141"/>
                  <a:gd name="T7" fmla="*/ 5 h 141"/>
                  <a:gd name="T8" fmla="*/ 110 w 141"/>
                  <a:gd name="T9" fmla="*/ 12 h 141"/>
                  <a:gd name="T10" fmla="*/ 121 w 141"/>
                  <a:gd name="T11" fmla="*/ 20 h 141"/>
                  <a:gd name="T12" fmla="*/ 129 w 141"/>
                  <a:gd name="T13" fmla="*/ 31 h 141"/>
                  <a:gd name="T14" fmla="*/ 136 w 141"/>
                  <a:gd name="T15" fmla="*/ 44 h 141"/>
                  <a:gd name="T16" fmla="*/ 140 w 141"/>
                  <a:gd name="T17" fmla="*/ 57 h 141"/>
                  <a:gd name="T18" fmla="*/ 141 w 141"/>
                  <a:gd name="T19" fmla="*/ 69 h 141"/>
                  <a:gd name="T20" fmla="*/ 141 w 141"/>
                  <a:gd name="T21" fmla="*/ 69 h 141"/>
                  <a:gd name="T22" fmla="*/ 140 w 141"/>
                  <a:gd name="T23" fmla="*/ 84 h 141"/>
                  <a:gd name="T24" fmla="*/ 136 w 141"/>
                  <a:gd name="T25" fmla="*/ 97 h 141"/>
                  <a:gd name="T26" fmla="*/ 129 w 141"/>
                  <a:gd name="T27" fmla="*/ 110 h 141"/>
                  <a:gd name="T28" fmla="*/ 121 w 141"/>
                  <a:gd name="T29" fmla="*/ 121 h 141"/>
                  <a:gd name="T30" fmla="*/ 110 w 141"/>
                  <a:gd name="T31" fmla="*/ 128 h 141"/>
                  <a:gd name="T32" fmla="*/ 99 w 141"/>
                  <a:gd name="T33" fmla="*/ 136 h 141"/>
                  <a:gd name="T34" fmla="*/ 84 w 141"/>
                  <a:gd name="T35" fmla="*/ 139 h 141"/>
                  <a:gd name="T36" fmla="*/ 72 w 141"/>
                  <a:gd name="T37" fmla="*/ 141 h 141"/>
                  <a:gd name="T38" fmla="*/ 72 w 141"/>
                  <a:gd name="T39" fmla="*/ 141 h 141"/>
                  <a:gd name="T40" fmla="*/ 57 w 141"/>
                  <a:gd name="T41" fmla="*/ 139 h 141"/>
                  <a:gd name="T42" fmla="*/ 44 w 141"/>
                  <a:gd name="T43" fmla="*/ 136 h 141"/>
                  <a:gd name="T44" fmla="*/ 31 w 141"/>
                  <a:gd name="T45" fmla="*/ 128 h 141"/>
                  <a:gd name="T46" fmla="*/ 20 w 141"/>
                  <a:gd name="T47" fmla="*/ 121 h 141"/>
                  <a:gd name="T48" fmla="*/ 13 w 141"/>
                  <a:gd name="T49" fmla="*/ 110 h 141"/>
                  <a:gd name="T50" fmla="*/ 5 w 141"/>
                  <a:gd name="T51" fmla="*/ 97 h 141"/>
                  <a:gd name="T52" fmla="*/ 2 w 141"/>
                  <a:gd name="T53" fmla="*/ 84 h 141"/>
                  <a:gd name="T54" fmla="*/ 0 w 141"/>
                  <a:gd name="T55" fmla="*/ 69 h 141"/>
                  <a:gd name="T56" fmla="*/ 0 w 141"/>
                  <a:gd name="T57" fmla="*/ 69 h 141"/>
                  <a:gd name="T58" fmla="*/ 2 w 141"/>
                  <a:gd name="T59" fmla="*/ 57 h 141"/>
                  <a:gd name="T60" fmla="*/ 5 w 141"/>
                  <a:gd name="T61" fmla="*/ 44 h 141"/>
                  <a:gd name="T62" fmla="*/ 13 w 141"/>
                  <a:gd name="T63" fmla="*/ 31 h 141"/>
                  <a:gd name="T64" fmla="*/ 20 w 141"/>
                  <a:gd name="T65" fmla="*/ 20 h 141"/>
                  <a:gd name="T66" fmla="*/ 31 w 141"/>
                  <a:gd name="T67" fmla="*/ 12 h 141"/>
                  <a:gd name="T68" fmla="*/ 44 w 141"/>
                  <a:gd name="T69" fmla="*/ 5 h 141"/>
                  <a:gd name="T70" fmla="*/ 57 w 141"/>
                  <a:gd name="T71" fmla="*/ 1 h 141"/>
                  <a:gd name="T72" fmla="*/ 72 w 141"/>
                  <a:gd name="T73" fmla="*/ 0 h 141"/>
                  <a:gd name="T74" fmla="*/ 72 w 141"/>
                  <a:gd name="T7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41" h="141">
                    <a:moveTo>
                      <a:pt x="72" y="0"/>
                    </a:moveTo>
                    <a:lnTo>
                      <a:pt x="72" y="0"/>
                    </a:lnTo>
                    <a:lnTo>
                      <a:pt x="84" y="1"/>
                    </a:lnTo>
                    <a:lnTo>
                      <a:pt x="99" y="5"/>
                    </a:lnTo>
                    <a:lnTo>
                      <a:pt x="110" y="12"/>
                    </a:lnTo>
                    <a:lnTo>
                      <a:pt x="121" y="20"/>
                    </a:lnTo>
                    <a:lnTo>
                      <a:pt x="129" y="31"/>
                    </a:lnTo>
                    <a:lnTo>
                      <a:pt x="136" y="44"/>
                    </a:lnTo>
                    <a:lnTo>
                      <a:pt x="140" y="57"/>
                    </a:lnTo>
                    <a:lnTo>
                      <a:pt x="141" y="69"/>
                    </a:lnTo>
                    <a:lnTo>
                      <a:pt x="141" y="69"/>
                    </a:lnTo>
                    <a:lnTo>
                      <a:pt x="140" y="84"/>
                    </a:lnTo>
                    <a:lnTo>
                      <a:pt x="136" y="97"/>
                    </a:lnTo>
                    <a:lnTo>
                      <a:pt x="129" y="110"/>
                    </a:lnTo>
                    <a:lnTo>
                      <a:pt x="121" y="121"/>
                    </a:lnTo>
                    <a:lnTo>
                      <a:pt x="110" y="128"/>
                    </a:lnTo>
                    <a:lnTo>
                      <a:pt x="99" y="136"/>
                    </a:lnTo>
                    <a:lnTo>
                      <a:pt x="84" y="139"/>
                    </a:lnTo>
                    <a:lnTo>
                      <a:pt x="72" y="141"/>
                    </a:lnTo>
                    <a:lnTo>
                      <a:pt x="72" y="141"/>
                    </a:lnTo>
                    <a:lnTo>
                      <a:pt x="57" y="139"/>
                    </a:lnTo>
                    <a:lnTo>
                      <a:pt x="44" y="136"/>
                    </a:lnTo>
                    <a:lnTo>
                      <a:pt x="31" y="128"/>
                    </a:lnTo>
                    <a:lnTo>
                      <a:pt x="20" y="121"/>
                    </a:lnTo>
                    <a:lnTo>
                      <a:pt x="13" y="110"/>
                    </a:lnTo>
                    <a:lnTo>
                      <a:pt x="5" y="97"/>
                    </a:lnTo>
                    <a:lnTo>
                      <a:pt x="2" y="84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2" y="57"/>
                    </a:lnTo>
                    <a:lnTo>
                      <a:pt x="5" y="44"/>
                    </a:lnTo>
                    <a:lnTo>
                      <a:pt x="13" y="31"/>
                    </a:lnTo>
                    <a:lnTo>
                      <a:pt x="20" y="20"/>
                    </a:lnTo>
                    <a:lnTo>
                      <a:pt x="31" y="12"/>
                    </a:lnTo>
                    <a:lnTo>
                      <a:pt x="44" y="5"/>
                    </a:lnTo>
                    <a:lnTo>
                      <a:pt x="57" y="1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22" name="Freeform 108"/>
              <p:cNvSpPr>
                <a:spLocks/>
              </p:cNvSpPr>
              <p:nvPr/>
            </p:nvSpPr>
            <p:spPr bwMode="auto">
              <a:xfrm>
                <a:off x="4762501" y="542925"/>
                <a:ext cx="628650" cy="423863"/>
              </a:xfrm>
              <a:custGeom>
                <a:avLst/>
                <a:gdLst>
                  <a:gd name="T0" fmla="*/ 353 w 396"/>
                  <a:gd name="T1" fmla="*/ 38 h 267"/>
                  <a:gd name="T2" fmla="*/ 350 w 396"/>
                  <a:gd name="T3" fmla="*/ 31 h 267"/>
                  <a:gd name="T4" fmla="*/ 341 w 396"/>
                  <a:gd name="T5" fmla="*/ 16 h 267"/>
                  <a:gd name="T6" fmla="*/ 326 w 396"/>
                  <a:gd name="T7" fmla="*/ 7 h 267"/>
                  <a:gd name="T8" fmla="*/ 304 w 396"/>
                  <a:gd name="T9" fmla="*/ 2 h 267"/>
                  <a:gd name="T10" fmla="*/ 107 w 396"/>
                  <a:gd name="T11" fmla="*/ 0 h 267"/>
                  <a:gd name="T12" fmla="*/ 92 w 396"/>
                  <a:gd name="T13" fmla="*/ 2 h 267"/>
                  <a:gd name="T14" fmla="*/ 70 w 396"/>
                  <a:gd name="T15" fmla="*/ 7 h 267"/>
                  <a:gd name="T16" fmla="*/ 55 w 396"/>
                  <a:gd name="T17" fmla="*/ 16 h 267"/>
                  <a:gd name="T18" fmla="*/ 44 w 396"/>
                  <a:gd name="T19" fmla="*/ 31 h 267"/>
                  <a:gd name="T20" fmla="*/ 2 w 396"/>
                  <a:gd name="T21" fmla="*/ 151 h 267"/>
                  <a:gd name="T22" fmla="*/ 0 w 396"/>
                  <a:gd name="T23" fmla="*/ 158 h 267"/>
                  <a:gd name="T24" fmla="*/ 6 w 396"/>
                  <a:gd name="T25" fmla="*/ 176 h 267"/>
                  <a:gd name="T26" fmla="*/ 13 w 396"/>
                  <a:gd name="T27" fmla="*/ 186 h 267"/>
                  <a:gd name="T28" fmla="*/ 107 w 396"/>
                  <a:gd name="T29" fmla="*/ 246 h 267"/>
                  <a:gd name="T30" fmla="*/ 118 w 396"/>
                  <a:gd name="T31" fmla="*/ 252 h 267"/>
                  <a:gd name="T32" fmla="*/ 129 w 396"/>
                  <a:gd name="T33" fmla="*/ 252 h 267"/>
                  <a:gd name="T34" fmla="*/ 140 w 396"/>
                  <a:gd name="T35" fmla="*/ 246 h 267"/>
                  <a:gd name="T36" fmla="*/ 147 w 396"/>
                  <a:gd name="T37" fmla="*/ 239 h 267"/>
                  <a:gd name="T38" fmla="*/ 151 w 396"/>
                  <a:gd name="T39" fmla="*/ 233 h 267"/>
                  <a:gd name="T40" fmla="*/ 153 w 396"/>
                  <a:gd name="T41" fmla="*/ 222 h 267"/>
                  <a:gd name="T42" fmla="*/ 151 w 396"/>
                  <a:gd name="T43" fmla="*/ 211 h 267"/>
                  <a:gd name="T44" fmla="*/ 144 w 396"/>
                  <a:gd name="T45" fmla="*/ 202 h 267"/>
                  <a:gd name="T46" fmla="*/ 96 w 396"/>
                  <a:gd name="T47" fmla="*/ 169 h 267"/>
                  <a:gd name="T48" fmla="*/ 87 w 396"/>
                  <a:gd name="T49" fmla="*/ 92 h 267"/>
                  <a:gd name="T50" fmla="*/ 98 w 396"/>
                  <a:gd name="T51" fmla="*/ 138 h 267"/>
                  <a:gd name="T52" fmla="*/ 155 w 396"/>
                  <a:gd name="T53" fmla="*/ 175 h 267"/>
                  <a:gd name="T54" fmla="*/ 171 w 396"/>
                  <a:gd name="T55" fmla="*/ 191 h 267"/>
                  <a:gd name="T56" fmla="*/ 179 w 396"/>
                  <a:gd name="T57" fmla="*/ 211 h 267"/>
                  <a:gd name="T58" fmla="*/ 180 w 396"/>
                  <a:gd name="T59" fmla="*/ 222 h 267"/>
                  <a:gd name="T60" fmla="*/ 177 w 396"/>
                  <a:gd name="T61" fmla="*/ 244 h 267"/>
                  <a:gd name="T62" fmla="*/ 171 w 396"/>
                  <a:gd name="T63" fmla="*/ 254 h 267"/>
                  <a:gd name="T64" fmla="*/ 158 w 396"/>
                  <a:gd name="T65" fmla="*/ 267 h 267"/>
                  <a:gd name="T66" fmla="*/ 237 w 396"/>
                  <a:gd name="T67" fmla="*/ 267 h 267"/>
                  <a:gd name="T68" fmla="*/ 225 w 396"/>
                  <a:gd name="T69" fmla="*/ 254 h 267"/>
                  <a:gd name="T70" fmla="*/ 219 w 396"/>
                  <a:gd name="T71" fmla="*/ 244 h 267"/>
                  <a:gd name="T72" fmla="*/ 215 w 396"/>
                  <a:gd name="T73" fmla="*/ 222 h 267"/>
                  <a:gd name="T74" fmla="*/ 217 w 396"/>
                  <a:gd name="T75" fmla="*/ 211 h 267"/>
                  <a:gd name="T76" fmla="*/ 225 w 396"/>
                  <a:gd name="T77" fmla="*/ 191 h 267"/>
                  <a:gd name="T78" fmla="*/ 241 w 396"/>
                  <a:gd name="T79" fmla="*/ 175 h 267"/>
                  <a:gd name="T80" fmla="*/ 280 w 396"/>
                  <a:gd name="T81" fmla="*/ 92 h 267"/>
                  <a:gd name="T82" fmla="*/ 329 w 396"/>
                  <a:gd name="T83" fmla="*/ 149 h 267"/>
                  <a:gd name="T84" fmla="*/ 256 w 396"/>
                  <a:gd name="T85" fmla="*/ 198 h 267"/>
                  <a:gd name="T86" fmla="*/ 250 w 396"/>
                  <a:gd name="T87" fmla="*/ 202 h 267"/>
                  <a:gd name="T88" fmla="*/ 245 w 396"/>
                  <a:gd name="T89" fmla="*/ 211 h 267"/>
                  <a:gd name="T90" fmla="*/ 243 w 396"/>
                  <a:gd name="T91" fmla="*/ 222 h 267"/>
                  <a:gd name="T92" fmla="*/ 245 w 396"/>
                  <a:gd name="T93" fmla="*/ 233 h 267"/>
                  <a:gd name="T94" fmla="*/ 247 w 396"/>
                  <a:gd name="T95" fmla="*/ 239 h 267"/>
                  <a:gd name="T96" fmla="*/ 256 w 396"/>
                  <a:gd name="T97" fmla="*/ 246 h 267"/>
                  <a:gd name="T98" fmla="*/ 272 w 396"/>
                  <a:gd name="T99" fmla="*/ 252 h 267"/>
                  <a:gd name="T100" fmla="*/ 283 w 396"/>
                  <a:gd name="T101" fmla="*/ 250 h 267"/>
                  <a:gd name="T102" fmla="*/ 381 w 396"/>
                  <a:gd name="T103" fmla="*/ 186 h 267"/>
                  <a:gd name="T104" fmla="*/ 387 w 396"/>
                  <a:gd name="T105" fmla="*/ 182 h 267"/>
                  <a:gd name="T106" fmla="*/ 394 w 396"/>
                  <a:gd name="T107" fmla="*/ 167 h 267"/>
                  <a:gd name="T108" fmla="*/ 394 w 396"/>
                  <a:gd name="T109" fmla="*/ 151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96" h="267">
                    <a:moveTo>
                      <a:pt x="394" y="151"/>
                    </a:moveTo>
                    <a:lnTo>
                      <a:pt x="353" y="38"/>
                    </a:lnTo>
                    <a:lnTo>
                      <a:pt x="353" y="38"/>
                    </a:lnTo>
                    <a:lnTo>
                      <a:pt x="350" y="31"/>
                    </a:lnTo>
                    <a:lnTo>
                      <a:pt x="346" y="24"/>
                    </a:lnTo>
                    <a:lnTo>
                      <a:pt x="341" y="16"/>
                    </a:lnTo>
                    <a:lnTo>
                      <a:pt x="335" y="11"/>
                    </a:lnTo>
                    <a:lnTo>
                      <a:pt x="326" y="7"/>
                    </a:lnTo>
                    <a:lnTo>
                      <a:pt x="317" y="3"/>
                    </a:lnTo>
                    <a:lnTo>
                      <a:pt x="304" y="2"/>
                    </a:lnTo>
                    <a:lnTo>
                      <a:pt x="289" y="0"/>
                    </a:lnTo>
                    <a:lnTo>
                      <a:pt x="107" y="0"/>
                    </a:lnTo>
                    <a:lnTo>
                      <a:pt x="107" y="0"/>
                    </a:lnTo>
                    <a:lnTo>
                      <a:pt x="92" y="2"/>
                    </a:lnTo>
                    <a:lnTo>
                      <a:pt x="79" y="3"/>
                    </a:lnTo>
                    <a:lnTo>
                      <a:pt x="70" y="7"/>
                    </a:lnTo>
                    <a:lnTo>
                      <a:pt x="61" y="11"/>
                    </a:lnTo>
                    <a:lnTo>
                      <a:pt x="55" y="16"/>
                    </a:lnTo>
                    <a:lnTo>
                      <a:pt x="50" y="24"/>
                    </a:lnTo>
                    <a:lnTo>
                      <a:pt x="44" y="31"/>
                    </a:lnTo>
                    <a:lnTo>
                      <a:pt x="42" y="38"/>
                    </a:lnTo>
                    <a:lnTo>
                      <a:pt x="2" y="151"/>
                    </a:lnTo>
                    <a:lnTo>
                      <a:pt x="2" y="151"/>
                    </a:lnTo>
                    <a:lnTo>
                      <a:pt x="0" y="158"/>
                    </a:lnTo>
                    <a:lnTo>
                      <a:pt x="0" y="167"/>
                    </a:lnTo>
                    <a:lnTo>
                      <a:pt x="6" y="176"/>
                    </a:lnTo>
                    <a:lnTo>
                      <a:pt x="9" y="182"/>
                    </a:lnTo>
                    <a:lnTo>
                      <a:pt x="13" y="186"/>
                    </a:lnTo>
                    <a:lnTo>
                      <a:pt x="107" y="246"/>
                    </a:lnTo>
                    <a:lnTo>
                      <a:pt x="107" y="246"/>
                    </a:lnTo>
                    <a:lnTo>
                      <a:pt x="112" y="250"/>
                    </a:lnTo>
                    <a:lnTo>
                      <a:pt x="118" y="252"/>
                    </a:lnTo>
                    <a:lnTo>
                      <a:pt x="123" y="252"/>
                    </a:lnTo>
                    <a:lnTo>
                      <a:pt x="129" y="252"/>
                    </a:lnTo>
                    <a:lnTo>
                      <a:pt x="134" y="250"/>
                    </a:lnTo>
                    <a:lnTo>
                      <a:pt x="140" y="246"/>
                    </a:lnTo>
                    <a:lnTo>
                      <a:pt x="144" y="243"/>
                    </a:lnTo>
                    <a:lnTo>
                      <a:pt x="147" y="239"/>
                    </a:lnTo>
                    <a:lnTo>
                      <a:pt x="147" y="239"/>
                    </a:lnTo>
                    <a:lnTo>
                      <a:pt x="151" y="233"/>
                    </a:lnTo>
                    <a:lnTo>
                      <a:pt x="153" y="228"/>
                    </a:lnTo>
                    <a:lnTo>
                      <a:pt x="153" y="222"/>
                    </a:lnTo>
                    <a:lnTo>
                      <a:pt x="153" y="217"/>
                    </a:lnTo>
                    <a:lnTo>
                      <a:pt x="151" y="211"/>
                    </a:lnTo>
                    <a:lnTo>
                      <a:pt x="147" y="206"/>
                    </a:lnTo>
                    <a:lnTo>
                      <a:pt x="144" y="202"/>
                    </a:lnTo>
                    <a:lnTo>
                      <a:pt x="140" y="198"/>
                    </a:lnTo>
                    <a:lnTo>
                      <a:pt x="96" y="169"/>
                    </a:lnTo>
                    <a:lnTo>
                      <a:pt x="66" y="149"/>
                    </a:lnTo>
                    <a:lnTo>
                      <a:pt x="87" y="92"/>
                    </a:lnTo>
                    <a:lnTo>
                      <a:pt x="116" y="92"/>
                    </a:lnTo>
                    <a:lnTo>
                      <a:pt x="98" y="138"/>
                    </a:lnTo>
                    <a:lnTo>
                      <a:pt x="155" y="175"/>
                    </a:lnTo>
                    <a:lnTo>
                      <a:pt x="155" y="175"/>
                    </a:lnTo>
                    <a:lnTo>
                      <a:pt x="164" y="182"/>
                    </a:lnTo>
                    <a:lnTo>
                      <a:pt x="171" y="191"/>
                    </a:lnTo>
                    <a:lnTo>
                      <a:pt x="175" y="200"/>
                    </a:lnTo>
                    <a:lnTo>
                      <a:pt x="179" y="211"/>
                    </a:lnTo>
                    <a:lnTo>
                      <a:pt x="179" y="211"/>
                    </a:lnTo>
                    <a:lnTo>
                      <a:pt x="180" y="222"/>
                    </a:lnTo>
                    <a:lnTo>
                      <a:pt x="179" y="233"/>
                    </a:lnTo>
                    <a:lnTo>
                      <a:pt x="177" y="244"/>
                    </a:lnTo>
                    <a:lnTo>
                      <a:pt x="171" y="254"/>
                    </a:lnTo>
                    <a:lnTo>
                      <a:pt x="171" y="254"/>
                    </a:lnTo>
                    <a:lnTo>
                      <a:pt x="166" y="261"/>
                    </a:lnTo>
                    <a:lnTo>
                      <a:pt x="158" y="267"/>
                    </a:lnTo>
                    <a:lnTo>
                      <a:pt x="237" y="267"/>
                    </a:lnTo>
                    <a:lnTo>
                      <a:pt x="237" y="267"/>
                    </a:lnTo>
                    <a:lnTo>
                      <a:pt x="230" y="261"/>
                    </a:lnTo>
                    <a:lnTo>
                      <a:pt x="225" y="254"/>
                    </a:lnTo>
                    <a:lnTo>
                      <a:pt x="225" y="254"/>
                    </a:lnTo>
                    <a:lnTo>
                      <a:pt x="219" y="244"/>
                    </a:lnTo>
                    <a:lnTo>
                      <a:pt x="217" y="233"/>
                    </a:lnTo>
                    <a:lnTo>
                      <a:pt x="215" y="222"/>
                    </a:lnTo>
                    <a:lnTo>
                      <a:pt x="217" y="211"/>
                    </a:lnTo>
                    <a:lnTo>
                      <a:pt x="217" y="211"/>
                    </a:lnTo>
                    <a:lnTo>
                      <a:pt x="219" y="200"/>
                    </a:lnTo>
                    <a:lnTo>
                      <a:pt x="225" y="191"/>
                    </a:lnTo>
                    <a:lnTo>
                      <a:pt x="232" y="182"/>
                    </a:lnTo>
                    <a:lnTo>
                      <a:pt x="241" y="175"/>
                    </a:lnTo>
                    <a:lnTo>
                      <a:pt x="296" y="138"/>
                    </a:lnTo>
                    <a:lnTo>
                      <a:pt x="280" y="92"/>
                    </a:lnTo>
                    <a:lnTo>
                      <a:pt x="309" y="92"/>
                    </a:lnTo>
                    <a:lnTo>
                      <a:pt x="329" y="149"/>
                    </a:lnTo>
                    <a:lnTo>
                      <a:pt x="300" y="169"/>
                    </a:lnTo>
                    <a:lnTo>
                      <a:pt x="256" y="198"/>
                    </a:lnTo>
                    <a:lnTo>
                      <a:pt x="256" y="198"/>
                    </a:lnTo>
                    <a:lnTo>
                      <a:pt x="250" y="202"/>
                    </a:lnTo>
                    <a:lnTo>
                      <a:pt x="247" y="206"/>
                    </a:lnTo>
                    <a:lnTo>
                      <a:pt x="245" y="211"/>
                    </a:lnTo>
                    <a:lnTo>
                      <a:pt x="243" y="217"/>
                    </a:lnTo>
                    <a:lnTo>
                      <a:pt x="243" y="222"/>
                    </a:lnTo>
                    <a:lnTo>
                      <a:pt x="243" y="228"/>
                    </a:lnTo>
                    <a:lnTo>
                      <a:pt x="245" y="233"/>
                    </a:lnTo>
                    <a:lnTo>
                      <a:pt x="247" y="239"/>
                    </a:lnTo>
                    <a:lnTo>
                      <a:pt x="247" y="239"/>
                    </a:lnTo>
                    <a:lnTo>
                      <a:pt x="250" y="243"/>
                    </a:lnTo>
                    <a:lnTo>
                      <a:pt x="256" y="246"/>
                    </a:lnTo>
                    <a:lnTo>
                      <a:pt x="267" y="252"/>
                    </a:lnTo>
                    <a:lnTo>
                      <a:pt x="272" y="252"/>
                    </a:lnTo>
                    <a:lnTo>
                      <a:pt x="278" y="252"/>
                    </a:lnTo>
                    <a:lnTo>
                      <a:pt x="283" y="250"/>
                    </a:lnTo>
                    <a:lnTo>
                      <a:pt x="289" y="246"/>
                    </a:lnTo>
                    <a:lnTo>
                      <a:pt x="381" y="186"/>
                    </a:lnTo>
                    <a:lnTo>
                      <a:pt x="381" y="186"/>
                    </a:lnTo>
                    <a:lnTo>
                      <a:pt x="387" y="182"/>
                    </a:lnTo>
                    <a:lnTo>
                      <a:pt x="390" y="176"/>
                    </a:lnTo>
                    <a:lnTo>
                      <a:pt x="394" y="167"/>
                    </a:lnTo>
                    <a:lnTo>
                      <a:pt x="396" y="158"/>
                    </a:lnTo>
                    <a:lnTo>
                      <a:pt x="394" y="151"/>
                    </a:lnTo>
                    <a:lnTo>
                      <a:pt x="394" y="15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23" name="Freeform 109"/>
              <p:cNvSpPr>
                <a:spLocks/>
              </p:cNvSpPr>
              <p:nvPr/>
            </p:nvSpPr>
            <p:spPr bwMode="auto">
              <a:xfrm>
                <a:off x="4940301" y="366713"/>
                <a:ext cx="249238" cy="146050"/>
              </a:xfrm>
              <a:custGeom>
                <a:avLst/>
                <a:gdLst>
                  <a:gd name="T0" fmla="*/ 103 w 157"/>
                  <a:gd name="T1" fmla="*/ 0 h 92"/>
                  <a:gd name="T2" fmla="*/ 103 w 157"/>
                  <a:gd name="T3" fmla="*/ 0 h 92"/>
                  <a:gd name="T4" fmla="*/ 100 w 157"/>
                  <a:gd name="T5" fmla="*/ 8 h 92"/>
                  <a:gd name="T6" fmla="*/ 94 w 157"/>
                  <a:gd name="T7" fmla="*/ 11 h 92"/>
                  <a:gd name="T8" fmla="*/ 87 w 157"/>
                  <a:gd name="T9" fmla="*/ 15 h 92"/>
                  <a:gd name="T10" fmla="*/ 79 w 157"/>
                  <a:gd name="T11" fmla="*/ 17 h 92"/>
                  <a:gd name="T12" fmla="*/ 79 w 157"/>
                  <a:gd name="T13" fmla="*/ 17 h 92"/>
                  <a:gd name="T14" fmla="*/ 70 w 157"/>
                  <a:gd name="T15" fmla="*/ 15 h 92"/>
                  <a:gd name="T16" fmla="*/ 63 w 157"/>
                  <a:gd name="T17" fmla="*/ 11 h 92"/>
                  <a:gd name="T18" fmla="*/ 57 w 157"/>
                  <a:gd name="T19" fmla="*/ 8 h 92"/>
                  <a:gd name="T20" fmla="*/ 54 w 157"/>
                  <a:gd name="T21" fmla="*/ 0 h 92"/>
                  <a:gd name="T22" fmla="*/ 2 w 157"/>
                  <a:gd name="T23" fmla="*/ 0 h 92"/>
                  <a:gd name="T24" fmla="*/ 2 w 157"/>
                  <a:gd name="T25" fmla="*/ 0 h 92"/>
                  <a:gd name="T26" fmla="*/ 0 w 157"/>
                  <a:gd name="T27" fmla="*/ 13 h 92"/>
                  <a:gd name="T28" fmla="*/ 0 w 157"/>
                  <a:gd name="T29" fmla="*/ 13 h 92"/>
                  <a:gd name="T30" fmla="*/ 2 w 157"/>
                  <a:gd name="T31" fmla="*/ 30 h 92"/>
                  <a:gd name="T32" fmla="*/ 8 w 157"/>
                  <a:gd name="T33" fmla="*/ 44 h 92"/>
                  <a:gd name="T34" fmla="*/ 15 w 157"/>
                  <a:gd name="T35" fmla="*/ 57 h 92"/>
                  <a:gd name="T36" fmla="*/ 24 w 157"/>
                  <a:gd name="T37" fmla="*/ 68 h 92"/>
                  <a:gd name="T38" fmla="*/ 35 w 157"/>
                  <a:gd name="T39" fmla="*/ 79 h 92"/>
                  <a:gd name="T40" fmla="*/ 48 w 157"/>
                  <a:gd name="T41" fmla="*/ 87 h 92"/>
                  <a:gd name="T42" fmla="*/ 63 w 157"/>
                  <a:gd name="T43" fmla="*/ 90 h 92"/>
                  <a:gd name="T44" fmla="*/ 79 w 157"/>
                  <a:gd name="T45" fmla="*/ 92 h 92"/>
                  <a:gd name="T46" fmla="*/ 79 w 157"/>
                  <a:gd name="T47" fmla="*/ 92 h 92"/>
                  <a:gd name="T48" fmla="*/ 94 w 157"/>
                  <a:gd name="T49" fmla="*/ 90 h 92"/>
                  <a:gd name="T50" fmla="*/ 109 w 157"/>
                  <a:gd name="T51" fmla="*/ 87 h 92"/>
                  <a:gd name="T52" fmla="*/ 122 w 157"/>
                  <a:gd name="T53" fmla="*/ 79 h 92"/>
                  <a:gd name="T54" fmla="*/ 135 w 157"/>
                  <a:gd name="T55" fmla="*/ 68 h 92"/>
                  <a:gd name="T56" fmla="*/ 144 w 157"/>
                  <a:gd name="T57" fmla="*/ 57 h 92"/>
                  <a:gd name="T58" fmla="*/ 151 w 157"/>
                  <a:gd name="T59" fmla="*/ 44 h 92"/>
                  <a:gd name="T60" fmla="*/ 155 w 157"/>
                  <a:gd name="T61" fmla="*/ 30 h 92"/>
                  <a:gd name="T62" fmla="*/ 157 w 157"/>
                  <a:gd name="T63" fmla="*/ 13 h 92"/>
                  <a:gd name="T64" fmla="*/ 157 w 157"/>
                  <a:gd name="T65" fmla="*/ 13 h 92"/>
                  <a:gd name="T66" fmla="*/ 155 w 157"/>
                  <a:gd name="T67" fmla="*/ 0 h 92"/>
                  <a:gd name="T68" fmla="*/ 103 w 157"/>
                  <a:gd name="T69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7" h="92">
                    <a:moveTo>
                      <a:pt x="103" y="0"/>
                    </a:moveTo>
                    <a:lnTo>
                      <a:pt x="103" y="0"/>
                    </a:lnTo>
                    <a:lnTo>
                      <a:pt x="100" y="8"/>
                    </a:lnTo>
                    <a:lnTo>
                      <a:pt x="94" y="11"/>
                    </a:lnTo>
                    <a:lnTo>
                      <a:pt x="87" y="15"/>
                    </a:lnTo>
                    <a:lnTo>
                      <a:pt x="79" y="17"/>
                    </a:lnTo>
                    <a:lnTo>
                      <a:pt x="79" y="17"/>
                    </a:lnTo>
                    <a:lnTo>
                      <a:pt x="70" y="15"/>
                    </a:lnTo>
                    <a:lnTo>
                      <a:pt x="63" y="11"/>
                    </a:lnTo>
                    <a:lnTo>
                      <a:pt x="57" y="8"/>
                    </a:lnTo>
                    <a:lnTo>
                      <a:pt x="54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2" y="30"/>
                    </a:lnTo>
                    <a:lnTo>
                      <a:pt x="8" y="44"/>
                    </a:lnTo>
                    <a:lnTo>
                      <a:pt x="15" y="57"/>
                    </a:lnTo>
                    <a:lnTo>
                      <a:pt x="24" y="68"/>
                    </a:lnTo>
                    <a:lnTo>
                      <a:pt x="35" y="79"/>
                    </a:lnTo>
                    <a:lnTo>
                      <a:pt x="48" y="87"/>
                    </a:lnTo>
                    <a:lnTo>
                      <a:pt x="63" y="90"/>
                    </a:lnTo>
                    <a:lnTo>
                      <a:pt x="79" y="92"/>
                    </a:lnTo>
                    <a:lnTo>
                      <a:pt x="79" y="92"/>
                    </a:lnTo>
                    <a:lnTo>
                      <a:pt x="94" y="90"/>
                    </a:lnTo>
                    <a:lnTo>
                      <a:pt x="109" y="87"/>
                    </a:lnTo>
                    <a:lnTo>
                      <a:pt x="122" y="79"/>
                    </a:lnTo>
                    <a:lnTo>
                      <a:pt x="135" y="68"/>
                    </a:lnTo>
                    <a:lnTo>
                      <a:pt x="144" y="57"/>
                    </a:lnTo>
                    <a:lnTo>
                      <a:pt x="151" y="44"/>
                    </a:lnTo>
                    <a:lnTo>
                      <a:pt x="155" y="30"/>
                    </a:lnTo>
                    <a:lnTo>
                      <a:pt x="157" y="13"/>
                    </a:lnTo>
                    <a:lnTo>
                      <a:pt x="157" y="13"/>
                    </a:lnTo>
                    <a:lnTo>
                      <a:pt x="155" y="0"/>
                    </a:lnTo>
                    <a:lnTo>
                      <a:pt x="10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24" name="Freeform 110"/>
              <p:cNvSpPr>
                <a:spLocks/>
              </p:cNvSpPr>
              <p:nvPr/>
            </p:nvSpPr>
            <p:spPr bwMode="auto">
              <a:xfrm>
                <a:off x="4953001" y="265113"/>
                <a:ext cx="223838" cy="73025"/>
              </a:xfrm>
              <a:custGeom>
                <a:avLst/>
                <a:gdLst>
                  <a:gd name="T0" fmla="*/ 44 w 141"/>
                  <a:gd name="T1" fmla="*/ 46 h 46"/>
                  <a:gd name="T2" fmla="*/ 44 w 141"/>
                  <a:gd name="T3" fmla="*/ 46 h 46"/>
                  <a:gd name="T4" fmla="*/ 48 w 141"/>
                  <a:gd name="T5" fmla="*/ 37 h 46"/>
                  <a:gd name="T6" fmla="*/ 53 w 141"/>
                  <a:gd name="T7" fmla="*/ 31 h 46"/>
                  <a:gd name="T8" fmla="*/ 60 w 141"/>
                  <a:gd name="T9" fmla="*/ 26 h 46"/>
                  <a:gd name="T10" fmla="*/ 71 w 141"/>
                  <a:gd name="T11" fmla="*/ 24 h 46"/>
                  <a:gd name="T12" fmla="*/ 71 w 141"/>
                  <a:gd name="T13" fmla="*/ 24 h 46"/>
                  <a:gd name="T14" fmla="*/ 81 w 141"/>
                  <a:gd name="T15" fmla="*/ 26 h 46"/>
                  <a:gd name="T16" fmla="*/ 88 w 141"/>
                  <a:gd name="T17" fmla="*/ 31 h 46"/>
                  <a:gd name="T18" fmla="*/ 94 w 141"/>
                  <a:gd name="T19" fmla="*/ 37 h 46"/>
                  <a:gd name="T20" fmla="*/ 97 w 141"/>
                  <a:gd name="T21" fmla="*/ 46 h 46"/>
                  <a:gd name="T22" fmla="*/ 141 w 141"/>
                  <a:gd name="T23" fmla="*/ 46 h 46"/>
                  <a:gd name="T24" fmla="*/ 141 w 141"/>
                  <a:gd name="T25" fmla="*/ 46 h 46"/>
                  <a:gd name="T26" fmla="*/ 136 w 141"/>
                  <a:gd name="T27" fmla="*/ 37 h 46"/>
                  <a:gd name="T28" fmla="*/ 130 w 141"/>
                  <a:gd name="T29" fmla="*/ 27 h 46"/>
                  <a:gd name="T30" fmla="*/ 123 w 141"/>
                  <a:gd name="T31" fmla="*/ 20 h 46"/>
                  <a:gd name="T32" fmla="*/ 114 w 141"/>
                  <a:gd name="T33" fmla="*/ 13 h 46"/>
                  <a:gd name="T34" fmla="*/ 105 w 141"/>
                  <a:gd name="T35" fmla="*/ 7 h 46"/>
                  <a:gd name="T36" fmla="*/ 94 w 141"/>
                  <a:gd name="T37" fmla="*/ 4 h 46"/>
                  <a:gd name="T38" fmla="*/ 83 w 141"/>
                  <a:gd name="T39" fmla="*/ 2 h 46"/>
                  <a:gd name="T40" fmla="*/ 71 w 141"/>
                  <a:gd name="T41" fmla="*/ 0 h 46"/>
                  <a:gd name="T42" fmla="*/ 71 w 141"/>
                  <a:gd name="T43" fmla="*/ 0 h 46"/>
                  <a:gd name="T44" fmla="*/ 59 w 141"/>
                  <a:gd name="T45" fmla="*/ 2 h 46"/>
                  <a:gd name="T46" fmla="*/ 48 w 141"/>
                  <a:gd name="T47" fmla="*/ 4 h 46"/>
                  <a:gd name="T48" fmla="*/ 38 w 141"/>
                  <a:gd name="T49" fmla="*/ 7 h 46"/>
                  <a:gd name="T50" fmla="*/ 27 w 141"/>
                  <a:gd name="T51" fmla="*/ 13 h 46"/>
                  <a:gd name="T52" fmla="*/ 20 w 141"/>
                  <a:gd name="T53" fmla="*/ 20 h 46"/>
                  <a:gd name="T54" fmla="*/ 13 w 141"/>
                  <a:gd name="T55" fmla="*/ 27 h 46"/>
                  <a:gd name="T56" fmla="*/ 5 w 141"/>
                  <a:gd name="T57" fmla="*/ 37 h 46"/>
                  <a:gd name="T58" fmla="*/ 0 w 141"/>
                  <a:gd name="T59" fmla="*/ 46 h 46"/>
                  <a:gd name="T60" fmla="*/ 44 w 141"/>
                  <a:gd name="T6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1" h="46">
                    <a:moveTo>
                      <a:pt x="44" y="46"/>
                    </a:moveTo>
                    <a:lnTo>
                      <a:pt x="44" y="46"/>
                    </a:lnTo>
                    <a:lnTo>
                      <a:pt x="48" y="37"/>
                    </a:lnTo>
                    <a:lnTo>
                      <a:pt x="53" y="31"/>
                    </a:lnTo>
                    <a:lnTo>
                      <a:pt x="60" y="26"/>
                    </a:lnTo>
                    <a:lnTo>
                      <a:pt x="71" y="24"/>
                    </a:lnTo>
                    <a:lnTo>
                      <a:pt x="71" y="24"/>
                    </a:lnTo>
                    <a:lnTo>
                      <a:pt x="81" y="26"/>
                    </a:lnTo>
                    <a:lnTo>
                      <a:pt x="88" y="31"/>
                    </a:lnTo>
                    <a:lnTo>
                      <a:pt x="94" y="37"/>
                    </a:lnTo>
                    <a:lnTo>
                      <a:pt x="97" y="46"/>
                    </a:lnTo>
                    <a:lnTo>
                      <a:pt x="141" y="46"/>
                    </a:lnTo>
                    <a:lnTo>
                      <a:pt x="141" y="46"/>
                    </a:lnTo>
                    <a:lnTo>
                      <a:pt x="136" y="37"/>
                    </a:lnTo>
                    <a:lnTo>
                      <a:pt x="130" y="27"/>
                    </a:lnTo>
                    <a:lnTo>
                      <a:pt x="123" y="20"/>
                    </a:lnTo>
                    <a:lnTo>
                      <a:pt x="114" y="13"/>
                    </a:lnTo>
                    <a:lnTo>
                      <a:pt x="105" y="7"/>
                    </a:lnTo>
                    <a:lnTo>
                      <a:pt x="94" y="4"/>
                    </a:lnTo>
                    <a:lnTo>
                      <a:pt x="83" y="2"/>
                    </a:lnTo>
                    <a:lnTo>
                      <a:pt x="71" y="0"/>
                    </a:lnTo>
                    <a:lnTo>
                      <a:pt x="71" y="0"/>
                    </a:lnTo>
                    <a:lnTo>
                      <a:pt x="59" y="2"/>
                    </a:lnTo>
                    <a:lnTo>
                      <a:pt x="48" y="4"/>
                    </a:lnTo>
                    <a:lnTo>
                      <a:pt x="38" y="7"/>
                    </a:lnTo>
                    <a:lnTo>
                      <a:pt x="27" y="13"/>
                    </a:lnTo>
                    <a:lnTo>
                      <a:pt x="20" y="20"/>
                    </a:lnTo>
                    <a:lnTo>
                      <a:pt x="13" y="27"/>
                    </a:lnTo>
                    <a:lnTo>
                      <a:pt x="5" y="37"/>
                    </a:lnTo>
                    <a:lnTo>
                      <a:pt x="0" y="46"/>
                    </a:lnTo>
                    <a:lnTo>
                      <a:pt x="4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</p:grpSp>
        <p:sp>
          <p:nvSpPr>
            <p:cNvPr id="68" name="Oval 67"/>
            <p:cNvSpPr/>
            <p:nvPr/>
          </p:nvSpPr>
          <p:spPr>
            <a:xfrm>
              <a:off x="4776112" y="3465237"/>
              <a:ext cx="212068" cy="207886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 err="1">
                <a:solidFill>
                  <a:schemeClr val="tx1"/>
                </a:solidFill>
              </a:endParaRPr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4796723" y="3490477"/>
              <a:ext cx="170846" cy="157405"/>
              <a:chOff x="5962650" y="285750"/>
              <a:chExt cx="1135063" cy="1066800"/>
            </a:xfrm>
            <a:solidFill>
              <a:schemeClr val="accent1"/>
            </a:solidFill>
          </p:grpSpPr>
          <p:sp>
            <p:nvSpPr>
              <p:cNvPr id="112" name="Rectangle 131"/>
              <p:cNvSpPr>
                <a:spLocks noChangeArrowheads="1"/>
              </p:cNvSpPr>
              <p:nvPr/>
            </p:nvSpPr>
            <p:spPr bwMode="auto">
              <a:xfrm>
                <a:off x="5962650" y="919163"/>
                <a:ext cx="717550" cy="650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13" name="Freeform 132"/>
              <p:cNvSpPr>
                <a:spLocks/>
              </p:cNvSpPr>
              <p:nvPr/>
            </p:nvSpPr>
            <p:spPr bwMode="auto">
              <a:xfrm>
                <a:off x="6527800" y="692150"/>
                <a:ext cx="169863" cy="169863"/>
              </a:xfrm>
              <a:custGeom>
                <a:avLst/>
                <a:gdLst>
                  <a:gd name="T0" fmla="*/ 0 w 107"/>
                  <a:gd name="T1" fmla="*/ 53 h 107"/>
                  <a:gd name="T2" fmla="*/ 0 w 107"/>
                  <a:gd name="T3" fmla="*/ 53 h 107"/>
                  <a:gd name="T4" fmla="*/ 0 w 107"/>
                  <a:gd name="T5" fmla="*/ 42 h 107"/>
                  <a:gd name="T6" fmla="*/ 3 w 107"/>
                  <a:gd name="T7" fmla="*/ 32 h 107"/>
                  <a:gd name="T8" fmla="*/ 9 w 107"/>
                  <a:gd name="T9" fmla="*/ 23 h 107"/>
                  <a:gd name="T10" fmla="*/ 14 w 107"/>
                  <a:gd name="T11" fmla="*/ 16 h 107"/>
                  <a:gd name="T12" fmla="*/ 23 w 107"/>
                  <a:gd name="T13" fmla="*/ 9 h 107"/>
                  <a:gd name="T14" fmla="*/ 32 w 107"/>
                  <a:gd name="T15" fmla="*/ 3 h 107"/>
                  <a:gd name="T16" fmla="*/ 41 w 107"/>
                  <a:gd name="T17" fmla="*/ 0 h 107"/>
                  <a:gd name="T18" fmla="*/ 53 w 107"/>
                  <a:gd name="T19" fmla="*/ 0 h 107"/>
                  <a:gd name="T20" fmla="*/ 53 w 107"/>
                  <a:gd name="T21" fmla="*/ 0 h 107"/>
                  <a:gd name="T22" fmla="*/ 64 w 107"/>
                  <a:gd name="T23" fmla="*/ 0 h 107"/>
                  <a:gd name="T24" fmla="*/ 73 w 107"/>
                  <a:gd name="T25" fmla="*/ 3 h 107"/>
                  <a:gd name="T26" fmla="*/ 82 w 107"/>
                  <a:gd name="T27" fmla="*/ 9 h 107"/>
                  <a:gd name="T28" fmla="*/ 91 w 107"/>
                  <a:gd name="T29" fmla="*/ 16 h 107"/>
                  <a:gd name="T30" fmla="*/ 96 w 107"/>
                  <a:gd name="T31" fmla="*/ 23 h 107"/>
                  <a:gd name="T32" fmla="*/ 102 w 107"/>
                  <a:gd name="T33" fmla="*/ 32 h 107"/>
                  <a:gd name="T34" fmla="*/ 105 w 107"/>
                  <a:gd name="T35" fmla="*/ 42 h 107"/>
                  <a:gd name="T36" fmla="*/ 107 w 107"/>
                  <a:gd name="T37" fmla="*/ 53 h 107"/>
                  <a:gd name="T38" fmla="*/ 107 w 107"/>
                  <a:gd name="T39" fmla="*/ 53 h 107"/>
                  <a:gd name="T40" fmla="*/ 105 w 107"/>
                  <a:gd name="T41" fmla="*/ 64 h 107"/>
                  <a:gd name="T42" fmla="*/ 102 w 107"/>
                  <a:gd name="T43" fmla="*/ 73 h 107"/>
                  <a:gd name="T44" fmla="*/ 96 w 107"/>
                  <a:gd name="T45" fmla="*/ 82 h 107"/>
                  <a:gd name="T46" fmla="*/ 91 w 107"/>
                  <a:gd name="T47" fmla="*/ 91 h 107"/>
                  <a:gd name="T48" fmla="*/ 82 w 107"/>
                  <a:gd name="T49" fmla="*/ 98 h 107"/>
                  <a:gd name="T50" fmla="*/ 73 w 107"/>
                  <a:gd name="T51" fmla="*/ 101 h 107"/>
                  <a:gd name="T52" fmla="*/ 64 w 107"/>
                  <a:gd name="T53" fmla="*/ 105 h 107"/>
                  <a:gd name="T54" fmla="*/ 53 w 107"/>
                  <a:gd name="T55" fmla="*/ 107 h 107"/>
                  <a:gd name="T56" fmla="*/ 53 w 107"/>
                  <a:gd name="T57" fmla="*/ 107 h 107"/>
                  <a:gd name="T58" fmla="*/ 41 w 107"/>
                  <a:gd name="T59" fmla="*/ 105 h 107"/>
                  <a:gd name="T60" fmla="*/ 32 w 107"/>
                  <a:gd name="T61" fmla="*/ 101 h 107"/>
                  <a:gd name="T62" fmla="*/ 23 w 107"/>
                  <a:gd name="T63" fmla="*/ 98 h 107"/>
                  <a:gd name="T64" fmla="*/ 14 w 107"/>
                  <a:gd name="T65" fmla="*/ 91 h 107"/>
                  <a:gd name="T66" fmla="*/ 9 w 107"/>
                  <a:gd name="T67" fmla="*/ 82 h 107"/>
                  <a:gd name="T68" fmla="*/ 3 w 107"/>
                  <a:gd name="T69" fmla="*/ 73 h 107"/>
                  <a:gd name="T70" fmla="*/ 0 w 107"/>
                  <a:gd name="T71" fmla="*/ 64 h 107"/>
                  <a:gd name="T72" fmla="*/ 0 w 107"/>
                  <a:gd name="T73" fmla="*/ 53 h 107"/>
                  <a:gd name="T74" fmla="*/ 0 w 107"/>
                  <a:gd name="T75" fmla="*/ 53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7" h="107">
                    <a:moveTo>
                      <a:pt x="0" y="53"/>
                    </a:moveTo>
                    <a:lnTo>
                      <a:pt x="0" y="53"/>
                    </a:lnTo>
                    <a:lnTo>
                      <a:pt x="0" y="42"/>
                    </a:lnTo>
                    <a:lnTo>
                      <a:pt x="3" y="32"/>
                    </a:lnTo>
                    <a:lnTo>
                      <a:pt x="9" y="23"/>
                    </a:lnTo>
                    <a:lnTo>
                      <a:pt x="14" y="16"/>
                    </a:lnTo>
                    <a:lnTo>
                      <a:pt x="23" y="9"/>
                    </a:lnTo>
                    <a:lnTo>
                      <a:pt x="32" y="3"/>
                    </a:lnTo>
                    <a:lnTo>
                      <a:pt x="41" y="0"/>
                    </a:lnTo>
                    <a:lnTo>
                      <a:pt x="53" y="0"/>
                    </a:lnTo>
                    <a:lnTo>
                      <a:pt x="53" y="0"/>
                    </a:lnTo>
                    <a:lnTo>
                      <a:pt x="64" y="0"/>
                    </a:lnTo>
                    <a:lnTo>
                      <a:pt x="73" y="3"/>
                    </a:lnTo>
                    <a:lnTo>
                      <a:pt x="82" y="9"/>
                    </a:lnTo>
                    <a:lnTo>
                      <a:pt x="91" y="16"/>
                    </a:lnTo>
                    <a:lnTo>
                      <a:pt x="96" y="23"/>
                    </a:lnTo>
                    <a:lnTo>
                      <a:pt x="102" y="32"/>
                    </a:lnTo>
                    <a:lnTo>
                      <a:pt x="105" y="42"/>
                    </a:lnTo>
                    <a:lnTo>
                      <a:pt x="107" y="53"/>
                    </a:lnTo>
                    <a:lnTo>
                      <a:pt x="107" y="53"/>
                    </a:lnTo>
                    <a:lnTo>
                      <a:pt x="105" y="64"/>
                    </a:lnTo>
                    <a:lnTo>
                      <a:pt x="102" y="73"/>
                    </a:lnTo>
                    <a:lnTo>
                      <a:pt x="96" y="82"/>
                    </a:lnTo>
                    <a:lnTo>
                      <a:pt x="91" y="91"/>
                    </a:lnTo>
                    <a:lnTo>
                      <a:pt x="82" y="98"/>
                    </a:lnTo>
                    <a:lnTo>
                      <a:pt x="73" y="101"/>
                    </a:lnTo>
                    <a:lnTo>
                      <a:pt x="64" y="105"/>
                    </a:lnTo>
                    <a:lnTo>
                      <a:pt x="53" y="107"/>
                    </a:lnTo>
                    <a:lnTo>
                      <a:pt x="53" y="107"/>
                    </a:lnTo>
                    <a:lnTo>
                      <a:pt x="41" y="105"/>
                    </a:lnTo>
                    <a:lnTo>
                      <a:pt x="32" y="101"/>
                    </a:lnTo>
                    <a:lnTo>
                      <a:pt x="23" y="98"/>
                    </a:lnTo>
                    <a:lnTo>
                      <a:pt x="14" y="91"/>
                    </a:lnTo>
                    <a:lnTo>
                      <a:pt x="9" y="82"/>
                    </a:lnTo>
                    <a:lnTo>
                      <a:pt x="3" y="73"/>
                    </a:lnTo>
                    <a:lnTo>
                      <a:pt x="0" y="64"/>
                    </a:lnTo>
                    <a:lnTo>
                      <a:pt x="0" y="53"/>
                    </a:lnTo>
                    <a:lnTo>
                      <a:pt x="0" y="5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14" name="Freeform 133"/>
              <p:cNvSpPr>
                <a:spLocks/>
              </p:cNvSpPr>
              <p:nvPr/>
            </p:nvSpPr>
            <p:spPr bwMode="auto">
              <a:xfrm>
                <a:off x="5962650" y="688975"/>
                <a:ext cx="541338" cy="173038"/>
              </a:xfrm>
              <a:custGeom>
                <a:avLst/>
                <a:gdLst>
                  <a:gd name="T0" fmla="*/ 286 w 341"/>
                  <a:gd name="T1" fmla="*/ 0 h 109"/>
                  <a:gd name="T2" fmla="*/ 107 w 341"/>
                  <a:gd name="T3" fmla="*/ 0 h 109"/>
                  <a:gd name="T4" fmla="*/ 0 w 341"/>
                  <a:gd name="T5" fmla="*/ 16 h 109"/>
                  <a:gd name="T6" fmla="*/ 0 w 341"/>
                  <a:gd name="T7" fmla="*/ 109 h 109"/>
                  <a:gd name="T8" fmla="*/ 54 w 341"/>
                  <a:gd name="T9" fmla="*/ 109 h 109"/>
                  <a:gd name="T10" fmla="*/ 54 w 341"/>
                  <a:gd name="T11" fmla="*/ 109 h 109"/>
                  <a:gd name="T12" fmla="*/ 48 w 341"/>
                  <a:gd name="T13" fmla="*/ 96 h 109"/>
                  <a:gd name="T14" fmla="*/ 46 w 341"/>
                  <a:gd name="T15" fmla="*/ 84 h 109"/>
                  <a:gd name="T16" fmla="*/ 46 w 341"/>
                  <a:gd name="T17" fmla="*/ 84 h 109"/>
                  <a:gd name="T18" fmla="*/ 48 w 341"/>
                  <a:gd name="T19" fmla="*/ 75 h 109"/>
                  <a:gd name="T20" fmla="*/ 50 w 341"/>
                  <a:gd name="T21" fmla="*/ 68 h 109"/>
                  <a:gd name="T22" fmla="*/ 55 w 341"/>
                  <a:gd name="T23" fmla="*/ 59 h 109"/>
                  <a:gd name="T24" fmla="*/ 61 w 341"/>
                  <a:gd name="T25" fmla="*/ 52 h 109"/>
                  <a:gd name="T26" fmla="*/ 68 w 341"/>
                  <a:gd name="T27" fmla="*/ 46 h 109"/>
                  <a:gd name="T28" fmla="*/ 75 w 341"/>
                  <a:gd name="T29" fmla="*/ 43 h 109"/>
                  <a:gd name="T30" fmla="*/ 84 w 341"/>
                  <a:gd name="T31" fmla="*/ 41 h 109"/>
                  <a:gd name="T32" fmla="*/ 93 w 341"/>
                  <a:gd name="T33" fmla="*/ 39 h 109"/>
                  <a:gd name="T34" fmla="*/ 191 w 341"/>
                  <a:gd name="T35" fmla="*/ 39 h 109"/>
                  <a:gd name="T36" fmla="*/ 270 w 341"/>
                  <a:gd name="T37" fmla="*/ 23 h 109"/>
                  <a:gd name="T38" fmla="*/ 275 w 341"/>
                  <a:gd name="T39" fmla="*/ 44 h 109"/>
                  <a:gd name="T40" fmla="*/ 193 w 341"/>
                  <a:gd name="T41" fmla="*/ 61 h 109"/>
                  <a:gd name="T42" fmla="*/ 93 w 341"/>
                  <a:gd name="T43" fmla="*/ 61 h 109"/>
                  <a:gd name="T44" fmla="*/ 93 w 341"/>
                  <a:gd name="T45" fmla="*/ 61 h 109"/>
                  <a:gd name="T46" fmla="*/ 84 w 341"/>
                  <a:gd name="T47" fmla="*/ 62 h 109"/>
                  <a:gd name="T48" fmla="*/ 75 w 341"/>
                  <a:gd name="T49" fmla="*/ 68 h 109"/>
                  <a:gd name="T50" fmla="*/ 70 w 341"/>
                  <a:gd name="T51" fmla="*/ 75 h 109"/>
                  <a:gd name="T52" fmla="*/ 68 w 341"/>
                  <a:gd name="T53" fmla="*/ 84 h 109"/>
                  <a:gd name="T54" fmla="*/ 68 w 341"/>
                  <a:gd name="T55" fmla="*/ 84 h 109"/>
                  <a:gd name="T56" fmla="*/ 70 w 341"/>
                  <a:gd name="T57" fmla="*/ 95 h 109"/>
                  <a:gd name="T58" fmla="*/ 75 w 341"/>
                  <a:gd name="T59" fmla="*/ 102 h 109"/>
                  <a:gd name="T60" fmla="*/ 82 w 341"/>
                  <a:gd name="T61" fmla="*/ 107 h 109"/>
                  <a:gd name="T62" fmla="*/ 93 w 341"/>
                  <a:gd name="T63" fmla="*/ 109 h 109"/>
                  <a:gd name="T64" fmla="*/ 286 w 341"/>
                  <a:gd name="T65" fmla="*/ 109 h 109"/>
                  <a:gd name="T66" fmla="*/ 286 w 341"/>
                  <a:gd name="T67" fmla="*/ 109 h 109"/>
                  <a:gd name="T68" fmla="*/ 299 w 341"/>
                  <a:gd name="T69" fmla="*/ 107 h 109"/>
                  <a:gd name="T70" fmla="*/ 307 w 341"/>
                  <a:gd name="T71" fmla="*/ 103 h 109"/>
                  <a:gd name="T72" fmla="*/ 316 w 341"/>
                  <a:gd name="T73" fmla="*/ 98 h 109"/>
                  <a:gd name="T74" fmla="*/ 325 w 341"/>
                  <a:gd name="T75" fmla="*/ 93 h 109"/>
                  <a:gd name="T76" fmla="*/ 332 w 341"/>
                  <a:gd name="T77" fmla="*/ 84 h 109"/>
                  <a:gd name="T78" fmla="*/ 336 w 341"/>
                  <a:gd name="T79" fmla="*/ 75 h 109"/>
                  <a:gd name="T80" fmla="*/ 340 w 341"/>
                  <a:gd name="T81" fmla="*/ 64 h 109"/>
                  <a:gd name="T82" fmla="*/ 341 w 341"/>
                  <a:gd name="T83" fmla="*/ 53 h 109"/>
                  <a:gd name="T84" fmla="*/ 341 w 341"/>
                  <a:gd name="T85" fmla="*/ 53 h 109"/>
                  <a:gd name="T86" fmla="*/ 340 w 341"/>
                  <a:gd name="T87" fmla="*/ 43 h 109"/>
                  <a:gd name="T88" fmla="*/ 336 w 341"/>
                  <a:gd name="T89" fmla="*/ 32 h 109"/>
                  <a:gd name="T90" fmla="*/ 332 w 341"/>
                  <a:gd name="T91" fmla="*/ 23 h 109"/>
                  <a:gd name="T92" fmla="*/ 325 w 341"/>
                  <a:gd name="T93" fmla="*/ 16 h 109"/>
                  <a:gd name="T94" fmla="*/ 316 w 341"/>
                  <a:gd name="T95" fmla="*/ 9 h 109"/>
                  <a:gd name="T96" fmla="*/ 307 w 341"/>
                  <a:gd name="T97" fmla="*/ 3 h 109"/>
                  <a:gd name="T98" fmla="*/ 297 w 341"/>
                  <a:gd name="T99" fmla="*/ 0 h 109"/>
                  <a:gd name="T100" fmla="*/ 286 w 341"/>
                  <a:gd name="T101" fmla="*/ 0 h 109"/>
                  <a:gd name="T102" fmla="*/ 286 w 341"/>
                  <a:gd name="T103" fmla="*/ 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41" h="109">
                    <a:moveTo>
                      <a:pt x="286" y="0"/>
                    </a:moveTo>
                    <a:lnTo>
                      <a:pt x="107" y="0"/>
                    </a:lnTo>
                    <a:lnTo>
                      <a:pt x="0" y="16"/>
                    </a:lnTo>
                    <a:lnTo>
                      <a:pt x="0" y="109"/>
                    </a:lnTo>
                    <a:lnTo>
                      <a:pt x="54" y="109"/>
                    </a:lnTo>
                    <a:lnTo>
                      <a:pt x="54" y="109"/>
                    </a:lnTo>
                    <a:lnTo>
                      <a:pt x="48" y="96"/>
                    </a:lnTo>
                    <a:lnTo>
                      <a:pt x="46" y="84"/>
                    </a:lnTo>
                    <a:lnTo>
                      <a:pt x="46" y="84"/>
                    </a:lnTo>
                    <a:lnTo>
                      <a:pt x="48" y="75"/>
                    </a:lnTo>
                    <a:lnTo>
                      <a:pt x="50" y="68"/>
                    </a:lnTo>
                    <a:lnTo>
                      <a:pt x="55" y="59"/>
                    </a:lnTo>
                    <a:lnTo>
                      <a:pt x="61" y="52"/>
                    </a:lnTo>
                    <a:lnTo>
                      <a:pt x="68" y="46"/>
                    </a:lnTo>
                    <a:lnTo>
                      <a:pt x="75" y="43"/>
                    </a:lnTo>
                    <a:lnTo>
                      <a:pt x="84" y="41"/>
                    </a:lnTo>
                    <a:lnTo>
                      <a:pt x="93" y="39"/>
                    </a:lnTo>
                    <a:lnTo>
                      <a:pt x="191" y="39"/>
                    </a:lnTo>
                    <a:lnTo>
                      <a:pt x="270" y="23"/>
                    </a:lnTo>
                    <a:lnTo>
                      <a:pt x="275" y="44"/>
                    </a:lnTo>
                    <a:lnTo>
                      <a:pt x="193" y="61"/>
                    </a:lnTo>
                    <a:lnTo>
                      <a:pt x="93" y="61"/>
                    </a:lnTo>
                    <a:lnTo>
                      <a:pt x="93" y="61"/>
                    </a:lnTo>
                    <a:lnTo>
                      <a:pt x="84" y="62"/>
                    </a:lnTo>
                    <a:lnTo>
                      <a:pt x="75" y="68"/>
                    </a:lnTo>
                    <a:lnTo>
                      <a:pt x="70" y="75"/>
                    </a:lnTo>
                    <a:lnTo>
                      <a:pt x="68" y="84"/>
                    </a:lnTo>
                    <a:lnTo>
                      <a:pt x="68" y="84"/>
                    </a:lnTo>
                    <a:lnTo>
                      <a:pt x="70" y="95"/>
                    </a:lnTo>
                    <a:lnTo>
                      <a:pt x="75" y="102"/>
                    </a:lnTo>
                    <a:lnTo>
                      <a:pt x="82" y="107"/>
                    </a:lnTo>
                    <a:lnTo>
                      <a:pt x="93" y="109"/>
                    </a:lnTo>
                    <a:lnTo>
                      <a:pt x="286" y="109"/>
                    </a:lnTo>
                    <a:lnTo>
                      <a:pt x="286" y="109"/>
                    </a:lnTo>
                    <a:lnTo>
                      <a:pt x="299" y="107"/>
                    </a:lnTo>
                    <a:lnTo>
                      <a:pt x="307" y="103"/>
                    </a:lnTo>
                    <a:lnTo>
                      <a:pt x="316" y="98"/>
                    </a:lnTo>
                    <a:lnTo>
                      <a:pt x="325" y="93"/>
                    </a:lnTo>
                    <a:lnTo>
                      <a:pt x="332" y="84"/>
                    </a:lnTo>
                    <a:lnTo>
                      <a:pt x="336" y="75"/>
                    </a:lnTo>
                    <a:lnTo>
                      <a:pt x="340" y="64"/>
                    </a:lnTo>
                    <a:lnTo>
                      <a:pt x="341" y="53"/>
                    </a:lnTo>
                    <a:lnTo>
                      <a:pt x="341" y="53"/>
                    </a:lnTo>
                    <a:lnTo>
                      <a:pt x="340" y="43"/>
                    </a:lnTo>
                    <a:lnTo>
                      <a:pt x="336" y="32"/>
                    </a:lnTo>
                    <a:lnTo>
                      <a:pt x="332" y="23"/>
                    </a:lnTo>
                    <a:lnTo>
                      <a:pt x="325" y="16"/>
                    </a:lnTo>
                    <a:lnTo>
                      <a:pt x="316" y="9"/>
                    </a:lnTo>
                    <a:lnTo>
                      <a:pt x="307" y="3"/>
                    </a:lnTo>
                    <a:lnTo>
                      <a:pt x="297" y="0"/>
                    </a:lnTo>
                    <a:lnTo>
                      <a:pt x="286" y="0"/>
                    </a:lnTo>
                    <a:lnTo>
                      <a:pt x="28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15" name="Freeform 134"/>
              <p:cNvSpPr>
                <a:spLocks/>
              </p:cNvSpPr>
              <p:nvPr/>
            </p:nvSpPr>
            <p:spPr bwMode="auto">
              <a:xfrm>
                <a:off x="6272213" y="476250"/>
                <a:ext cx="638175" cy="688975"/>
              </a:xfrm>
              <a:custGeom>
                <a:avLst/>
                <a:gdLst>
                  <a:gd name="T0" fmla="*/ 184 w 402"/>
                  <a:gd name="T1" fmla="*/ 434 h 434"/>
                  <a:gd name="T2" fmla="*/ 229 w 402"/>
                  <a:gd name="T3" fmla="*/ 429 h 434"/>
                  <a:gd name="T4" fmla="*/ 268 w 402"/>
                  <a:gd name="T5" fmla="*/ 416 h 434"/>
                  <a:gd name="T6" fmla="*/ 306 w 402"/>
                  <a:gd name="T7" fmla="*/ 397 h 434"/>
                  <a:gd name="T8" fmla="*/ 338 w 402"/>
                  <a:gd name="T9" fmla="*/ 370 h 434"/>
                  <a:gd name="T10" fmla="*/ 364 w 402"/>
                  <a:gd name="T11" fmla="*/ 338 h 434"/>
                  <a:gd name="T12" fmla="*/ 384 w 402"/>
                  <a:gd name="T13" fmla="*/ 302 h 434"/>
                  <a:gd name="T14" fmla="*/ 397 w 402"/>
                  <a:gd name="T15" fmla="*/ 261 h 434"/>
                  <a:gd name="T16" fmla="*/ 402 w 402"/>
                  <a:gd name="T17" fmla="*/ 218 h 434"/>
                  <a:gd name="T18" fmla="*/ 400 w 402"/>
                  <a:gd name="T19" fmla="*/ 195 h 434"/>
                  <a:gd name="T20" fmla="*/ 391 w 402"/>
                  <a:gd name="T21" fmla="*/ 152 h 434"/>
                  <a:gd name="T22" fmla="*/ 375 w 402"/>
                  <a:gd name="T23" fmla="*/ 114 h 434"/>
                  <a:gd name="T24" fmla="*/ 352 w 402"/>
                  <a:gd name="T25" fmla="*/ 78 h 434"/>
                  <a:gd name="T26" fmla="*/ 322 w 402"/>
                  <a:gd name="T27" fmla="*/ 50 h 434"/>
                  <a:gd name="T28" fmla="*/ 288 w 402"/>
                  <a:gd name="T29" fmla="*/ 27 h 434"/>
                  <a:gd name="T30" fmla="*/ 248 w 402"/>
                  <a:gd name="T31" fmla="*/ 10 h 434"/>
                  <a:gd name="T32" fmla="*/ 207 w 402"/>
                  <a:gd name="T33" fmla="*/ 2 h 434"/>
                  <a:gd name="T34" fmla="*/ 184 w 402"/>
                  <a:gd name="T35" fmla="*/ 0 h 434"/>
                  <a:gd name="T36" fmla="*/ 129 w 402"/>
                  <a:gd name="T37" fmla="*/ 7 h 434"/>
                  <a:gd name="T38" fmla="*/ 77 w 402"/>
                  <a:gd name="T39" fmla="*/ 28 h 434"/>
                  <a:gd name="T40" fmla="*/ 34 w 402"/>
                  <a:gd name="T41" fmla="*/ 62 h 434"/>
                  <a:gd name="T42" fmla="*/ 0 w 402"/>
                  <a:gd name="T43" fmla="*/ 103 h 434"/>
                  <a:gd name="T44" fmla="*/ 91 w 402"/>
                  <a:gd name="T45" fmla="*/ 103 h 434"/>
                  <a:gd name="T46" fmla="*/ 121 w 402"/>
                  <a:gd name="T47" fmla="*/ 84 h 434"/>
                  <a:gd name="T48" fmla="*/ 146 w 402"/>
                  <a:gd name="T49" fmla="*/ 75 h 434"/>
                  <a:gd name="T50" fmla="*/ 171 w 402"/>
                  <a:gd name="T51" fmla="*/ 69 h 434"/>
                  <a:gd name="T52" fmla="*/ 186 w 402"/>
                  <a:gd name="T53" fmla="*/ 69 h 434"/>
                  <a:gd name="T54" fmla="*/ 214 w 402"/>
                  <a:gd name="T55" fmla="*/ 73 h 434"/>
                  <a:gd name="T56" fmla="*/ 243 w 402"/>
                  <a:gd name="T57" fmla="*/ 82 h 434"/>
                  <a:gd name="T58" fmla="*/ 268 w 402"/>
                  <a:gd name="T59" fmla="*/ 94 h 434"/>
                  <a:gd name="T60" fmla="*/ 289 w 402"/>
                  <a:gd name="T61" fmla="*/ 112 h 434"/>
                  <a:gd name="T62" fmla="*/ 307 w 402"/>
                  <a:gd name="T63" fmla="*/ 134 h 434"/>
                  <a:gd name="T64" fmla="*/ 320 w 402"/>
                  <a:gd name="T65" fmla="*/ 159 h 434"/>
                  <a:gd name="T66" fmla="*/ 329 w 402"/>
                  <a:gd name="T67" fmla="*/ 187 h 434"/>
                  <a:gd name="T68" fmla="*/ 332 w 402"/>
                  <a:gd name="T69" fmla="*/ 218 h 434"/>
                  <a:gd name="T70" fmla="*/ 332 w 402"/>
                  <a:gd name="T71" fmla="*/ 232 h 434"/>
                  <a:gd name="T72" fmla="*/ 325 w 402"/>
                  <a:gd name="T73" fmla="*/ 261 h 434"/>
                  <a:gd name="T74" fmla="*/ 314 w 402"/>
                  <a:gd name="T75" fmla="*/ 287 h 434"/>
                  <a:gd name="T76" fmla="*/ 298 w 402"/>
                  <a:gd name="T77" fmla="*/ 311 h 434"/>
                  <a:gd name="T78" fmla="*/ 279 w 402"/>
                  <a:gd name="T79" fmla="*/ 330 h 434"/>
                  <a:gd name="T80" fmla="*/ 255 w 402"/>
                  <a:gd name="T81" fmla="*/ 346 h 434"/>
                  <a:gd name="T82" fmla="*/ 229 w 402"/>
                  <a:gd name="T83" fmla="*/ 357 h 434"/>
                  <a:gd name="T84" fmla="*/ 200 w 402"/>
                  <a:gd name="T85" fmla="*/ 364 h 434"/>
                  <a:gd name="T86" fmla="*/ 186 w 402"/>
                  <a:gd name="T87" fmla="*/ 364 h 434"/>
                  <a:gd name="T88" fmla="*/ 152 w 402"/>
                  <a:gd name="T89" fmla="*/ 361 h 434"/>
                  <a:gd name="T90" fmla="*/ 121 w 402"/>
                  <a:gd name="T91" fmla="*/ 350 h 434"/>
                  <a:gd name="T92" fmla="*/ 12 w 402"/>
                  <a:gd name="T93" fmla="*/ 350 h 434"/>
                  <a:gd name="T94" fmla="*/ 46 w 402"/>
                  <a:gd name="T95" fmla="*/ 384 h 434"/>
                  <a:gd name="T96" fmla="*/ 87 w 402"/>
                  <a:gd name="T97" fmla="*/ 411 h 434"/>
                  <a:gd name="T98" fmla="*/ 134 w 402"/>
                  <a:gd name="T99" fmla="*/ 429 h 434"/>
                  <a:gd name="T100" fmla="*/ 184 w 402"/>
                  <a:gd name="T101" fmla="*/ 434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02" h="434">
                    <a:moveTo>
                      <a:pt x="184" y="434"/>
                    </a:moveTo>
                    <a:lnTo>
                      <a:pt x="184" y="434"/>
                    </a:lnTo>
                    <a:lnTo>
                      <a:pt x="207" y="432"/>
                    </a:lnTo>
                    <a:lnTo>
                      <a:pt x="229" y="429"/>
                    </a:lnTo>
                    <a:lnTo>
                      <a:pt x="248" y="423"/>
                    </a:lnTo>
                    <a:lnTo>
                      <a:pt x="268" y="416"/>
                    </a:lnTo>
                    <a:lnTo>
                      <a:pt x="288" y="407"/>
                    </a:lnTo>
                    <a:lnTo>
                      <a:pt x="306" y="397"/>
                    </a:lnTo>
                    <a:lnTo>
                      <a:pt x="322" y="384"/>
                    </a:lnTo>
                    <a:lnTo>
                      <a:pt x="338" y="370"/>
                    </a:lnTo>
                    <a:lnTo>
                      <a:pt x="352" y="355"/>
                    </a:lnTo>
                    <a:lnTo>
                      <a:pt x="364" y="338"/>
                    </a:lnTo>
                    <a:lnTo>
                      <a:pt x="375" y="320"/>
                    </a:lnTo>
                    <a:lnTo>
                      <a:pt x="384" y="302"/>
                    </a:lnTo>
                    <a:lnTo>
                      <a:pt x="391" y="282"/>
                    </a:lnTo>
                    <a:lnTo>
                      <a:pt x="397" y="261"/>
                    </a:lnTo>
                    <a:lnTo>
                      <a:pt x="400" y="239"/>
                    </a:lnTo>
                    <a:lnTo>
                      <a:pt x="402" y="218"/>
                    </a:lnTo>
                    <a:lnTo>
                      <a:pt x="402" y="218"/>
                    </a:lnTo>
                    <a:lnTo>
                      <a:pt x="400" y="195"/>
                    </a:lnTo>
                    <a:lnTo>
                      <a:pt x="397" y="173"/>
                    </a:lnTo>
                    <a:lnTo>
                      <a:pt x="391" y="152"/>
                    </a:lnTo>
                    <a:lnTo>
                      <a:pt x="384" y="132"/>
                    </a:lnTo>
                    <a:lnTo>
                      <a:pt x="375" y="114"/>
                    </a:lnTo>
                    <a:lnTo>
                      <a:pt x="364" y="96"/>
                    </a:lnTo>
                    <a:lnTo>
                      <a:pt x="352" y="78"/>
                    </a:lnTo>
                    <a:lnTo>
                      <a:pt x="338" y="64"/>
                    </a:lnTo>
                    <a:lnTo>
                      <a:pt x="322" y="50"/>
                    </a:lnTo>
                    <a:lnTo>
                      <a:pt x="306" y="37"/>
                    </a:lnTo>
                    <a:lnTo>
                      <a:pt x="288" y="27"/>
                    </a:lnTo>
                    <a:lnTo>
                      <a:pt x="268" y="18"/>
                    </a:lnTo>
                    <a:lnTo>
                      <a:pt x="248" y="10"/>
                    </a:lnTo>
                    <a:lnTo>
                      <a:pt x="229" y="5"/>
                    </a:lnTo>
                    <a:lnTo>
                      <a:pt x="207" y="2"/>
                    </a:lnTo>
                    <a:lnTo>
                      <a:pt x="184" y="0"/>
                    </a:lnTo>
                    <a:lnTo>
                      <a:pt x="184" y="0"/>
                    </a:lnTo>
                    <a:lnTo>
                      <a:pt x="155" y="2"/>
                    </a:lnTo>
                    <a:lnTo>
                      <a:pt x="129" y="7"/>
                    </a:lnTo>
                    <a:lnTo>
                      <a:pt x="102" y="16"/>
                    </a:lnTo>
                    <a:lnTo>
                      <a:pt x="77" y="28"/>
                    </a:lnTo>
                    <a:lnTo>
                      <a:pt x="53" y="44"/>
                    </a:lnTo>
                    <a:lnTo>
                      <a:pt x="34" y="62"/>
                    </a:lnTo>
                    <a:lnTo>
                      <a:pt x="16" y="82"/>
                    </a:lnTo>
                    <a:lnTo>
                      <a:pt x="0" y="103"/>
                    </a:lnTo>
                    <a:lnTo>
                      <a:pt x="91" y="103"/>
                    </a:lnTo>
                    <a:lnTo>
                      <a:pt x="91" y="103"/>
                    </a:lnTo>
                    <a:lnTo>
                      <a:pt x="111" y="89"/>
                    </a:lnTo>
                    <a:lnTo>
                      <a:pt x="121" y="84"/>
                    </a:lnTo>
                    <a:lnTo>
                      <a:pt x="134" y="78"/>
                    </a:lnTo>
                    <a:lnTo>
                      <a:pt x="146" y="75"/>
                    </a:lnTo>
                    <a:lnTo>
                      <a:pt x="159" y="71"/>
                    </a:lnTo>
                    <a:lnTo>
                      <a:pt x="171" y="69"/>
                    </a:lnTo>
                    <a:lnTo>
                      <a:pt x="186" y="69"/>
                    </a:lnTo>
                    <a:lnTo>
                      <a:pt x="186" y="69"/>
                    </a:lnTo>
                    <a:lnTo>
                      <a:pt x="200" y="69"/>
                    </a:lnTo>
                    <a:lnTo>
                      <a:pt x="214" y="73"/>
                    </a:lnTo>
                    <a:lnTo>
                      <a:pt x="229" y="77"/>
                    </a:lnTo>
                    <a:lnTo>
                      <a:pt x="243" y="82"/>
                    </a:lnTo>
                    <a:lnTo>
                      <a:pt x="255" y="87"/>
                    </a:lnTo>
                    <a:lnTo>
                      <a:pt x="268" y="94"/>
                    </a:lnTo>
                    <a:lnTo>
                      <a:pt x="279" y="103"/>
                    </a:lnTo>
                    <a:lnTo>
                      <a:pt x="289" y="112"/>
                    </a:lnTo>
                    <a:lnTo>
                      <a:pt x="298" y="123"/>
                    </a:lnTo>
                    <a:lnTo>
                      <a:pt x="307" y="134"/>
                    </a:lnTo>
                    <a:lnTo>
                      <a:pt x="314" y="146"/>
                    </a:lnTo>
                    <a:lnTo>
                      <a:pt x="320" y="159"/>
                    </a:lnTo>
                    <a:lnTo>
                      <a:pt x="325" y="173"/>
                    </a:lnTo>
                    <a:lnTo>
                      <a:pt x="329" y="187"/>
                    </a:lnTo>
                    <a:lnTo>
                      <a:pt x="332" y="202"/>
                    </a:lnTo>
                    <a:lnTo>
                      <a:pt x="332" y="218"/>
                    </a:lnTo>
                    <a:lnTo>
                      <a:pt x="332" y="218"/>
                    </a:lnTo>
                    <a:lnTo>
                      <a:pt x="332" y="232"/>
                    </a:lnTo>
                    <a:lnTo>
                      <a:pt x="329" y="246"/>
                    </a:lnTo>
                    <a:lnTo>
                      <a:pt x="325" y="261"/>
                    </a:lnTo>
                    <a:lnTo>
                      <a:pt x="320" y="275"/>
                    </a:lnTo>
                    <a:lnTo>
                      <a:pt x="314" y="287"/>
                    </a:lnTo>
                    <a:lnTo>
                      <a:pt x="307" y="300"/>
                    </a:lnTo>
                    <a:lnTo>
                      <a:pt x="298" y="311"/>
                    </a:lnTo>
                    <a:lnTo>
                      <a:pt x="289" y="321"/>
                    </a:lnTo>
                    <a:lnTo>
                      <a:pt x="279" y="330"/>
                    </a:lnTo>
                    <a:lnTo>
                      <a:pt x="268" y="339"/>
                    </a:lnTo>
                    <a:lnTo>
                      <a:pt x="255" y="346"/>
                    </a:lnTo>
                    <a:lnTo>
                      <a:pt x="243" y="354"/>
                    </a:lnTo>
                    <a:lnTo>
                      <a:pt x="229" y="357"/>
                    </a:lnTo>
                    <a:lnTo>
                      <a:pt x="214" y="361"/>
                    </a:lnTo>
                    <a:lnTo>
                      <a:pt x="200" y="364"/>
                    </a:lnTo>
                    <a:lnTo>
                      <a:pt x="186" y="364"/>
                    </a:lnTo>
                    <a:lnTo>
                      <a:pt x="186" y="364"/>
                    </a:lnTo>
                    <a:lnTo>
                      <a:pt x="168" y="363"/>
                    </a:lnTo>
                    <a:lnTo>
                      <a:pt x="152" y="361"/>
                    </a:lnTo>
                    <a:lnTo>
                      <a:pt x="136" y="355"/>
                    </a:lnTo>
                    <a:lnTo>
                      <a:pt x="121" y="350"/>
                    </a:lnTo>
                    <a:lnTo>
                      <a:pt x="12" y="350"/>
                    </a:lnTo>
                    <a:lnTo>
                      <a:pt x="12" y="350"/>
                    </a:lnTo>
                    <a:lnTo>
                      <a:pt x="28" y="368"/>
                    </a:lnTo>
                    <a:lnTo>
                      <a:pt x="46" y="384"/>
                    </a:lnTo>
                    <a:lnTo>
                      <a:pt x="66" y="398"/>
                    </a:lnTo>
                    <a:lnTo>
                      <a:pt x="87" y="411"/>
                    </a:lnTo>
                    <a:lnTo>
                      <a:pt x="111" y="420"/>
                    </a:lnTo>
                    <a:lnTo>
                      <a:pt x="134" y="429"/>
                    </a:lnTo>
                    <a:lnTo>
                      <a:pt x="159" y="432"/>
                    </a:lnTo>
                    <a:lnTo>
                      <a:pt x="184" y="434"/>
                    </a:lnTo>
                    <a:lnTo>
                      <a:pt x="184" y="43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  <p:sp>
            <p:nvSpPr>
              <p:cNvPr id="116" name="Freeform 135"/>
              <p:cNvSpPr>
                <a:spLocks noEditPoints="1"/>
              </p:cNvSpPr>
              <p:nvPr/>
            </p:nvSpPr>
            <p:spPr bwMode="auto">
              <a:xfrm>
                <a:off x="6059488" y="285750"/>
                <a:ext cx="1038225" cy="1066800"/>
              </a:xfrm>
              <a:custGeom>
                <a:avLst/>
                <a:gdLst>
                  <a:gd name="T0" fmla="*/ 291 w 654"/>
                  <a:gd name="T1" fmla="*/ 2 h 672"/>
                  <a:gd name="T2" fmla="*/ 212 w 654"/>
                  <a:gd name="T3" fmla="*/ 18 h 672"/>
                  <a:gd name="T4" fmla="*/ 141 w 654"/>
                  <a:gd name="T5" fmla="*/ 50 h 672"/>
                  <a:gd name="T6" fmla="*/ 80 w 654"/>
                  <a:gd name="T7" fmla="*/ 98 h 672"/>
                  <a:gd name="T8" fmla="*/ 34 w 654"/>
                  <a:gd name="T9" fmla="*/ 159 h 672"/>
                  <a:gd name="T10" fmla="*/ 0 w 654"/>
                  <a:gd name="T11" fmla="*/ 231 h 672"/>
                  <a:gd name="T12" fmla="*/ 109 w 654"/>
                  <a:gd name="T13" fmla="*/ 223 h 672"/>
                  <a:gd name="T14" fmla="*/ 168 w 654"/>
                  <a:gd name="T15" fmla="*/ 152 h 672"/>
                  <a:gd name="T16" fmla="*/ 223 w 654"/>
                  <a:gd name="T17" fmla="*/ 118 h 672"/>
                  <a:gd name="T18" fmla="*/ 268 w 654"/>
                  <a:gd name="T19" fmla="*/ 104 h 672"/>
                  <a:gd name="T20" fmla="*/ 318 w 654"/>
                  <a:gd name="T21" fmla="*/ 98 h 672"/>
                  <a:gd name="T22" fmla="*/ 366 w 654"/>
                  <a:gd name="T23" fmla="*/ 104 h 672"/>
                  <a:gd name="T24" fmla="*/ 432 w 654"/>
                  <a:gd name="T25" fmla="*/ 127 h 672"/>
                  <a:gd name="T26" fmla="*/ 488 w 654"/>
                  <a:gd name="T27" fmla="*/ 168 h 672"/>
                  <a:gd name="T28" fmla="*/ 529 w 654"/>
                  <a:gd name="T29" fmla="*/ 223 h 672"/>
                  <a:gd name="T30" fmla="*/ 552 w 654"/>
                  <a:gd name="T31" fmla="*/ 290 h 672"/>
                  <a:gd name="T32" fmla="*/ 557 w 654"/>
                  <a:gd name="T33" fmla="*/ 338 h 672"/>
                  <a:gd name="T34" fmla="*/ 547 w 654"/>
                  <a:gd name="T35" fmla="*/ 407 h 672"/>
                  <a:gd name="T36" fmla="*/ 516 w 654"/>
                  <a:gd name="T37" fmla="*/ 470 h 672"/>
                  <a:gd name="T38" fmla="*/ 470 w 654"/>
                  <a:gd name="T39" fmla="*/ 522 h 672"/>
                  <a:gd name="T40" fmla="*/ 411 w 654"/>
                  <a:gd name="T41" fmla="*/ 556 h 672"/>
                  <a:gd name="T42" fmla="*/ 343 w 654"/>
                  <a:gd name="T43" fmla="*/ 574 h 672"/>
                  <a:gd name="T44" fmla="*/ 288 w 654"/>
                  <a:gd name="T45" fmla="*/ 574 h 672"/>
                  <a:gd name="T46" fmla="*/ 204 w 654"/>
                  <a:gd name="T47" fmla="*/ 547 h 672"/>
                  <a:gd name="T48" fmla="*/ 137 w 654"/>
                  <a:gd name="T49" fmla="*/ 491 h 672"/>
                  <a:gd name="T50" fmla="*/ 11 w 654"/>
                  <a:gd name="T51" fmla="*/ 470 h 672"/>
                  <a:gd name="T52" fmla="*/ 46 w 654"/>
                  <a:gd name="T53" fmla="*/ 533 h 672"/>
                  <a:gd name="T54" fmla="*/ 95 w 654"/>
                  <a:gd name="T55" fmla="*/ 586 h 672"/>
                  <a:gd name="T56" fmla="*/ 152 w 654"/>
                  <a:gd name="T57" fmla="*/ 627 h 672"/>
                  <a:gd name="T58" fmla="*/ 220 w 654"/>
                  <a:gd name="T59" fmla="*/ 656 h 672"/>
                  <a:gd name="T60" fmla="*/ 293 w 654"/>
                  <a:gd name="T61" fmla="*/ 670 h 672"/>
                  <a:gd name="T62" fmla="*/ 352 w 654"/>
                  <a:gd name="T63" fmla="*/ 670 h 672"/>
                  <a:gd name="T64" fmla="*/ 448 w 654"/>
                  <a:gd name="T65" fmla="*/ 645 h 672"/>
                  <a:gd name="T66" fmla="*/ 532 w 654"/>
                  <a:gd name="T67" fmla="*/ 595 h 672"/>
                  <a:gd name="T68" fmla="*/ 597 w 654"/>
                  <a:gd name="T69" fmla="*/ 524 h 672"/>
                  <a:gd name="T70" fmla="*/ 640 w 654"/>
                  <a:gd name="T71" fmla="*/ 436 h 672"/>
                  <a:gd name="T72" fmla="*/ 654 w 654"/>
                  <a:gd name="T73" fmla="*/ 336 h 672"/>
                  <a:gd name="T74" fmla="*/ 647 w 654"/>
                  <a:gd name="T75" fmla="*/ 268 h 672"/>
                  <a:gd name="T76" fmla="*/ 613 w 654"/>
                  <a:gd name="T77" fmla="*/ 175 h 672"/>
                  <a:gd name="T78" fmla="*/ 556 w 654"/>
                  <a:gd name="T79" fmla="*/ 98 h 672"/>
                  <a:gd name="T80" fmla="*/ 479 w 654"/>
                  <a:gd name="T81" fmla="*/ 41 h 672"/>
                  <a:gd name="T82" fmla="*/ 386 w 654"/>
                  <a:gd name="T83" fmla="*/ 7 h 672"/>
                  <a:gd name="T84" fmla="*/ 318 w 654"/>
                  <a:gd name="T85" fmla="*/ 0 h 672"/>
                  <a:gd name="T86" fmla="*/ 393 w 654"/>
                  <a:gd name="T87" fmla="*/ 80 h 672"/>
                  <a:gd name="T88" fmla="*/ 384 w 654"/>
                  <a:gd name="T89" fmla="*/ 84 h 672"/>
                  <a:gd name="T90" fmla="*/ 382 w 654"/>
                  <a:gd name="T91" fmla="*/ 84 h 672"/>
                  <a:gd name="T92" fmla="*/ 288 w 654"/>
                  <a:gd name="T93" fmla="*/ 79 h 672"/>
                  <a:gd name="T94" fmla="*/ 252 w 654"/>
                  <a:gd name="T95" fmla="*/ 84 h 672"/>
                  <a:gd name="T96" fmla="*/ 243 w 654"/>
                  <a:gd name="T97" fmla="*/ 77 h 672"/>
                  <a:gd name="T98" fmla="*/ 245 w 654"/>
                  <a:gd name="T99" fmla="*/ 68 h 672"/>
                  <a:gd name="T100" fmla="*/ 252 w 654"/>
                  <a:gd name="T101" fmla="*/ 64 h 672"/>
                  <a:gd name="T102" fmla="*/ 354 w 654"/>
                  <a:gd name="T103" fmla="*/ 57 h 672"/>
                  <a:gd name="T104" fmla="*/ 391 w 654"/>
                  <a:gd name="T105" fmla="*/ 66 h 672"/>
                  <a:gd name="T106" fmla="*/ 395 w 654"/>
                  <a:gd name="T107" fmla="*/ 77 h 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54" h="672">
                    <a:moveTo>
                      <a:pt x="318" y="0"/>
                    </a:moveTo>
                    <a:lnTo>
                      <a:pt x="318" y="0"/>
                    </a:lnTo>
                    <a:lnTo>
                      <a:pt x="291" y="2"/>
                    </a:lnTo>
                    <a:lnTo>
                      <a:pt x="264" y="5"/>
                    </a:lnTo>
                    <a:lnTo>
                      <a:pt x="238" y="11"/>
                    </a:lnTo>
                    <a:lnTo>
                      <a:pt x="212" y="18"/>
                    </a:lnTo>
                    <a:lnTo>
                      <a:pt x="187" y="27"/>
                    </a:lnTo>
                    <a:lnTo>
                      <a:pt x="164" y="38"/>
                    </a:lnTo>
                    <a:lnTo>
                      <a:pt x="141" y="50"/>
                    </a:lnTo>
                    <a:lnTo>
                      <a:pt x="120" y="64"/>
                    </a:lnTo>
                    <a:lnTo>
                      <a:pt x="100" y="80"/>
                    </a:lnTo>
                    <a:lnTo>
                      <a:pt x="80" y="98"/>
                    </a:lnTo>
                    <a:lnTo>
                      <a:pt x="64" y="118"/>
                    </a:lnTo>
                    <a:lnTo>
                      <a:pt x="48" y="138"/>
                    </a:lnTo>
                    <a:lnTo>
                      <a:pt x="34" y="159"/>
                    </a:lnTo>
                    <a:lnTo>
                      <a:pt x="19" y="182"/>
                    </a:lnTo>
                    <a:lnTo>
                      <a:pt x="9" y="206"/>
                    </a:lnTo>
                    <a:lnTo>
                      <a:pt x="0" y="231"/>
                    </a:lnTo>
                    <a:lnTo>
                      <a:pt x="41" y="223"/>
                    </a:lnTo>
                    <a:lnTo>
                      <a:pt x="109" y="223"/>
                    </a:lnTo>
                    <a:lnTo>
                      <a:pt x="109" y="223"/>
                    </a:lnTo>
                    <a:lnTo>
                      <a:pt x="125" y="197"/>
                    </a:lnTo>
                    <a:lnTo>
                      <a:pt x="145" y="173"/>
                    </a:lnTo>
                    <a:lnTo>
                      <a:pt x="168" y="152"/>
                    </a:lnTo>
                    <a:lnTo>
                      <a:pt x="195" y="132"/>
                    </a:lnTo>
                    <a:lnTo>
                      <a:pt x="209" y="125"/>
                    </a:lnTo>
                    <a:lnTo>
                      <a:pt x="223" y="118"/>
                    </a:lnTo>
                    <a:lnTo>
                      <a:pt x="238" y="113"/>
                    </a:lnTo>
                    <a:lnTo>
                      <a:pt x="254" y="107"/>
                    </a:lnTo>
                    <a:lnTo>
                      <a:pt x="268" y="104"/>
                    </a:lnTo>
                    <a:lnTo>
                      <a:pt x="284" y="100"/>
                    </a:lnTo>
                    <a:lnTo>
                      <a:pt x="302" y="98"/>
                    </a:lnTo>
                    <a:lnTo>
                      <a:pt x="318" y="98"/>
                    </a:lnTo>
                    <a:lnTo>
                      <a:pt x="318" y="98"/>
                    </a:lnTo>
                    <a:lnTo>
                      <a:pt x="343" y="100"/>
                    </a:lnTo>
                    <a:lnTo>
                      <a:pt x="366" y="104"/>
                    </a:lnTo>
                    <a:lnTo>
                      <a:pt x="389" y="109"/>
                    </a:lnTo>
                    <a:lnTo>
                      <a:pt x="411" y="118"/>
                    </a:lnTo>
                    <a:lnTo>
                      <a:pt x="432" y="127"/>
                    </a:lnTo>
                    <a:lnTo>
                      <a:pt x="452" y="139"/>
                    </a:lnTo>
                    <a:lnTo>
                      <a:pt x="470" y="154"/>
                    </a:lnTo>
                    <a:lnTo>
                      <a:pt x="488" y="168"/>
                    </a:lnTo>
                    <a:lnTo>
                      <a:pt x="502" y="186"/>
                    </a:lnTo>
                    <a:lnTo>
                      <a:pt x="516" y="204"/>
                    </a:lnTo>
                    <a:lnTo>
                      <a:pt x="529" y="223"/>
                    </a:lnTo>
                    <a:lnTo>
                      <a:pt x="538" y="245"/>
                    </a:lnTo>
                    <a:lnTo>
                      <a:pt x="547" y="266"/>
                    </a:lnTo>
                    <a:lnTo>
                      <a:pt x="552" y="290"/>
                    </a:lnTo>
                    <a:lnTo>
                      <a:pt x="556" y="313"/>
                    </a:lnTo>
                    <a:lnTo>
                      <a:pt x="557" y="338"/>
                    </a:lnTo>
                    <a:lnTo>
                      <a:pt x="557" y="338"/>
                    </a:lnTo>
                    <a:lnTo>
                      <a:pt x="556" y="361"/>
                    </a:lnTo>
                    <a:lnTo>
                      <a:pt x="552" y="384"/>
                    </a:lnTo>
                    <a:lnTo>
                      <a:pt x="547" y="407"/>
                    </a:lnTo>
                    <a:lnTo>
                      <a:pt x="538" y="429"/>
                    </a:lnTo>
                    <a:lnTo>
                      <a:pt x="529" y="450"/>
                    </a:lnTo>
                    <a:lnTo>
                      <a:pt x="516" y="470"/>
                    </a:lnTo>
                    <a:lnTo>
                      <a:pt x="502" y="488"/>
                    </a:lnTo>
                    <a:lnTo>
                      <a:pt x="488" y="506"/>
                    </a:lnTo>
                    <a:lnTo>
                      <a:pt x="470" y="522"/>
                    </a:lnTo>
                    <a:lnTo>
                      <a:pt x="452" y="534"/>
                    </a:lnTo>
                    <a:lnTo>
                      <a:pt x="432" y="547"/>
                    </a:lnTo>
                    <a:lnTo>
                      <a:pt x="411" y="556"/>
                    </a:lnTo>
                    <a:lnTo>
                      <a:pt x="389" y="565"/>
                    </a:lnTo>
                    <a:lnTo>
                      <a:pt x="366" y="570"/>
                    </a:lnTo>
                    <a:lnTo>
                      <a:pt x="343" y="574"/>
                    </a:lnTo>
                    <a:lnTo>
                      <a:pt x="318" y="575"/>
                    </a:lnTo>
                    <a:lnTo>
                      <a:pt x="318" y="575"/>
                    </a:lnTo>
                    <a:lnTo>
                      <a:pt x="288" y="574"/>
                    </a:lnTo>
                    <a:lnTo>
                      <a:pt x="259" y="568"/>
                    </a:lnTo>
                    <a:lnTo>
                      <a:pt x="230" y="559"/>
                    </a:lnTo>
                    <a:lnTo>
                      <a:pt x="204" y="547"/>
                    </a:lnTo>
                    <a:lnTo>
                      <a:pt x="180" y="531"/>
                    </a:lnTo>
                    <a:lnTo>
                      <a:pt x="157" y="513"/>
                    </a:lnTo>
                    <a:lnTo>
                      <a:pt x="137" y="491"/>
                    </a:lnTo>
                    <a:lnTo>
                      <a:pt x="120" y="470"/>
                    </a:lnTo>
                    <a:lnTo>
                      <a:pt x="11" y="470"/>
                    </a:lnTo>
                    <a:lnTo>
                      <a:pt x="11" y="470"/>
                    </a:lnTo>
                    <a:lnTo>
                      <a:pt x="21" y="491"/>
                    </a:lnTo>
                    <a:lnTo>
                      <a:pt x="32" y="513"/>
                    </a:lnTo>
                    <a:lnTo>
                      <a:pt x="46" y="533"/>
                    </a:lnTo>
                    <a:lnTo>
                      <a:pt x="61" y="550"/>
                    </a:lnTo>
                    <a:lnTo>
                      <a:pt x="77" y="568"/>
                    </a:lnTo>
                    <a:lnTo>
                      <a:pt x="95" y="586"/>
                    </a:lnTo>
                    <a:lnTo>
                      <a:pt x="112" y="601"/>
                    </a:lnTo>
                    <a:lnTo>
                      <a:pt x="132" y="615"/>
                    </a:lnTo>
                    <a:lnTo>
                      <a:pt x="152" y="627"/>
                    </a:lnTo>
                    <a:lnTo>
                      <a:pt x="173" y="640"/>
                    </a:lnTo>
                    <a:lnTo>
                      <a:pt x="196" y="649"/>
                    </a:lnTo>
                    <a:lnTo>
                      <a:pt x="220" y="656"/>
                    </a:lnTo>
                    <a:lnTo>
                      <a:pt x="243" y="663"/>
                    </a:lnTo>
                    <a:lnTo>
                      <a:pt x="268" y="668"/>
                    </a:lnTo>
                    <a:lnTo>
                      <a:pt x="293" y="670"/>
                    </a:lnTo>
                    <a:lnTo>
                      <a:pt x="318" y="672"/>
                    </a:lnTo>
                    <a:lnTo>
                      <a:pt x="318" y="672"/>
                    </a:lnTo>
                    <a:lnTo>
                      <a:pt x="352" y="670"/>
                    </a:lnTo>
                    <a:lnTo>
                      <a:pt x="386" y="665"/>
                    </a:lnTo>
                    <a:lnTo>
                      <a:pt x="418" y="656"/>
                    </a:lnTo>
                    <a:lnTo>
                      <a:pt x="448" y="645"/>
                    </a:lnTo>
                    <a:lnTo>
                      <a:pt x="479" y="631"/>
                    </a:lnTo>
                    <a:lnTo>
                      <a:pt x="506" y="615"/>
                    </a:lnTo>
                    <a:lnTo>
                      <a:pt x="532" y="595"/>
                    </a:lnTo>
                    <a:lnTo>
                      <a:pt x="556" y="574"/>
                    </a:lnTo>
                    <a:lnTo>
                      <a:pt x="577" y="549"/>
                    </a:lnTo>
                    <a:lnTo>
                      <a:pt x="597" y="524"/>
                    </a:lnTo>
                    <a:lnTo>
                      <a:pt x="613" y="497"/>
                    </a:lnTo>
                    <a:lnTo>
                      <a:pt x="627" y="466"/>
                    </a:lnTo>
                    <a:lnTo>
                      <a:pt x="640" y="436"/>
                    </a:lnTo>
                    <a:lnTo>
                      <a:pt x="647" y="404"/>
                    </a:lnTo>
                    <a:lnTo>
                      <a:pt x="652" y="370"/>
                    </a:lnTo>
                    <a:lnTo>
                      <a:pt x="654" y="336"/>
                    </a:lnTo>
                    <a:lnTo>
                      <a:pt x="654" y="336"/>
                    </a:lnTo>
                    <a:lnTo>
                      <a:pt x="652" y="302"/>
                    </a:lnTo>
                    <a:lnTo>
                      <a:pt x="647" y="268"/>
                    </a:lnTo>
                    <a:lnTo>
                      <a:pt x="640" y="236"/>
                    </a:lnTo>
                    <a:lnTo>
                      <a:pt x="627" y="206"/>
                    </a:lnTo>
                    <a:lnTo>
                      <a:pt x="613" y="175"/>
                    </a:lnTo>
                    <a:lnTo>
                      <a:pt x="597" y="148"/>
                    </a:lnTo>
                    <a:lnTo>
                      <a:pt x="577" y="123"/>
                    </a:lnTo>
                    <a:lnTo>
                      <a:pt x="556" y="98"/>
                    </a:lnTo>
                    <a:lnTo>
                      <a:pt x="532" y="77"/>
                    </a:lnTo>
                    <a:lnTo>
                      <a:pt x="506" y="57"/>
                    </a:lnTo>
                    <a:lnTo>
                      <a:pt x="479" y="41"/>
                    </a:lnTo>
                    <a:lnTo>
                      <a:pt x="448" y="27"/>
                    </a:lnTo>
                    <a:lnTo>
                      <a:pt x="418" y="16"/>
                    </a:lnTo>
                    <a:lnTo>
                      <a:pt x="386" y="7"/>
                    </a:lnTo>
                    <a:lnTo>
                      <a:pt x="352" y="2"/>
                    </a:lnTo>
                    <a:lnTo>
                      <a:pt x="318" y="0"/>
                    </a:lnTo>
                    <a:lnTo>
                      <a:pt x="318" y="0"/>
                    </a:lnTo>
                    <a:close/>
                    <a:moveTo>
                      <a:pt x="395" y="77"/>
                    </a:moveTo>
                    <a:lnTo>
                      <a:pt x="395" y="77"/>
                    </a:lnTo>
                    <a:lnTo>
                      <a:pt x="393" y="80"/>
                    </a:lnTo>
                    <a:lnTo>
                      <a:pt x="391" y="82"/>
                    </a:lnTo>
                    <a:lnTo>
                      <a:pt x="388" y="84"/>
                    </a:lnTo>
                    <a:lnTo>
                      <a:pt x="384" y="84"/>
                    </a:lnTo>
                    <a:lnTo>
                      <a:pt x="384" y="84"/>
                    </a:lnTo>
                    <a:lnTo>
                      <a:pt x="382" y="84"/>
                    </a:lnTo>
                    <a:lnTo>
                      <a:pt x="382" y="84"/>
                    </a:lnTo>
                    <a:lnTo>
                      <a:pt x="350" y="79"/>
                    </a:lnTo>
                    <a:lnTo>
                      <a:pt x="318" y="77"/>
                    </a:lnTo>
                    <a:lnTo>
                      <a:pt x="288" y="79"/>
                    </a:lnTo>
                    <a:lnTo>
                      <a:pt x="255" y="84"/>
                    </a:lnTo>
                    <a:lnTo>
                      <a:pt x="255" y="84"/>
                    </a:lnTo>
                    <a:lnTo>
                      <a:pt x="252" y="84"/>
                    </a:lnTo>
                    <a:lnTo>
                      <a:pt x="248" y="84"/>
                    </a:lnTo>
                    <a:lnTo>
                      <a:pt x="245" y="80"/>
                    </a:lnTo>
                    <a:lnTo>
                      <a:pt x="243" y="77"/>
                    </a:lnTo>
                    <a:lnTo>
                      <a:pt x="243" y="77"/>
                    </a:lnTo>
                    <a:lnTo>
                      <a:pt x="243" y="73"/>
                    </a:lnTo>
                    <a:lnTo>
                      <a:pt x="245" y="68"/>
                    </a:lnTo>
                    <a:lnTo>
                      <a:pt x="246" y="66"/>
                    </a:lnTo>
                    <a:lnTo>
                      <a:pt x="252" y="64"/>
                    </a:lnTo>
                    <a:lnTo>
                      <a:pt x="252" y="64"/>
                    </a:lnTo>
                    <a:lnTo>
                      <a:pt x="284" y="57"/>
                    </a:lnTo>
                    <a:lnTo>
                      <a:pt x="318" y="55"/>
                    </a:lnTo>
                    <a:lnTo>
                      <a:pt x="354" y="57"/>
                    </a:lnTo>
                    <a:lnTo>
                      <a:pt x="386" y="64"/>
                    </a:lnTo>
                    <a:lnTo>
                      <a:pt x="386" y="64"/>
                    </a:lnTo>
                    <a:lnTo>
                      <a:pt x="391" y="66"/>
                    </a:lnTo>
                    <a:lnTo>
                      <a:pt x="393" y="68"/>
                    </a:lnTo>
                    <a:lnTo>
                      <a:pt x="395" y="73"/>
                    </a:lnTo>
                    <a:lnTo>
                      <a:pt x="395" y="77"/>
                    </a:lnTo>
                    <a:lnTo>
                      <a:pt x="395" y="7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>
                  <a:latin typeface="+mn-lt"/>
                </a:endParaRP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4932454" y="2809425"/>
              <a:ext cx="214080" cy="564482"/>
              <a:chOff x="3225773" y="1281696"/>
              <a:chExt cx="424381" cy="1258303"/>
            </a:xfrm>
            <a:solidFill>
              <a:schemeClr val="accent1"/>
            </a:solidFill>
          </p:grpSpPr>
          <p:sp>
            <p:nvSpPr>
              <p:cNvPr id="110" name="Freeform 109"/>
              <p:cNvSpPr/>
              <p:nvPr/>
            </p:nvSpPr>
            <p:spPr>
              <a:xfrm>
                <a:off x="3356843" y="1281696"/>
                <a:ext cx="162295" cy="131475"/>
              </a:xfrm>
              <a:custGeom>
                <a:avLst/>
                <a:gdLst>
                  <a:gd name="connsiteX0" fmla="*/ 52387 w 302418"/>
                  <a:gd name="connsiteY0" fmla="*/ 0 h 233363"/>
                  <a:gd name="connsiteX1" fmla="*/ 0 w 302418"/>
                  <a:gd name="connsiteY1" fmla="*/ 50006 h 233363"/>
                  <a:gd name="connsiteX2" fmla="*/ 0 w 302418"/>
                  <a:gd name="connsiteY2" fmla="*/ 92869 h 233363"/>
                  <a:gd name="connsiteX3" fmla="*/ 130968 w 302418"/>
                  <a:gd name="connsiteY3" fmla="*/ 233363 h 233363"/>
                  <a:gd name="connsiteX4" fmla="*/ 176212 w 302418"/>
                  <a:gd name="connsiteY4" fmla="*/ 233363 h 233363"/>
                  <a:gd name="connsiteX5" fmla="*/ 302418 w 302418"/>
                  <a:gd name="connsiteY5" fmla="*/ 100013 h 233363"/>
                  <a:gd name="connsiteX6" fmla="*/ 302418 w 302418"/>
                  <a:gd name="connsiteY6" fmla="*/ 52388 h 233363"/>
                  <a:gd name="connsiteX7" fmla="*/ 254793 w 302418"/>
                  <a:gd name="connsiteY7" fmla="*/ 4763 h 233363"/>
                  <a:gd name="connsiteX8" fmla="*/ 171450 w 302418"/>
                  <a:gd name="connsiteY8" fmla="*/ 92869 h 233363"/>
                  <a:gd name="connsiteX9" fmla="*/ 211931 w 302418"/>
                  <a:gd name="connsiteY9" fmla="*/ 133350 h 233363"/>
                  <a:gd name="connsiteX10" fmla="*/ 197643 w 302418"/>
                  <a:gd name="connsiteY10" fmla="*/ 147638 h 233363"/>
                  <a:gd name="connsiteX11" fmla="*/ 150018 w 302418"/>
                  <a:gd name="connsiteY11" fmla="*/ 109538 h 233363"/>
                  <a:gd name="connsiteX12" fmla="*/ 114300 w 302418"/>
                  <a:gd name="connsiteY12" fmla="*/ 150019 h 233363"/>
                  <a:gd name="connsiteX13" fmla="*/ 100012 w 302418"/>
                  <a:gd name="connsiteY13" fmla="*/ 133350 h 233363"/>
                  <a:gd name="connsiteX14" fmla="*/ 133350 w 302418"/>
                  <a:gd name="connsiteY14" fmla="*/ 97631 h 233363"/>
                  <a:gd name="connsiteX15" fmla="*/ 52387 w 302418"/>
                  <a:gd name="connsiteY15" fmla="*/ 0 h 233363"/>
                  <a:gd name="connsiteX0" fmla="*/ 52387 w 302418"/>
                  <a:gd name="connsiteY0" fmla="*/ 0 h 239712"/>
                  <a:gd name="connsiteX1" fmla="*/ 0 w 302418"/>
                  <a:gd name="connsiteY1" fmla="*/ 50006 h 239712"/>
                  <a:gd name="connsiteX2" fmla="*/ 0 w 302418"/>
                  <a:gd name="connsiteY2" fmla="*/ 92869 h 239712"/>
                  <a:gd name="connsiteX3" fmla="*/ 130968 w 302418"/>
                  <a:gd name="connsiteY3" fmla="*/ 233363 h 239712"/>
                  <a:gd name="connsiteX4" fmla="*/ 176212 w 302418"/>
                  <a:gd name="connsiteY4" fmla="*/ 233363 h 239712"/>
                  <a:gd name="connsiteX5" fmla="*/ 302418 w 302418"/>
                  <a:gd name="connsiteY5" fmla="*/ 100013 h 239712"/>
                  <a:gd name="connsiteX6" fmla="*/ 302418 w 302418"/>
                  <a:gd name="connsiteY6" fmla="*/ 52388 h 239712"/>
                  <a:gd name="connsiteX7" fmla="*/ 254793 w 302418"/>
                  <a:gd name="connsiteY7" fmla="*/ 4763 h 239712"/>
                  <a:gd name="connsiteX8" fmla="*/ 171450 w 302418"/>
                  <a:gd name="connsiteY8" fmla="*/ 92869 h 239712"/>
                  <a:gd name="connsiteX9" fmla="*/ 211931 w 302418"/>
                  <a:gd name="connsiteY9" fmla="*/ 133350 h 239712"/>
                  <a:gd name="connsiteX10" fmla="*/ 197643 w 302418"/>
                  <a:gd name="connsiteY10" fmla="*/ 147638 h 239712"/>
                  <a:gd name="connsiteX11" fmla="*/ 150018 w 302418"/>
                  <a:gd name="connsiteY11" fmla="*/ 109538 h 239712"/>
                  <a:gd name="connsiteX12" fmla="*/ 114300 w 302418"/>
                  <a:gd name="connsiteY12" fmla="*/ 150019 h 239712"/>
                  <a:gd name="connsiteX13" fmla="*/ 100012 w 302418"/>
                  <a:gd name="connsiteY13" fmla="*/ 133350 h 239712"/>
                  <a:gd name="connsiteX14" fmla="*/ 133350 w 302418"/>
                  <a:gd name="connsiteY14" fmla="*/ 97631 h 239712"/>
                  <a:gd name="connsiteX15" fmla="*/ 52387 w 302418"/>
                  <a:gd name="connsiteY15" fmla="*/ 0 h 239712"/>
                  <a:gd name="connsiteX0" fmla="*/ 52387 w 302418"/>
                  <a:gd name="connsiteY0" fmla="*/ 0 h 244988"/>
                  <a:gd name="connsiteX1" fmla="*/ 0 w 302418"/>
                  <a:gd name="connsiteY1" fmla="*/ 50006 h 244988"/>
                  <a:gd name="connsiteX2" fmla="*/ 0 w 302418"/>
                  <a:gd name="connsiteY2" fmla="*/ 92869 h 244988"/>
                  <a:gd name="connsiteX3" fmla="*/ 130968 w 302418"/>
                  <a:gd name="connsiteY3" fmla="*/ 233363 h 244988"/>
                  <a:gd name="connsiteX4" fmla="*/ 176212 w 302418"/>
                  <a:gd name="connsiteY4" fmla="*/ 233363 h 244988"/>
                  <a:gd name="connsiteX5" fmla="*/ 302418 w 302418"/>
                  <a:gd name="connsiteY5" fmla="*/ 100013 h 244988"/>
                  <a:gd name="connsiteX6" fmla="*/ 302418 w 302418"/>
                  <a:gd name="connsiteY6" fmla="*/ 52388 h 244988"/>
                  <a:gd name="connsiteX7" fmla="*/ 254793 w 302418"/>
                  <a:gd name="connsiteY7" fmla="*/ 4763 h 244988"/>
                  <a:gd name="connsiteX8" fmla="*/ 171450 w 302418"/>
                  <a:gd name="connsiteY8" fmla="*/ 92869 h 244988"/>
                  <a:gd name="connsiteX9" fmla="*/ 211931 w 302418"/>
                  <a:gd name="connsiteY9" fmla="*/ 133350 h 244988"/>
                  <a:gd name="connsiteX10" fmla="*/ 197643 w 302418"/>
                  <a:gd name="connsiteY10" fmla="*/ 147638 h 244988"/>
                  <a:gd name="connsiteX11" fmla="*/ 150018 w 302418"/>
                  <a:gd name="connsiteY11" fmla="*/ 109538 h 244988"/>
                  <a:gd name="connsiteX12" fmla="*/ 114300 w 302418"/>
                  <a:gd name="connsiteY12" fmla="*/ 150019 h 244988"/>
                  <a:gd name="connsiteX13" fmla="*/ 100012 w 302418"/>
                  <a:gd name="connsiteY13" fmla="*/ 133350 h 244988"/>
                  <a:gd name="connsiteX14" fmla="*/ 133350 w 302418"/>
                  <a:gd name="connsiteY14" fmla="*/ 97631 h 244988"/>
                  <a:gd name="connsiteX15" fmla="*/ 52387 w 302418"/>
                  <a:gd name="connsiteY15" fmla="*/ 0 h 244988"/>
                  <a:gd name="connsiteX0" fmla="*/ 52387 w 302418"/>
                  <a:gd name="connsiteY0" fmla="*/ 0 h 244988"/>
                  <a:gd name="connsiteX1" fmla="*/ 0 w 302418"/>
                  <a:gd name="connsiteY1" fmla="*/ 50006 h 244988"/>
                  <a:gd name="connsiteX2" fmla="*/ 0 w 302418"/>
                  <a:gd name="connsiteY2" fmla="*/ 92869 h 244988"/>
                  <a:gd name="connsiteX3" fmla="*/ 130968 w 302418"/>
                  <a:gd name="connsiteY3" fmla="*/ 233363 h 244988"/>
                  <a:gd name="connsiteX4" fmla="*/ 176212 w 302418"/>
                  <a:gd name="connsiteY4" fmla="*/ 233363 h 244988"/>
                  <a:gd name="connsiteX5" fmla="*/ 302418 w 302418"/>
                  <a:gd name="connsiteY5" fmla="*/ 100013 h 244988"/>
                  <a:gd name="connsiteX6" fmla="*/ 302418 w 302418"/>
                  <a:gd name="connsiteY6" fmla="*/ 52388 h 244988"/>
                  <a:gd name="connsiteX7" fmla="*/ 254793 w 302418"/>
                  <a:gd name="connsiteY7" fmla="*/ 4763 h 244988"/>
                  <a:gd name="connsiteX8" fmla="*/ 171450 w 302418"/>
                  <a:gd name="connsiteY8" fmla="*/ 92869 h 244988"/>
                  <a:gd name="connsiteX9" fmla="*/ 211931 w 302418"/>
                  <a:gd name="connsiteY9" fmla="*/ 133350 h 244988"/>
                  <a:gd name="connsiteX10" fmla="*/ 197643 w 302418"/>
                  <a:gd name="connsiteY10" fmla="*/ 147638 h 244988"/>
                  <a:gd name="connsiteX11" fmla="*/ 150018 w 302418"/>
                  <a:gd name="connsiteY11" fmla="*/ 109538 h 244988"/>
                  <a:gd name="connsiteX12" fmla="*/ 114300 w 302418"/>
                  <a:gd name="connsiteY12" fmla="*/ 150019 h 244988"/>
                  <a:gd name="connsiteX13" fmla="*/ 100012 w 302418"/>
                  <a:gd name="connsiteY13" fmla="*/ 133350 h 244988"/>
                  <a:gd name="connsiteX14" fmla="*/ 133350 w 302418"/>
                  <a:gd name="connsiteY14" fmla="*/ 97631 h 244988"/>
                  <a:gd name="connsiteX15" fmla="*/ 52387 w 302418"/>
                  <a:gd name="connsiteY15" fmla="*/ 0 h 244988"/>
                  <a:gd name="connsiteX0" fmla="*/ 52387 w 302418"/>
                  <a:gd name="connsiteY0" fmla="*/ 0 h 244988"/>
                  <a:gd name="connsiteX1" fmla="*/ 0 w 302418"/>
                  <a:gd name="connsiteY1" fmla="*/ 50006 h 244988"/>
                  <a:gd name="connsiteX2" fmla="*/ 0 w 302418"/>
                  <a:gd name="connsiteY2" fmla="*/ 92869 h 244988"/>
                  <a:gd name="connsiteX3" fmla="*/ 130968 w 302418"/>
                  <a:gd name="connsiteY3" fmla="*/ 233363 h 244988"/>
                  <a:gd name="connsiteX4" fmla="*/ 176212 w 302418"/>
                  <a:gd name="connsiteY4" fmla="*/ 233363 h 244988"/>
                  <a:gd name="connsiteX5" fmla="*/ 302418 w 302418"/>
                  <a:gd name="connsiteY5" fmla="*/ 100013 h 244988"/>
                  <a:gd name="connsiteX6" fmla="*/ 302418 w 302418"/>
                  <a:gd name="connsiteY6" fmla="*/ 52388 h 244988"/>
                  <a:gd name="connsiteX7" fmla="*/ 254793 w 302418"/>
                  <a:gd name="connsiteY7" fmla="*/ 4763 h 244988"/>
                  <a:gd name="connsiteX8" fmla="*/ 171450 w 302418"/>
                  <a:gd name="connsiteY8" fmla="*/ 92869 h 244988"/>
                  <a:gd name="connsiteX9" fmla="*/ 211931 w 302418"/>
                  <a:gd name="connsiteY9" fmla="*/ 133350 h 244988"/>
                  <a:gd name="connsiteX10" fmla="*/ 197643 w 302418"/>
                  <a:gd name="connsiteY10" fmla="*/ 147638 h 244988"/>
                  <a:gd name="connsiteX11" fmla="*/ 150018 w 302418"/>
                  <a:gd name="connsiteY11" fmla="*/ 109538 h 244988"/>
                  <a:gd name="connsiteX12" fmla="*/ 114300 w 302418"/>
                  <a:gd name="connsiteY12" fmla="*/ 150019 h 244988"/>
                  <a:gd name="connsiteX13" fmla="*/ 100012 w 302418"/>
                  <a:gd name="connsiteY13" fmla="*/ 133350 h 244988"/>
                  <a:gd name="connsiteX14" fmla="*/ 133350 w 302418"/>
                  <a:gd name="connsiteY14" fmla="*/ 97631 h 244988"/>
                  <a:gd name="connsiteX15" fmla="*/ 52387 w 302418"/>
                  <a:gd name="connsiteY15" fmla="*/ 0 h 244988"/>
                  <a:gd name="connsiteX0" fmla="*/ 52387 w 302418"/>
                  <a:gd name="connsiteY0" fmla="*/ 0 h 244988"/>
                  <a:gd name="connsiteX1" fmla="*/ 0 w 302418"/>
                  <a:gd name="connsiteY1" fmla="*/ 50006 h 244988"/>
                  <a:gd name="connsiteX2" fmla="*/ 0 w 302418"/>
                  <a:gd name="connsiteY2" fmla="*/ 92869 h 244988"/>
                  <a:gd name="connsiteX3" fmla="*/ 130968 w 302418"/>
                  <a:gd name="connsiteY3" fmla="*/ 233363 h 244988"/>
                  <a:gd name="connsiteX4" fmla="*/ 176212 w 302418"/>
                  <a:gd name="connsiteY4" fmla="*/ 233363 h 244988"/>
                  <a:gd name="connsiteX5" fmla="*/ 302418 w 302418"/>
                  <a:gd name="connsiteY5" fmla="*/ 100013 h 244988"/>
                  <a:gd name="connsiteX6" fmla="*/ 302418 w 302418"/>
                  <a:gd name="connsiteY6" fmla="*/ 52388 h 244988"/>
                  <a:gd name="connsiteX7" fmla="*/ 254793 w 302418"/>
                  <a:gd name="connsiteY7" fmla="*/ 4763 h 244988"/>
                  <a:gd name="connsiteX8" fmla="*/ 171450 w 302418"/>
                  <a:gd name="connsiteY8" fmla="*/ 92869 h 244988"/>
                  <a:gd name="connsiteX9" fmla="*/ 211931 w 302418"/>
                  <a:gd name="connsiteY9" fmla="*/ 133350 h 244988"/>
                  <a:gd name="connsiteX10" fmla="*/ 197643 w 302418"/>
                  <a:gd name="connsiteY10" fmla="*/ 147638 h 244988"/>
                  <a:gd name="connsiteX11" fmla="*/ 150018 w 302418"/>
                  <a:gd name="connsiteY11" fmla="*/ 109538 h 244988"/>
                  <a:gd name="connsiteX12" fmla="*/ 114300 w 302418"/>
                  <a:gd name="connsiteY12" fmla="*/ 150019 h 244988"/>
                  <a:gd name="connsiteX13" fmla="*/ 100012 w 302418"/>
                  <a:gd name="connsiteY13" fmla="*/ 133350 h 244988"/>
                  <a:gd name="connsiteX14" fmla="*/ 133350 w 302418"/>
                  <a:gd name="connsiteY14" fmla="*/ 97631 h 244988"/>
                  <a:gd name="connsiteX15" fmla="*/ 52387 w 302418"/>
                  <a:gd name="connsiteY15" fmla="*/ 0 h 244988"/>
                  <a:gd name="connsiteX0" fmla="*/ 52387 w 302418"/>
                  <a:gd name="connsiteY0" fmla="*/ 0 h 244988"/>
                  <a:gd name="connsiteX1" fmla="*/ 0 w 302418"/>
                  <a:gd name="connsiteY1" fmla="*/ 50006 h 244988"/>
                  <a:gd name="connsiteX2" fmla="*/ 0 w 302418"/>
                  <a:gd name="connsiteY2" fmla="*/ 92869 h 244988"/>
                  <a:gd name="connsiteX3" fmla="*/ 130968 w 302418"/>
                  <a:gd name="connsiteY3" fmla="*/ 233363 h 244988"/>
                  <a:gd name="connsiteX4" fmla="*/ 176212 w 302418"/>
                  <a:gd name="connsiteY4" fmla="*/ 233363 h 244988"/>
                  <a:gd name="connsiteX5" fmla="*/ 302418 w 302418"/>
                  <a:gd name="connsiteY5" fmla="*/ 100013 h 244988"/>
                  <a:gd name="connsiteX6" fmla="*/ 302418 w 302418"/>
                  <a:gd name="connsiteY6" fmla="*/ 52388 h 244988"/>
                  <a:gd name="connsiteX7" fmla="*/ 254793 w 302418"/>
                  <a:gd name="connsiteY7" fmla="*/ 4763 h 244988"/>
                  <a:gd name="connsiteX8" fmla="*/ 171450 w 302418"/>
                  <a:gd name="connsiteY8" fmla="*/ 92869 h 244988"/>
                  <a:gd name="connsiteX9" fmla="*/ 211931 w 302418"/>
                  <a:gd name="connsiteY9" fmla="*/ 133350 h 244988"/>
                  <a:gd name="connsiteX10" fmla="*/ 193913 w 302418"/>
                  <a:gd name="connsiteY10" fmla="*/ 149503 h 244988"/>
                  <a:gd name="connsiteX11" fmla="*/ 150018 w 302418"/>
                  <a:gd name="connsiteY11" fmla="*/ 109538 h 244988"/>
                  <a:gd name="connsiteX12" fmla="*/ 114300 w 302418"/>
                  <a:gd name="connsiteY12" fmla="*/ 150019 h 244988"/>
                  <a:gd name="connsiteX13" fmla="*/ 100012 w 302418"/>
                  <a:gd name="connsiteY13" fmla="*/ 133350 h 244988"/>
                  <a:gd name="connsiteX14" fmla="*/ 133350 w 302418"/>
                  <a:gd name="connsiteY14" fmla="*/ 97631 h 244988"/>
                  <a:gd name="connsiteX15" fmla="*/ 52387 w 302418"/>
                  <a:gd name="connsiteY15" fmla="*/ 0 h 244988"/>
                  <a:gd name="connsiteX0" fmla="*/ 52387 w 302418"/>
                  <a:gd name="connsiteY0" fmla="*/ 0 h 244988"/>
                  <a:gd name="connsiteX1" fmla="*/ 0 w 302418"/>
                  <a:gd name="connsiteY1" fmla="*/ 50006 h 244988"/>
                  <a:gd name="connsiteX2" fmla="*/ 0 w 302418"/>
                  <a:gd name="connsiteY2" fmla="*/ 92869 h 244988"/>
                  <a:gd name="connsiteX3" fmla="*/ 130968 w 302418"/>
                  <a:gd name="connsiteY3" fmla="*/ 233363 h 244988"/>
                  <a:gd name="connsiteX4" fmla="*/ 176212 w 302418"/>
                  <a:gd name="connsiteY4" fmla="*/ 233363 h 244988"/>
                  <a:gd name="connsiteX5" fmla="*/ 302418 w 302418"/>
                  <a:gd name="connsiteY5" fmla="*/ 100013 h 244988"/>
                  <a:gd name="connsiteX6" fmla="*/ 302418 w 302418"/>
                  <a:gd name="connsiteY6" fmla="*/ 52388 h 244988"/>
                  <a:gd name="connsiteX7" fmla="*/ 254793 w 302418"/>
                  <a:gd name="connsiteY7" fmla="*/ 4763 h 244988"/>
                  <a:gd name="connsiteX8" fmla="*/ 171450 w 302418"/>
                  <a:gd name="connsiteY8" fmla="*/ 92869 h 244988"/>
                  <a:gd name="connsiteX9" fmla="*/ 211931 w 302418"/>
                  <a:gd name="connsiteY9" fmla="*/ 133350 h 244988"/>
                  <a:gd name="connsiteX10" fmla="*/ 193913 w 302418"/>
                  <a:gd name="connsiteY10" fmla="*/ 149503 h 244988"/>
                  <a:gd name="connsiteX11" fmla="*/ 150018 w 302418"/>
                  <a:gd name="connsiteY11" fmla="*/ 109538 h 244988"/>
                  <a:gd name="connsiteX12" fmla="*/ 114300 w 302418"/>
                  <a:gd name="connsiteY12" fmla="*/ 150019 h 244988"/>
                  <a:gd name="connsiteX13" fmla="*/ 100012 w 302418"/>
                  <a:gd name="connsiteY13" fmla="*/ 133350 h 244988"/>
                  <a:gd name="connsiteX14" fmla="*/ 133350 w 302418"/>
                  <a:gd name="connsiteY14" fmla="*/ 97631 h 244988"/>
                  <a:gd name="connsiteX15" fmla="*/ 52387 w 302418"/>
                  <a:gd name="connsiteY15" fmla="*/ 0 h 244988"/>
                  <a:gd name="connsiteX0" fmla="*/ 52387 w 302418"/>
                  <a:gd name="connsiteY0" fmla="*/ 0 h 244988"/>
                  <a:gd name="connsiteX1" fmla="*/ 0 w 302418"/>
                  <a:gd name="connsiteY1" fmla="*/ 50006 h 244988"/>
                  <a:gd name="connsiteX2" fmla="*/ 0 w 302418"/>
                  <a:gd name="connsiteY2" fmla="*/ 92869 h 244988"/>
                  <a:gd name="connsiteX3" fmla="*/ 130968 w 302418"/>
                  <a:gd name="connsiteY3" fmla="*/ 233363 h 244988"/>
                  <a:gd name="connsiteX4" fmla="*/ 176212 w 302418"/>
                  <a:gd name="connsiteY4" fmla="*/ 233363 h 244988"/>
                  <a:gd name="connsiteX5" fmla="*/ 302418 w 302418"/>
                  <a:gd name="connsiteY5" fmla="*/ 100013 h 244988"/>
                  <a:gd name="connsiteX6" fmla="*/ 302418 w 302418"/>
                  <a:gd name="connsiteY6" fmla="*/ 52388 h 244988"/>
                  <a:gd name="connsiteX7" fmla="*/ 254793 w 302418"/>
                  <a:gd name="connsiteY7" fmla="*/ 4763 h 244988"/>
                  <a:gd name="connsiteX8" fmla="*/ 171450 w 302418"/>
                  <a:gd name="connsiteY8" fmla="*/ 92869 h 244988"/>
                  <a:gd name="connsiteX9" fmla="*/ 211931 w 302418"/>
                  <a:gd name="connsiteY9" fmla="*/ 133350 h 244988"/>
                  <a:gd name="connsiteX10" fmla="*/ 193913 w 302418"/>
                  <a:gd name="connsiteY10" fmla="*/ 149503 h 244988"/>
                  <a:gd name="connsiteX11" fmla="*/ 150018 w 302418"/>
                  <a:gd name="connsiteY11" fmla="*/ 109538 h 244988"/>
                  <a:gd name="connsiteX12" fmla="*/ 114300 w 302418"/>
                  <a:gd name="connsiteY12" fmla="*/ 150019 h 244988"/>
                  <a:gd name="connsiteX13" fmla="*/ 100012 w 302418"/>
                  <a:gd name="connsiteY13" fmla="*/ 133350 h 244988"/>
                  <a:gd name="connsiteX14" fmla="*/ 133350 w 302418"/>
                  <a:gd name="connsiteY14" fmla="*/ 97631 h 244988"/>
                  <a:gd name="connsiteX15" fmla="*/ 52387 w 302418"/>
                  <a:gd name="connsiteY15" fmla="*/ 0 h 244988"/>
                  <a:gd name="connsiteX0" fmla="*/ 52387 w 302418"/>
                  <a:gd name="connsiteY0" fmla="*/ 0 h 244988"/>
                  <a:gd name="connsiteX1" fmla="*/ 0 w 302418"/>
                  <a:gd name="connsiteY1" fmla="*/ 50006 h 244988"/>
                  <a:gd name="connsiteX2" fmla="*/ 0 w 302418"/>
                  <a:gd name="connsiteY2" fmla="*/ 92869 h 244988"/>
                  <a:gd name="connsiteX3" fmla="*/ 130968 w 302418"/>
                  <a:gd name="connsiteY3" fmla="*/ 233363 h 244988"/>
                  <a:gd name="connsiteX4" fmla="*/ 176212 w 302418"/>
                  <a:gd name="connsiteY4" fmla="*/ 233363 h 244988"/>
                  <a:gd name="connsiteX5" fmla="*/ 302418 w 302418"/>
                  <a:gd name="connsiteY5" fmla="*/ 100013 h 244988"/>
                  <a:gd name="connsiteX6" fmla="*/ 302418 w 302418"/>
                  <a:gd name="connsiteY6" fmla="*/ 52388 h 244988"/>
                  <a:gd name="connsiteX7" fmla="*/ 254793 w 302418"/>
                  <a:gd name="connsiteY7" fmla="*/ 4763 h 244988"/>
                  <a:gd name="connsiteX8" fmla="*/ 171450 w 302418"/>
                  <a:gd name="connsiteY8" fmla="*/ 92869 h 244988"/>
                  <a:gd name="connsiteX9" fmla="*/ 211931 w 302418"/>
                  <a:gd name="connsiteY9" fmla="*/ 133350 h 244988"/>
                  <a:gd name="connsiteX10" fmla="*/ 193913 w 302418"/>
                  <a:gd name="connsiteY10" fmla="*/ 149503 h 244988"/>
                  <a:gd name="connsiteX11" fmla="*/ 150018 w 302418"/>
                  <a:gd name="connsiteY11" fmla="*/ 109538 h 244988"/>
                  <a:gd name="connsiteX12" fmla="*/ 114300 w 302418"/>
                  <a:gd name="connsiteY12" fmla="*/ 150019 h 244988"/>
                  <a:gd name="connsiteX13" fmla="*/ 100012 w 302418"/>
                  <a:gd name="connsiteY13" fmla="*/ 133350 h 244988"/>
                  <a:gd name="connsiteX14" fmla="*/ 133350 w 302418"/>
                  <a:gd name="connsiteY14" fmla="*/ 97631 h 244988"/>
                  <a:gd name="connsiteX15" fmla="*/ 52387 w 302418"/>
                  <a:gd name="connsiteY15" fmla="*/ 0 h 24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2418" h="244988">
                    <a:moveTo>
                      <a:pt x="52387" y="0"/>
                    </a:moveTo>
                    <a:lnTo>
                      <a:pt x="0" y="50006"/>
                    </a:lnTo>
                    <a:lnTo>
                      <a:pt x="0" y="92869"/>
                    </a:lnTo>
                    <a:lnTo>
                      <a:pt x="130968" y="233363"/>
                    </a:lnTo>
                    <a:cubicBezTo>
                      <a:pt x="146049" y="247650"/>
                      <a:pt x="163512" y="250031"/>
                      <a:pt x="176212" y="233363"/>
                    </a:cubicBezTo>
                    <a:lnTo>
                      <a:pt x="302418" y="100013"/>
                    </a:lnTo>
                    <a:lnTo>
                      <a:pt x="302418" y="52388"/>
                    </a:lnTo>
                    <a:lnTo>
                      <a:pt x="254793" y="4763"/>
                    </a:lnTo>
                    <a:lnTo>
                      <a:pt x="171450" y="92869"/>
                    </a:lnTo>
                    <a:lnTo>
                      <a:pt x="211931" y="133350"/>
                    </a:lnTo>
                    <a:cubicBezTo>
                      <a:pt x="228306" y="148059"/>
                      <a:pt x="208001" y="164634"/>
                      <a:pt x="193913" y="149503"/>
                    </a:cubicBezTo>
                    <a:lnTo>
                      <a:pt x="150018" y="109538"/>
                    </a:lnTo>
                    <a:lnTo>
                      <a:pt x="114300" y="150019"/>
                    </a:lnTo>
                    <a:cubicBezTo>
                      <a:pt x="99590" y="161870"/>
                      <a:pt x="87989" y="145123"/>
                      <a:pt x="100012" y="133350"/>
                    </a:cubicBezTo>
                    <a:lnTo>
                      <a:pt x="133350" y="97631"/>
                    </a:lnTo>
                    <a:lnTo>
                      <a:pt x="52387" y="0"/>
                    </a:ln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3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Freeform 110"/>
              <p:cNvSpPr/>
              <p:nvPr/>
            </p:nvSpPr>
            <p:spPr>
              <a:xfrm>
                <a:off x="3225773" y="1312897"/>
                <a:ext cx="424381" cy="1227102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11677650">
                    <a:moveTo>
                      <a:pt x="1870897" y="5543554"/>
                    </a:moveTo>
                    <a:lnTo>
                      <a:pt x="2167712" y="5543554"/>
                    </a:lnTo>
                    <a:lnTo>
                      <a:pt x="2167712" y="5939532"/>
                    </a:lnTo>
                    <a:lnTo>
                      <a:pt x="2552697" y="5939532"/>
                    </a:lnTo>
                    <a:lnTo>
                      <a:pt x="2552697" y="6236343"/>
                    </a:lnTo>
                    <a:lnTo>
                      <a:pt x="2167712" y="6236343"/>
                    </a:lnTo>
                    <a:lnTo>
                      <a:pt x="2167712" y="6632453"/>
                    </a:lnTo>
                    <a:lnTo>
                      <a:pt x="1870897" y="6632453"/>
                    </a:lnTo>
                    <a:lnTo>
                      <a:pt x="1870897" y="6236343"/>
                    </a:lnTo>
                    <a:lnTo>
                      <a:pt x="1485902" y="6236343"/>
                    </a:lnTo>
                    <a:lnTo>
                      <a:pt x="1485902" y="5939532"/>
                    </a:lnTo>
                    <a:lnTo>
                      <a:pt x="1870897" y="5939532"/>
                    </a:lnTo>
                    <a:close/>
                    <a:moveTo>
                      <a:pt x="2009775" y="4370387"/>
                    </a:moveTo>
                    <a:cubicBezTo>
                      <a:pt x="1830041" y="4370387"/>
                      <a:pt x="1684337" y="4516091"/>
                      <a:pt x="1684337" y="4695825"/>
                    </a:cubicBezTo>
                    <a:cubicBezTo>
                      <a:pt x="1684337" y="4860962"/>
                      <a:pt x="1807335" y="4997371"/>
                      <a:pt x="1966913" y="5016942"/>
                    </a:cubicBezTo>
                    <a:lnTo>
                      <a:pt x="1966913" y="5124450"/>
                    </a:lnTo>
                    <a:lnTo>
                      <a:pt x="1085850" y="5124450"/>
                    </a:lnTo>
                    <a:cubicBezTo>
                      <a:pt x="873125" y="5124450"/>
                      <a:pt x="717550" y="5257800"/>
                      <a:pt x="704850" y="5467350"/>
                    </a:cubicBezTo>
                    <a:lnTo>
                      <a:pt x="514350" y="7048500"/>
                    </a:lnTo>
                    <a:lnTo>
                      <a:pt x="3505200" y="7048500"/>
                    </a:lnTo>
                    <a:lnTo>
                      <a:pt x="3333750" y="5505450"/>
                    </a:lnTo>
                    <a:cubicBezTo>
                      <a:pt x="3346450" y="5321300"/>
                      <a:pt x="3225800" y="5127625"/>
                      <a:pt x="2971800" y="5124450"/>
                    </a:cubicBezTo>
                    <a:lnTo>
                      <a:pt x="2052638" y="5124450"/>
                    </a:lnTo>
                    <a:lnTo>
                      <a:pt x="2052638" y="5016942"/>
                    </a:lnTo>
                    <a:cubicBezTo>
                      <a:pt x="2212216" y="4997370"/>
                      <a:pt x="2335213" y="4860961"/>
                      <a:pt x="2335213" y="4695825"/>
                    </a:cubicBezTo>
                    <a:cubicBezTo>
                      <a:pt x="2335213" y="4516091"/>
                      <a:pt x="2189509" y="4370387"/>
                      <a:pt x="2009775" y="4370387"/>
                    </a:cubicBezTo>
                    <a:close/>
                    <a:moveTo>
                      <a:pt x="971550" y="0"/>
                    </a:moveTo>
                    <a:lnTo>
                      <a:pt x="990600" y="285750"/>
                    </a:lnTo>
                    <a:lnTo>
                      <a:pt x="1885950" y="1219200"/>
                    </a:lnTo>
                    <a:lnTo>
                      <a:pt x="1885950" y="2266663"/>
                    </a:lnTo>
                    <a:cubicBezTo>
                      <a:pt x="1759984" y="2318808"/>
                      <a:pt x="1671465" y="2442966"/>
                      <a:pt x="1671465" y="2587798"/>
                    </a:cubicBezTo>
                    <a:cubicBezTo>
                      <a:pt x="1671465" y="2779902"/>
                      <a:pt x="1827196" y="2935633"/>
                      <a:pt x="2019300" y="2935633"/>
                    </a:cubicBezTo>
                    <a:cubicBezTo>
                      <a:pt x="2211404" y="2935633"/>
                      <a:pt x="2367135" y="2779902"/>
                      <a:pt x="2367135" y="2587798"/>
                    </a:cubicBezTo>
                    <a:cubicBezTo>
                      <a:pt x="2367135" y="2435917"/>
                      <a:pt x="2269791" y="2306772"/>
                      <a:pt x="2133600" y="2260750"/>
                    </a:cubicBezTo>
                    <a:lnTo>
                      <a:pt x="2133600" y="1257300"/>
                    </a:lnTo>
                    <a:lnTo>
                      <a:pt x="3028950" y="266700"/>
                    </a:lnTo>
                    <a:lnTo>
                      <a:pt x="3028950" y="19050"/>
                    </a:lnTo>
                    <a:lnTo>
                      <a:pt x="3638550" y="152400"/>
                    </a:lnTo>
                    <a:cubicBezTo>
                      <a:pt x="3854450" y="279400"/>
                      <a:pt x="3898900" y="425450"/>
                      <a:pt x="3886200" y="590550"/>
                    </a:cubicBezTo>
                    <a:lnTo>
                      <a:pt x="3886200" y="2876550"/>
                    </a:lnTo>
                    <a:lnTo>
                      <a:pt x="3429000" y="3905250"/>
                    </a:lnTo>
                    <a:cubicBezTo>
                      <a:pt x="4013200" y="5441950"/>
                      <a:pt x="4025900" y="7073900"/>
                      <a:pt x="4038600" y="8401050"/>
                    </a:cubicBezTo>
                    <a:lnTo>
                      <a:pt x="3105150" y="8401050"/>
                    </a:lnTo>
                    <a:lnTo>
                      <a:pt x="2686050" y="11144250"/>
                    </a:lnTo>
                    <a:cubicBezTo>
                      <a:pt x="3130550" y="11264900"/>
                      <a:pt x="3194050" y="11499850"/>
                      <a:pt x="3295650" y="11677650"/>
                    </a:cubicBezTo>
                    <a:lnTo>
                      <a:pt x="800100" y="11677650"/>
                    </a:lnTo>
                    <a:cubicBezTo>
                      <a:pt x="692150" y="11677650"/>
                      <a:pt x="965200" y="11220450"/>
                      <a:pt x="1390650" y="11163300"/>
                    </a:cubicBezTo>
                    <a:lnTo>
                      <a:pt x="990600" y="8362950"/>
                    </a:lnTo>
                    <a:lnTo>
                      <a:pt x="0" y="8362950"/>
                    </a:lnTo>
                    <a:cubicBezTo>
                      <a:pt x="19050" y="7334250"/>
                      <a:pt x="19050" y="5753100"/>
                      <a:pt x="628650" y="3848100"/>
                    </a:cubicBezTo>
                    <a:lnTo>
                      <a:pt x="114300" y="2819400"/>
                    </a:lnTo>
                    <a:lnTo>
                      <a:pt x="114300" y="628650"/>
                    </a:lnTo>
                    <a:cubicBezTo>
                      <a:pt x="114300" y="438150"/>
                      <a:pt x="190500" y="285750"/>
                      <a:pt x="342900" y="171450"/>
                    </a:cubicBezTo>
                    <a:close/>
                  </a:path>
                </a:pathLst>
              </a:custGeom>
              <a:grp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300" dirty="0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1" name="Oval 70"/>
            <p:cNvSpPr/>
            <p:nvPr/>
          </p:nvSpPr>
          <p:spPr>
            <a:xfrm>
              <a:off x="4989263" y="2681009"/>
              <a:ext cx="100487" cy="12121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300" dirty="0" err="1">
                <a:solidFill>
                  <a:schemeClr val="bg1"/>
                </a:solidFill>
              </a:endParaRPr>
            </a:p>
          </p:txBody>
        </p:sp>
        <p:sp>
          <p:nvSpPr>
            <p:cNvPr id="72" name="Oval 71"/>
            <p:cNvSpPr>
              <a:spLocks/>
            </p:cNvSpPr>
            <p:nvPr/>
          </p:nvSpPr>
          <p:spPr>
            <a:xfrm>
              <a:off x="328054" y="2559630"/>
              <a:ext cx="882947" cy="8797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 err="1">
                <a:solidFill>
                  <a:schemeClr val="tx1"/>
                </a:solidFill>
              </a:endParaRPr>
            </a:p>
          </p:txBody>
        </p:sp>
        <p:sp>
          <p:nvSpPr>
            <p:cNvPr id="73" name="Oval 72"/>
            <p:cNvSpPr>
              <a:spLocks/>
            </p:cNvSpPr>
            <p:nvPr/>
          </p:nvSpPr>
          <p:spPr>
            <a:xfrm>
              <a:off x="427512" y="4012277"/>
              <a:ext cx="882947" cy="8797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 err="1">
                <a:solidFill>
                  <a:schemeClr val="tx1"/>
                </a:solidFill>
              </a:endParaRPr>
            </a:p>
          </p:txBody>
        </p:sp>
        <p:grpSp>
          <p:nvGrpSpPr>
            <p:cNvPr id="74" name="Group 73"/>
            <p:cNvGrpSpPr/>
            <p:nvPr/>
          </p:nvGrpSpPr>
          <p:grpSpPr>
            <a:xfrm>
              <a:off x="611670" y="4182324"/>
              <a:ext cx="560350" cy="539615"/>
              <a:chOff x="-3806825" y="3673476"/>
              <a:chExt cx="1979613" cy="1946275"/>
            </a:xfrm>
            <a:solidFill>
              <a:schemeClr val="accent1"/>
            </a:solidFill>
          </p:grpSpPr>
          <p:sp>
            <p:nvSpPr>
              <p:cNvPr id="102" name="Freeform 81"/>
              <p:cNvSpPr>
                <a:spLocks/>
              </p:cNvSpPr>
              <p:nvPr/>
            </p:nvSpPr>
            <p:spPr bwMode="auto">
              <a:xfrm>
                <a:off x="-3562350" y="3902076"/>
                <a:ext cx="682625" cy="660400"/>
              </a:xfrm>
              <a:custGeom>
                <a:avLst/>
                <a:gdLst>
                  <a:gd name="T0" fmla="*/ 0 w 182"/>
                  <a:gd name="T1" fmla="*/ 0 h 176"/>
                  <a:gd name="T2" fmla="*/ 0 w 182"/>
                  <a:gd name="T3" fmla="*/ 176 h 176"/>
                  <a:gd name="T4" fmla="*/ 177 w 182"/>
                  <a:gd name="T5" fmla="*/ 171 h 176"/>
                  <a:gd name="T6" fmla="*/ 182 w 182"/>
                  <a:gd name="T7" fmla="*/ 150 h 176"/>
                  <a:gd name="T8" fmla="*/ 24 w 182"/>
                  <a:gd name="T9" fmla="*/ 143 h 176"/>
                  <a:gd name="T10" fmla="*/ 24 w 182"/>
                  <a:gd name="T11" fmla="*/ 139 h 176"/>
                  <a:gd name="T12" fmla="*/ 78 w 182"/>
                  <a:gd name="T13" fmla="*/ 139 h 176"/>
                  <a:gd name="T14" fmla="*/ 78 w 182"/>
                  <a:gd name="T15" fmla="*/ 133 h 176"/>
                  <a:gd name="T16" fmla="*/ 14 w 182"/>
                  <a:gd name="T17" fmla="*/ 129 h 176"/>
                  <a:gd name="T18" fmla="*/ 14 w 182"/>
                  <a:gd name="T19" fmla="*/ 16 h 176"/>
                  <a:gd name="T20" fmla="*/ 113 w 182"/>
                  <a:gd name="T21" fmla="*/ 34 h 176"/>
                  <a:gd name="T22" fmla="*/ 123 w 182"/>
                  <a:gd name="T23" fmla="*/ 47 h 176"/>
                  <a:gd name="T24" fmla="*/ 124 w 182"/>
                  <a:gd name="T25" fmla="*/ 110 h 176"/>
                  <a:gd name="T26" fmla="*/ 130 w 182"/>
                  <a:gd name="T27" fmla="*/ 110 h 176"/>
                  <a:gd name="T28" fmla="*/ 130 w 182"/>
                  <a:gd name="T29" fmla="*/ 60 h 176"/>
                  <a:gd name="T30" fmla="*/ 99 w 182"/>
                  <a:gd name="T31" fmla="*/ 22 h 176"/>
                  <a:gd name="T32" fmla="*/ 0 w 182"/>
                  <a:gd name="T33" fmla="*/ 0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2" h="176">
                    <a:moveTo>
                      <a:pt x="0" y="0"/>
                    </a:moveTo>
                    <a:cubicBezTo>
                      <a:pt x="0" y="60"/>
                      <a:pt x="0" y="116"/>
                      <a:pt x="0" y="176"/>
                    </a:cubicBezTo>
                    <a:cubicBezTo>
                      <a:pt x="60" y="174"/>
                      <a:pt x="118" y="173"/>
                      <a:pt x="177" y="171"/>
                    </a:cubicBezTo>
                    <a:cubicBezTo>
                      <a:pt x="179" y="163"/>
                      <a:pt x="180" y="159"/>
                      <a:pt x="182" y="150"/>
                    </a:cubicBezTo>
                    <a:cubicBezTo>
                      <a:pt x="128" y="148"/>
                      <a:pt x="76" y="146"/>
                      <a:pt x="24" y="143"/>
                    </a:cubicBezTo>
                    <a:cubicBezTo>
                      <a:pt x="24" y="142"/>
                      <a:pt x="24" y="140"/>
                      <a:pt x="24" y="139"/>
                    </a:cubicBezTo>
                    <a:cubicBezTo>
                      <a:pt x="42" y="139"/>
                      <a:pt x="60" y="139"/>
                      <a:pt x="78" y="139"/>
                    </a:cubicBezTo>
                    <a:cubicBezTo>
                      <a:pt x="78" y="137"/>
                      <a:pt x="78" y="135"/>
                      <a:pt x="78" y="133"/>
                    </a:cubicBezTo>
                    <a:cubicBezTo>
                      <a:pt x="57" y="132"/>
                      <a:pt x="36" y="130"/>
                      <a:pt x="14" y="129"/>
                    </a:cubicBezTo>
                    <a:cubicBezTo>
                      <a:pt x="14" y="90"/>
                      <a:pt x="14" y="54"/>
                      <a:pt x="14" y="16"/>
                    </a:cubicBezTo>
                    <a:cubicBezTo>
                      <a:pt x="48" y="22"/>
                      <a:pt x="81" y="27"/>
                      <a:pt x="113" y="34"/>
                    </a:cubicBezTo>
                    <a:cubicBezTo>
                      <a:pt x="118" y="35"/>
                      <a:pt x="123" y="42"/>
                      <a:pt x="123" y="47"/>
                    </a:cubicBezTo>
                    <a:cubicBezTo>
                      <a:pt x="124" y="68"/>
                      <a:pt x="124" y="89"/>
                      <a:pt x="124" y="110"/>
                    </a:cubicBezTo>
                    <a:cubicBezTo>
                      <a:pt x="126" y="110"/>
                      <a:pt x="128" y="110"/>
                      <a:pt x="130" y="110"/>
                    </a:cubicBezTo>
                    <a:cubicBezTo>
                      <a:pt x="130" y="94"/>
                      <a:pt x="130" y="77"/>
                      <a:pt x="130" y="60"/>
                    </a:cubicBezTo>
                    <a:cubicBezTo>
                      <a:pt x="130" y="28"/>
                      <a:pt x="130" y="28"/>
                      <a:pt x="99" y="22"/>
                    </a:cubicBezTo>
                    <a:cubicBezTo>
                      <a:pt x="67" y="15"/>
                      <a:pt x="35" y="8"/>
                      <a:pt x="0" y="0"/>
                    </a:cubicBezTo>
                    <a:close/>
                  </a:path>
                </a:pathLst>
              </a:custGeom>
              <a:grpFill/>
              <a:ln w="10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00"/>
              </a:p>
            </p:txBody>
          </p:sp>
          <p:sp>
            <p:nvSpPr>
              <p:cNvPr id="103" name="Freeform 82"/>
              <p:cNvSpPr>
                <a:spLocks noEditPoints="1"/>
              </p:cNvSpPr>
              <p:nvPr/>
            </p:nvSpPr>
            <p:spPr bwMode="auto">
              <a:xfrm>
                <a:off x="-3476625" y="4033838"/>
                <a:ext cx="247650" cy="258763"/>
              </a:xfrm>
              <a:custGeom>
                <a:avLst/>
                <a:gdLst>
                  <a:gd name="T0" fmla="*/ 25 w 66"/>
                  <a:gd name="T1" fmla="*/ 9 h 69"/>
                  <a:gd name="T2" fmla="*/ 38 w 66"/>
                  <a:gd name="T3" fmla="*/ 8 h 69"/>
                  <a:gd name="T4" fmla="*/ 51 w 66"/>
                  <a:gd name="T5" fmla="*/ 12 h 69"/>
                  <a:gd name="T6" fmla="*/ 60 w 66"/>
                  <a:gd name="T7" fmla="*/ 15 h 69"/>
                  <a:gd name="T8" fmla="*/ 60 w 66"/>
                  <a:gd name="T9" fmla="*/ 24 h 69"/>
                  <a:gd name="T10" fmla="*/ 66 w 66"/>
                  <a:gd name="T11" fmla="*/ 30 h 69"/>
                  <a:gd name="T12" fmla="*/ 62 w 66"/>
                  <a:gd name="T13" fmla="*/ 39 h 69"/>
                  <a:gd name="T14" fmla="*/ 57 w 66"/>
                  <a:gd name="T15" fmla="*/ 50 h 69"/>
                  <a:gd name="T16" fmla="*/ 53 w 66"/>
                  <a:gd name="T17" fmla="*/ 60 h 69"/>
                  <a:gd name="T18" fmla="*/ 44 w 66"/>
                  <a:gd name="T19" fmla="*/ 60 h 69"/>
                  <a:gd name="T20" fmla="*/ 31 w 66"/>
                  <a:gd name="T21" fmla="*/ 60 h 69"/>
                  <a:gd name="T22" fmla="*/ 18 w 66"/>
                  <a:gd name="T23" fmla="*/ 56 h 69"/>
                  <a:gd name="T24" fmla="*/ 9 w 66"/>
                  <a:gd name="T25" fmla="*/ 53 h 69"/>
                  <a:gd name="T26" fmla="*/ 9 w 66"/>
                  <a:gd name="T27" fmla="*/ 44 h 69"/>
                  <a:gd name="T28" fmla="*/ 8 w 66"/>
                  <a:gd name="T29" fmla="*/ 30 h 69"/>
                  <a:gd name="T30" fmla="*/ 13 w 66"/>
                  <a:gd name="T31" fmla="*/ 18 h 69"/>
                  <a:gd name="T32" fmla="*/ 16 w 66"/>
                  <a:gd name="T33" fmla="*/ 9 h 69"/>
                  <a:gd name="T34" fmla="*/ 25 w 66"/>
                  <a:gd name="T35" fmla="*/ 9 h 69"/>
                  <a:gd name="T36" fmla="*/ 34 w 66"/>
                  <a:gd name="T37" fmla="*/ 45 h 69"/>
                  <a:gd name="T38" fmla="*/ 45 w 66"/>
                  <a:gd name="T39" fmla="*/ 35 h 69"/>
                  <a:gd name="T40" fmla="*/ 35 w 66"/>
                  <a:gd name="T41" fmla="*/ 24 h 69"/>
                  <a:gd name="T42" fmla="*/ 24 w 66"/>
                  <a:gd name="T43" fmla="*/ 34 h 69"/>
                  <a:gd name="T44" fmla="*/ 34 w 66"/>
                  <a:gd name="T45" fmla="*/ 4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69">
                    <a:moveTo>
                      <a:pt x="25" y="9"/>
                    </a:moveTo>
                    <a:cubicBezTo>
                      <a:pt x="29" y="0"/>
                      <a:pt x="31" y="0"/>
                      <a:pt x="38" y="8"/>
                    </a:cubicBezTo>
                    <a:cubicBezTo>
                      <a:pt x="47" y="2"/>
                      <a:pt x="49" y="3"/>
                      <a:pt x="51" y="12"/>
                    </a:cubicBezTo>
                    <a:cubicBezTo>
                      <a:pt x="54" y="13"/>
                      <a:pt x="58" y="13"/>
                      <a:pt x="60" y="15"/>
                    </a:cubicBezTo>
                    <a:cubicBezTo>
                      <a:pt x="61" y="17"/>
                      <a:pt x="60" y="21"/>
                      <a:pt x="60" y="24"/>
                    </a:cubicBezTo>
                    <a:cubicBezTo>
                      <a:pt x="62" y="26"/>
                      <a:pt x="65" y="27"/>
                      <a:pt x="66" y="30"/>
                    </a:cubicBezTo>
                    <a:cubicBezTo>
                      <a:pt x="66" y="32"/>
                      <a:pt x="63" y="35"/>
                      <a:pt x="62" y="39"/>
                    </a:cubicBezTo>
                    <a:cubicBezTo>
                      <a:pt x="66" y="47"/>
                      <a:pt x="66" y="48"/>
                      <a:pt x="57" y="50"/>
                    </a:cubicBezTo>
                    <a:cubicBezTo>
                      <a:pt x="55" y="54"/>
                      <a:pt x="55" y="58"/>
                      <a:pt x="53" y="60"/>
                    </a:cubicBezTo>
                    <a:cubicBezTo>
                      <a:pt x="52" y="61"/>
                      <a:pt x="48" y="60"/>
                      <a:pt x="44" y="60"/>
                    </a:cubicBezTo>
                    <a:cubicBezTo>
                      <a:pt x="38" y="69"/>
                      <a:pt x="38" y="69"/>
                      <a:pt x="31" y="60"/>
                    </a:cubicBezTo>
                    <a:cubicBezTo>
                      <a:pt x="22" y="67"/>
                      <a:pt x="20" y="66"/>
                      <a:pt x="18" y="56"/>
                    </a:cubicBezTo>
                    <a:cubicBezTo>
                      <a:pt x="15" y="55"/>
                      <a:pt x="11" y="55"/>
                      <a:pt x="9" y="53"/>
                    </a:cubicBezTo>
                    <a:cubicBezTo>
                      <a:pt x="8" y="51"/>
                      <a:pt x="9" y="47"/>
                      <a:pt x="9" y="44"/>
                    </a:cubicBezTo>
                    <a:cubicBezTo>
                      <a:pt x="0" y="39"/>
                      <a:pt x="0" y="37"/>
                      <a:pt x="8" y="30"/>
                    </a:cubicBezTo>
                    <a:cubicBezTo>
                      <a:pt x="2" y="22"/>
                      <a:pt x="3" y="19"/>
                      <a:pt x="13" y="18"/>
                    </a:cubicBezTo>
                    <a:cubicBezTo>
                      <a:pt x="14" y="14"/>
                      <a:pt x="14" y="11"/>
                      <a:pt x="16" y="9"/>
                    </a:cubicBezTo>
                    <a:cubicBezTo>
                      <a:pt x="17" y="7"/>
                      <a:pt x="21" y="9"/>
                      <a:pt x="25" y="9"/>
                    </a:cubicBezTo>
                    <a:close/>
                    <a:moveTo>
                      <a:pt x="34" y="45"/>
                    </a:moveTo>
                    <a:cubicBezTo>
                      <a:pt x="40" y="45"/>
                      <a:pt x="45" y="40"/>
                      <a:pt x="45" y="35"/>
                    </a:cubicBezTo>
                    <a:cubicBezTo>
                      <a:pt x="45" y="29"/>
                      <a:pt x="40" y="24"/>
                      <a:pt x="35" y="24"/>
                    </a:cubicBezTo>
                    <a:cubicBezTo>
                      <a:pt x="29" y="23"/>
                      <a:pt x="24" y="29"/>
                      <a:pt x="24" y="34"/>
                    </a:cubicBezTo>
                    <a:cubicBezTo>
                      <a:pt x="24" y="40"/>
                      <a:pt x="29" y="44"/>
                      <a:pt x="34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00"/>
              </a:p>
            </p:txBody>
          </p:sp>
          <p:sp>
            <p:nvSpPr>
              <p:cNvPr id="104" name="Freeform 83"/>
              <p:cNvSpPr>
                <a:spLocks noEditPoints="1"/>
              </p:cNvSpPr>
              <p:nvPr/>
            </p:nvSpPr>
            <p:spPr bwMode="auto">
              <a:xfrm>
                <a:off x="-3270250" y="4205288"/>
                <a:ext cx="123825" cy="123825"/>
              </a:xfrm>
              <a:custGeom>
                <a:avLst/>
                <a:gdLst>
                  <a:gd name="T0" fmla="*/ 0 w 33"/>
                  <a:gd name="T1" fmla="*/ 23 h 33"/>
                  <a:gd name="T2" fmla="*/ 4 w 33"/>
                  <a:gd name="T3" fmla="*/ 6 h 33"/>
                  <a:gd name="T4" fmla="*/ 17 w 33"/>
                  <a:gd name="T5" fmla="*/ 1 h 33"/>
                  <a:gd name="T6" fmla="*/ 31 w 33"/>
                  <a:gd name="T7" fmla="*/ 13 h 33"/>
                  <a:gd name="T8" fmla="*/ 28 w 33"/>
                  <a:gd name="T9" fmla="*/ 27 h 33"/>
                  <a:gd name="T10" fmla="*/ 15 w 33"/>
                  <a:gd name="T11" fmla="*/ 33 h 33"/>
                  <a:gd name="T12" fmla="*/ 0 w 33"/>
                  <a:gd name="T13" fmla="*/ 23 h 33"/>
                  <a:gd name="T14" fmla="*/ 16 w 33"/>
                  <a:gd name="T15" fmla="*/ 24 h 33"/>
                  <a:gd name="T16" fmla="*/ 21 w 33"/>
                  <a:gd name="T17" fmla="*/ 17 h 33"/>
                  <a:gd name="T18" fmla="*/ 16 w 33"/>
                  <a:gd name="T19" fmla="*/ 13 h 33"/>
                  <a:gd name="T20" fmla="*/ 12 w 33"/>
                  <a:gd name="T21" fmla="*/ 17 h 33"/>
                  <a:gd name="T22" fmla="*/ 16 w 33"/>
                  <a:gd name="T23" fmla="*/ 24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" h="33">
                    <a:moveTo>
                      <a:pt x="0" y="23"/>
                    </a:moveTo>
                    <a:cubicBezTo>
                      <a:pt x="2" y="16"/>
                      <a:pt x="2" y="10"/>
                      <a:pt x="4" y="6"/>
                    </a:cubicBezTo>
                    <a:cubicBezTo>
                      <a:pt x="7" y="3"/>
                      <a:pt x="14" y="0"/>
                      <a:pt x="17" y="1"/>
                    </a:cubicBezTo>
                    <a:cubicBezTo>
                      <a:pt x="23" y="3"/>
                      <a:pt x="29" y="8"/>
                      <a:pt x="31" y="13"/>
                    </a:cubicBezTo>
                    <a:cubicBezTo>
                      <a:pt x="33" y="16"/>
                      <a:pt x="31" y="24"/>
                      <a:pt x="28" y="27"/>
                    </a:cubicBezTo>
                    <a:cubicBezTo>
                      <a:pt x="26" y="31"/>
                      <a:pt x="19" y="33"/>
                      <a:pt x="15" y="33"/>
                    </a:cubicBezTo>
                    <a:cubicBezTo>
                      <a:pt x="9" y="31"/>
                      <a:pt x="5" y="26"/>
                      <a:pt x="0" y="23"/>
                    </a:cubicBezTo>
                    <a:close/>
                    <a:moveTo>
                      <a:pt x="16" y="24"/>
                    </a:moveTo>
                    <a:cubicBezTo>
                      <a:pt x="19" y="20"/>
                      <a:pt x="21" y="18"/>
                      <a:pt x="21" y="17"/>
                    </a:cubicBezTo>
                    <a:cubicBezTo>
                      <a:pt x="20" y="15"/>
                      <a:pt x="18" y="13"/>
                      <a:pt x="16" y="13"/>
                    </a:cubicBezTo>
                    <a:cubicBezTo>
                      <a:pt x="15" y="12"/>
                      <a:pt x="12" y="15"/>
                      <a:pt x="12" y="17"/>
                    </a:cubicBezTo>
                    <a:cubicBezTo>
                      <a:pt x="12" y="19"/>
                      <a:pt x="14" y="20"/>
                      <a:pt x="16" y="2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00"/>
              </a:p>
            </p:txBody>
          </p:sp>
          <p:sp>
            <p:nvSpPr>
              <p:cNvPr id="105" name="Freeform 84"/>
              <p:cNvSpPr>
                <a:spLocks/>
              </p:cNvSpPr>
              <p:nvPr/>
            </p:nvSpPr>
            <p:spPr bwMode="auto">
              <a:xfrm>
                <a:off x="-3386138" y="4119563"/>
                <a:ext cx="77788" cy="82550"/>
              </a:xfrm>
              <a:custGeom>
                <a:avLst/>
                <a:gdLst>
                  <a:gd name="T0" fmla="*/ 10 w 21"/>
                  <a:gd name="T1" fmla="*/ 22 h 22"/>
                  <a:gd name="T2" fmla="*/ 0 w 21"/>
                  <a:gd name="T3" fmla="*/ 11 h 22"/>
                  <a:gd name="T4" fmla="*/ 11 w 21"/>
                  <a:gd name="T5" fmla="*/ 1 h 22"/>
                  <a:gd name="T6" fmla="*/ 21 w 21"/>
                  <a:gd name="T7" fmla="*/ 12 h 22"/>
                  <a:gd name="T8" fmla="*/ 10 w 21"/>
                  <a:gd name="T9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2">
                    <a:moveTo>
                      <a:pt x="10" y="22"/>
                    </a:moveTo>
                    <a:cubicBezTo>
                      <a:pt x="5" y="21"/>
                      <a:pt x="0" y="17"/>
                      <a:pt x="0" y="11"/>
                    </a:cubicBezTo>
                    <a:cubicBezTo>
                      <a:pt x="0" y="6"/>
                      <a:pt x="5" y="0"/>
                      <a:pt x="11" y="1"/>
                    </a:cubicBezTo>
                    <a:cubicBezTo>
                      <a:pt x="16" y="1"/>
                      <a:pt x="21" y="6"/>
                      <a:pt x="21" y="12"/>
                    </a:cubicBezTo>
                    <a:cubicBezTo>
                      <a:pt x="21" y="17"/>
                      <a:pt x="16" y="22"/>
                      <a:pt x="10" y="2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00"/>
              </a:p>
            </p:txBody>
          </p:sp>
          <p:sp>
            <p:nvSpPr>
              <p:cNvPr id="106" name="Freeform 85"/>
              <p:cNvSpPr>
                <a:spLocks/>
              </p:cNvSpPr>
              <p:nvPr/>
            </p:nvSpPr>
            <p:spPr bwMode="auto">
              <a:xfrm>
                <a:off x="-3225800" y="4251326"/>
                <a:ext cx="34925" cy="44450"/>
              </a:xfrm>
              <a:custGeom>
                <a:avLst/>
                <a:gdLst>
                  <a:gd name="T0" fmla="*/ 4 w 9"/>
                  <a:gd name="T1" fmla="*/ 12 h 12"/>
                  <a:gd name="T2" fmla="*/ 0 w 9"/>
                  <a:gd name="T3" fmla="*/ 5 h 12"/>
                  <a:gd name="T4" fmla="*/ 4 w 9"/>
                  <a:gd name="T5" fmla="*/ 1 h 12"/>
                  <a:gd name="T6" fmla="*/ 9 w 9"/>
                  <a:gd name="T7" fmla="*/ 5 h 12"/>
                  <a:gd name="T8" fmla="*/ 4 w 9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2">
                    <a:moveTo>
                      <a:pt x="4" y="12"/>
                    </a:moveTo>
                    <a:cubicBezTo>
                      <a:pt x="2" y="8"/>
                      <a:pt x="0" y="7"/>
                      <a:pt x="0" y="5"/>
                    </a:cubicBezTo>
                    <a:cubicBezTo>
                      <a:pt x="0" y="3"/>
                      <a:pt x="3" y="0"/>
                      <a:pt x="4" y="1"/>
                    </a:cubicBezTo>
                    <a:cubicBezTo>
                      <a:pt x="6" y="1"/>
                      <a:pt x="8" y="3"/>
                      <a:pt x="9" y="5"/>
                    </a:cubicBezTo>
                    <a:cubicBezTo>
                      <a:pt x="9" y="6"/>
                      <a:pt x="7" y="8"/>
                      <a:pt x="4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00"/>
              </a:p>
            </p:txBody>
          </p:sp>
          <p:sp>
            <p:nvSpPr>
              <p:cNvPr id="107" name="Freeform 86"/>
              <p:cNvSpPr>
                <a:spLocks/>
              </p:cNvSpPr>
              <p:nvPr/>
            </p:nvSpPr>
            <p:spPr bwMode="auto">
              <a:xfrm>
                <a:off x="-3806825" y="4092576"/>
                <a:ext cx="1868488" cy="1527175"/>
              </a:xfrm>
              <a:custGeom>
                <a:avLst/>
                <a:gdLst>
                  <a:gd name="T0" fmla="*/ 27 w 498"/>
                  <a:gd name="T1" fmla="*/ 403 h 407"/>
                  <a:gd name="T2" fmla="*/ 27 w 498"/>
                  <a:gd name="T3" fmla="*/ 172 h 407"/>
                  <a:gd name="T4" fmla="*/ 0 w 498"/>
                  <a:gd name="T5" fmla="*/ 171 h 407"/>
                  <a:gd name="T6" fmla="*/ 0 w 498"/>
                  <a:gd name="T7" fmla="*/ 124 h 407"/>
                  <a:gd name="T8" fmla="*/ 297 w 498"/>
                  <a:gd name="T9" fmla="*/ 124 h 407"/>
                  <a:gd name="T10" fmla="*/ 297 w 498"/>
                  <a:gd name="T11" fmla="*/ 171 h 407"/>
                  <a:gd name="T12" fmla="*/ 244 w 498"/>
                  <a:gd name="T13" fmla="*/ 171 h 407"/>
                  <a:gd name="T14" fmla="*/ 244 w 498"/>
                  <a:gd name="T15" fmla="*/ 356 h 407"/>
                  <a:gd name="T16" fmla="*/ 246 w 498"/>
                  <a:gd name="T17" fmla="*/ 357 h 407"/>
                  <a:gd name="T18" fmla="*/ 255 w 498"/>
                  <a:gd name="T19" fmla="*/ 326 h 407"/>
                  <a:gd name="T20" fmla="*/ 376 w 498"/>
                  <a:gd name="T21" fmla="*/ 185 h 407"/>
                  <a:gd name="T22" fmla="*/ 388 w 498"/>
                  <a:gd name="T23" fmla="*/ 166 h 407"/>
                  <a:gd name="T24" fmla="*/ 380 w 498"/>
                  <a:gd name="T25" fmla="*/ 108 h 407"/>
                  <a:gd name="T26" fmla="*/ 180 w 498"/>
                  <a:gd name="T27" fmla="*/ 115 h 407"/>
                  <a:gd name="T28" fmla="*/ 178 w 498"/>
                  <a:gd name="T29" fmla="*/ 106 h 407"/>
                  <a:gd name="T30" fmla="*/ 226 w 498"/>
                  <a:gd name="T31" fmla="*/ 93 h 407"/>
                  <a:gd name="T32" fmla="*/ 235 w 498"/>
                  <a:gd name="T33" fmla="*/ 67 h 407"/>
                  <a:gd name="T34" fmla="*/ 269 w 498"/>
                  <a:gd name="T35" fmla="*/ 60 h 407"/>
                  <a:gd name="T36" fmla="*/ 370 w 498"/>
                  <a:gd name="T37" fmla="*/ 52 h 407"/>
                  <a:gd name="T38" fmla="*/ 377 w 498"/>
                  <a:gd name="T39" fmla="*/ 30 h 407"/>
                  <a:gd name="T40" fmla="*/ 434 w 498"/>
                  <a:gd name="T41" fmla="*/ 4 h 407"/>
                  <a:gd name="T42" fmla="*/ 475 w 498"/>
                  <a:gd name="T43" fmla="*/ 44 h 407"/>
                  <a:gd name="T44" fmla="*/ 494 w 498"/>
                  <a:gd name="T45" fmla="*/ 176 h 407"/>
                  <a:gd name="T46" fmla="*/ 447 w 498"/>
                  <a:gd name="T47" fmla="*/ 239 h 407"/>
                  <a:gd name="T48" fmla="*/ 321 w 498"/>
                  <a:gd name="T49" fmla="*/ 339 h 407"/>
                  <a:gd name="T50" fmla="*/ 315 w 498"/>
                  <a:gd name="T51" fmla="*/ 366 h 407"/>
                  <a:gd name="T52" fmla="*/ 290 w 498"/>
                  <a:gd name="T53" fmla="*/ 402 h 407"/>
                  <a:gd name="T54" fmla="*/ 248 w 498"/>
                  <a:gd name="T55" fmla="*/ 393 h 407"/>
                  <a:gd name="T56" fmla="*/ 233 w 498"/>
                  <a:gd name="T57" fmla="*/ 403 h 407"/>
                  <a:gd name="T58" fmla="*/ 27 w 498"/>
                  <a:gd name="T59" fmla="*/ 403 h 4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98" h="407">
                    <a:moveTo>
                      <a:pt x="27" y="403"/>
                    </a:moveTo>
                    <a:cubicBezTo>
                      <a:pt x="27" y="325"/>
                      <a:pt x="27" y="249"/>
                      <a:pt x="27" y="172"/>
                    </a:cubicBezTo>
                    <a:cubicBezTo>
                      <a:pt x="17" y="172"/>
                      <a:pt x="9" y="171"/>
                      <a:pt x="0" y="171"/>
                    </a:cubicBezTo>
                    <a:cubicBezTo>
                      <a:pt x="0" y="156"/>
                      <a:pt x="0" y="141"/>
                      <a:pt x="0" y="124"/>
                    </a:cubicBezTo>
                    <a:cubicBezTo>
                      <a:pt x="99" y="124"/>
                      <a:pt x="197" y="124"/>
                      <a:pt x="297" y="124"/>
                    </a:cubicBezTo>
                    <a:cubicBezTo>
                      <a:pt x="297" y="140"/>
                      <a:pt x="297" y="155"/>
                      <a:pt x="297" y="171"/>
                    </a:cubicBezTo>
                    <a:cubicBezTo>
                      <a:pt x="279" y="171"/>
                      <a:pt x="262" y="171"/>
                      <a:pt x="244" y="171"/>
                    </a:cubicBezTo>
                    <a:cubicBezTo>
                      <a:pt x="244" y="234"/>
                      <a:pt x="244" y="295"/>
                      <a:pt x="244" y="356"/>
                    </a:cubicBezTo>
                    <a:cubicBezTo>
                      <a:pt x="245" y="357"/>
                      <a:pt x="245" y="357"/>
                      <a:pt x="246" y="357"/>
                    </a:cubicBezTo>
                    <a:cubicBezTo>
                      <a:pt x="249" y="347"/>
                      <a:pt x="252" y="336"/>
                      <a:pt x="255" y="326"/>
                    </a:cubicBezTo>
                    <a:cubicBezTo>
                      <a:pt x="274" y="261"/>
                      <a:pt x="313" y="212"/>
                      <a:pt x="376" y="185"/>
                    </a:cubicBezTo>
                    <a:cubicBezTo>
                      <a:pt x="386" y="181"/>
                      <a:pt x="390" y="177"/>
                      <a:pt x="388" y="166"/>
                    </a:cubicBezTo>
                    <a:cubicBezTo>
                      <a:pt x="384" y="146"/>
                      <a:pt x="382" y="127"/>
                      <a:pt x="380" y="108"/>
                    </a:cubicBezTo>
                    <a:cubicBezTo>
                      <a:pt x="312" y="111"/>
                      <a:pt x="246" y="113"/>
                      <a:pt x="180" y="115"/>
                    </a:cubicBezTo>
                    <a:cubicBezTo>
                      <a:pt x="179" y="112"/>
                      <a:pt x="179" y="109"/>
                      <a:pt x="178" y="106"/>
                    </a:cubicBezTo>
                    <a:cubicBezTo>
                      <a:pt x="194" y="102"/>
                      <a:pt x="209" y="97"/>
                      <a:pt x="226" y="93"/>
                    </a:cubicBezTo>
                    <a:cubicBezTo>
                      <a:pt x="228" y="87"/>
                      <a:pt x="228" y="73"/>
                      <a:pt x="235" y="67"/>
                    </a:cubicBezTo>
                    <a:cubicBezTo>
                      <a:pt x="243" y="60"/>
                      <a:pt x="257" y="61"/>
                      <a:pt x="269" y="60"/>
                    </a:cubicBezTo>
                    <a:cubicBezTo>
                      <a:pt x="302" y="57"/>
                      <a:pt x="336" y="55"/>
                      <a:pt x="370" y="52"/>
                    </a:cubicBezTo>
                    <a:cubicBezTo>
                      <a:pt x="373" y="43"/>
                      <a:pt x="374" y="36"/>
                      <a:pt x="377" y="30"/>
                    </a:cubicBezTo>
                    <a:cubicBezTo>
                      <a:pt x="385" y="10"/>
                      <a:pt x="408" y="0"/>
                      <a:pt x="434" y="4"/>
                    </a:cubicBezTo>
                    <a:cubicBezTo>
                      <a:pt x="455" y="7"/>
                      <a:pt x="472" y="23"/>
                      <a:pt x="475" y="44"/>
                    </a:cubicBezTo>
                    <a:cubicBezTo>
                      <a:pt x="481" y="88"/>
                      <a:pt x="488" y="132"/>
                      <a:pt x="494" y="176"/>
                    </a:cubicBezTo>
                    <a:cubicBezTo>
                      <a:pt x="498" y="212"/>
                      <a:pt x="481" y="236"/>
                      <a:pt x="447" y="239"/>
                    </a:cubicBezTo>
                    <a:cubicBezTo>
                      <a:pt x="382" y="244"/>
                      <a:pt x="343" y="280"/>
                      <a:pt x="321" y="339"/>
                    </a:cubicBezTo>
                    <a:cubicBezTo>
                      <a:pt x="318" y="348"/>
                      <a:pt x="316" y="357"/>
                      <a:pt x="315" y="366"/>
                    </a:cubicBezTo>
                    <a:cubicBezTo>
                      <a:pt x="313" y="383"/>
                      <a:pt x="306" y="397"/>
                      <a:pt x="290" y="402"/>
                    </a:cubicBezTo>
                    <a:cubicBezTo>
                      <a:pt x="275" y="407"/>
                      <a:pt x="259" y="407"/>
                      <a:pt x="248" y="393"/>
                    </a:cubicBezTo>
                    <a:cubicBezTo>
                      <a:pt x="243" y="397"/>
                      <a:pt x="238" y="403"/>
                      <a:pt x="233" y="403"/>
                    </a:cubicBezTo>
                    <a:cubicBezTo>
                      <a:pt x="165" y="404"/>
                      <a:pt x="97" y="403"/>
                      <a:pt x="27" y="40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00"/>
              </a:p>
            </p:txBody>
          </p:sp>
          <p:sp>
            <p:nvSpPr>
              <p:cNvPr id="108" name="Freeform 87"/>
              <p:cNvSpPr>
                <a:spLocks/>
              </p:cNvSpPr>
              <p:nvPr/>
            </p:nvSpPr>
            <p:spPr bwMode="auto">
              <a:xfrm>
                <a:off x="-2419350" y="4179888"/>
                <a:ext cx="592138" cy="1393825"/>
              </a:xfrm>
              <a:custGeom>
                <a:avLst/>
                <a:gdLst>
                  <a:gd name="T0" fmla="*/ 72 w 158"/>
                  <a:gd name="T1" fmla="*/ 239 h 372"/>
                  <a:gd name="T2" fmla="*/ 3 w 158"/>
                  <a:gd name="T3" fmla="*/ 260 h 372"/>
                  <a:gd name="T4" fmla="*/ 0 w 158"/>
                  <a:gd name="T5" fmla="*/ 256 h 372"/>
                  <a:gd name="T6" fmla="*/ 10 w 158"/>
                  <a:gd name="T7" fmla="*/ 246 h 372"/>
                  <a:gd name="T8" fmla="*/ 122 w 158"/>
                  <a:gd name="T9" fmla="*/ 231 h 372"/>
                  <a:gd name="T10" fmla="*/ 145 w 158"/>
                  <a:gd name="T11" fmla="*/ 213 h 372"/>
                  <a:gd name="T12" fmla="*/ 141 w 158"/>
                  <a:gd name="T13" fmla="*/ 166 h 372"/>
                  <a:gd name="T14" fmla="*/ 137 w 158"/>
                  <a:gd name="T15" fmla="*/ 18 h 372"/>
                  <a:gd name="T16" fmla="*/ 141 w 158"/>
                  <a:gd name="T17" fmla="*/ 0 h 372"/>
                  <a:gd name="T18" fmla="*/ 147 w 158"/>
                  <a:gd name="T19" fmla="*/ 1 h 372"/>
                  <a:gd name="T20" fmla="*/ 149 w 158"/>
                  <a:gd name="T21" fmla="*/ 9 h 372"/>
                  <a:gd name="T22" fmla="*/ 157 w 158"/>
                  <a:gd name="T23" fmla="*/ 200 h 372"/>
                  <a:gd name="T24" fmla="*/ 110 w 158"/>
                  <a:gd name="T25" fmla="*/ 241 h 372"/>
                  <a:gd name="T26" fmla="*/ 98 w 158"/>
                  <a:gd name="T27" fmla="*/ 241 h 372"/>
                  <a:gd name="T28" fmla="*/ 98 w 158"/>
                  <a:gd name="T29" fmla="*/ 349 h 372"/>
                  <a:gd name="T30" fmla="*/ 124 w 158"/>
                  <a:gd name="T31" fmla="*/ 352 h 372"/>
                  <a:gd name="T32" fmla="*/ 133 w 158"/>
                  <a:gd name="T33" fmla="*/ 360 h 372"/>
                  <a:gd name="T34" fmla="*/ 124 w 158"/>
                  <a:gd name="T35" fmla="*/ 371 h 372"/>
                  <a:gd name="T36" fmla="*/ 43 w 158"/>
                  <a:gd name="T37" fmla="*/ 371 h 372"/>
                  <a:gd name="T38" fmla="*/ 33 w 158"/>
                  <a:gd name="T39" fmla="*/ 360 h 372"/>
                  <a:gd name="T40" fmla="*/ 44 w 158"/>
                  <a:gd name="T41" fmla="*/ 352 h 372"/>
                  <a:gd name="T42" fmla="*/ 72 w 158"/>
                  <a:gd name="T43" fmla="*/ 349 h 372"/>
                  <a:gd name="T44" fmla="*/ 72 w 158"/>
                  <a:gd name="T45" fmla="*/ 239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58" h="372">
                    <a:moveTo>
                      <a:pt x="72" y="239"/>
                    </a:moveTo>
                    <a:cubicBezTo>
                      <a:pt x="47" y="247"/>
                      <a:pt x="25" y="253"/>
                      <a:pt x="3" y="260"/>
                    </a:cubicBezTo>
                    <a:cubicBezTo>
                      <a:pt x="2" y="259"/>
                      <a:pt x="1" y="258"/>
                      <a:pt x="0" y="256"/>
                    </a:cubicBezTo>
                    <a:cubicBezTo>
                      <a:pt x="3" y="253"/>
                      <a:pt x="6" y="248"/>
                      <a:pt x="10" y="246"/>
                    </a:cubicBezTo>
                    <a:cubicBezTo>
                      <a:pt x="46" y="231"/>
                      <a:pt x="82" y="220"/>
                      <a:pt x="122" y="231"/>
                    </a:cubicBezTo>
                    <a:cubicBezTo>
                      <a:pt x="138" y="235"/>
                      <a:pt x="145" y="229"/>
                      <a:pt x="145" y="213"/>
                    </a:cubicBezTo>
                    <a:cubicBezTo>
                      <a:pt x="145" y="198"/>
                      <a:pt x="142" y="182"/>
                      <a:pt x="141" y="166"/>
                    </a:cubicBezTo>
                    <a:cubicBezTo>
                      <a:pt x="139" y="117"/>
                      <a:pt x="138" y="67"/>
                      <a:pt x="137" y="18"/>
                    </a:cubicBezTo>
                    <a:cubicBezTo>
                      <a:pt x="137" y="12"/>
                      <a:pt x="140" y="6"/>
                      <a:pt x="141" y="0"/>
                    </a:cubicBezTo>
                    <a:cubicBezTo>
                      <a:pt x="143" y="0"/>
                      <a:pt x="145" y="0"/>
                      <a:pt x="147" y="1"/>
                    </a:cubicBezTo>
                    <a:cubicBezTo>
                      <a:pt x="148" y="3"/>
                      <a:pt x="149" y="6"/>
                      <a:pt x="149" y="9"/>
                    </a:cubicBezTo>
                    <a:cubicBezTo>
                      <a:pt x="152" y="73"/>
                      <a:pt x="155" y="136"/>
                      <a:pt x="157" y="200"/>
                    </a:cubicBezTo>
                    <a:cubicBezTo>
                      <a:pt x="158" y="242"/>
                      <a:pt x="152" y="248"/>
                      <a:pt x="110" y="241"/>
                    </a:cubicBezTo>
                    <a:cubicBezTo>
                      <a:pt x="107" y="240"/>
                      <a:pt x="103" y="241"/>
                      <a:pt x="98" y="241"/>
                    </a:cubicBezTo>
                    <a:cubicBezTo>
                      <a:pt x="98" y="277"/>
                      <a:pt x="98" y="312"/>
                      <a:pt x="98" y="349"/>
                    </a:cubicBezTo>
                    <a:cubicBezTo>
                      <a:pt x="107" y="350"/>
                      <a:pt x="116" y="350"/>
                      <a:pt x="124" y="352"/>
                    </a:cubicBezTo>
                    <a:cubicBezTo>
                      <a:pt x="127" y="353"/>
                      <a:pt x="133" y="358"/>
                      <a:pt x="133" y="360"/>
                    </a:cubicBezTo>
                    <a:cubicBezTo>
                      <a:pt x="132" y="364"/>
                      <a:pt x="128" y="371"/>
                      <a:pt x="124" y="371"/>
                    </a:cubicBezTo>
                    <a:cubicBezTo>
                      <a:pt x="97" y="372"/>
                      <a:pt x="70" y="372"/>
                      <a:pt x="43" y="371"/>
                    </a:cubicBezTo>
                    <a:cubicBezTo>
                      <a:pt x="39" y="371"/>
                      <a:pt x="36" y="364"/>
                      <a:pt x="33" y="360"/>
                    </a:cubicBezTo>
                    <a:cubicBezTo>
                      <a:pt x="37" y="357"/>
                      <a:pt x="40" y="352"/>
                      <a:pt x="44" y="352"/>
                    </a:cubicBezTo>
                    <a:cubicBezTo>
                      <a:pt x="52" y="350"/>
                      <a:pt x="62" y="350"/>
                      <a:pt x="72" y="349"/>
                    </a:cubicBezTo>
                    <a:cubicBezTo>
                      <a:pt x="72" y="313"/>
                      <a:pt x="72" y="278"/>
                      <a:pt x="72" y="23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00"/>
              </a:p>
            </p:txBody>
          </p:sp>
          <p:sp>
            <p:nvSpPr>
              <p:cNvPr id="109" name="Freeform 88"/>
              <p:cNvSpPr>
                <a:spLocks/>
              </p:cNvSpPr>
              <p:nvPr/>
            </p:nvSpPr>
            <p:spPr bwMode="auto">
              <a:xfrm>
                <a:off x="-2535238" y="3673476"/>
                <a:ext cx="404813" cy="404813"/>
              </a:xfrm>
              <a:custGeom>
                <a:avLst/>
                <a:gdLst>
                  <a:gd name="T0" fmla="*/ 54 w 108"/>
                  <a:gd name="T1" fmla="*/ 108 h 108"/>
                  <a:gd name="T2" fmla="*/ 0 w 108"/>
                  <a:gd name="T3" fmla="*/ 54 h 108"/>
                  <a:gd name="T4" fmla="*/ 54 w 108"/>
                  <a:gd name="T5" fmla="*/ 0 h 108"/>
                  <a:gd name="T6" fmla="*/ 108 w 108"/>
                  <a:gd name="T7" fmla="*/ 55 h 108"/>
                  <a:gd name="T8" fmla="*/ 54 w 108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108">
                    <a:moveTo>
                      <a:pt x="54" y="108"/>
                    </a:moveTo>
                    <a:cubicBezTo>
                      <a:pt x="25" y="107"/>
                      <a:pt x="0" y="83"/>
                      <a:pt x="0" y="54"/>
                    </a:cubicBezTo>
                    <a:cubicBezTo>
                      <a:pt x="0" y="26"/>
                      <a:pt x="26" y="1"/>
                      <a:pt x="54" y="0"/>
                    </a:cubicBezTo>
                    <a:cubicBezTo>
                      <a:pt x="83" y="0"/>
                      <a:pt x="108" y="25"/>
                      <a:pt x="108" y="55"/>
                    </a:cubicBezTo>
                    <a:cubicBezTo>
                      <a:pt x="108" y="85"/>
                      <a:pt x="85" y="108"/>
                      <a:pt x="54" y="10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00"/>
              </a:p>
            </p:txBody>
          </p:sp>
        </p:grpSp>
        <p:cxnSp>
          <p:nvCxnSpPr>
            <p:cNvPr id="75" name="Straight Connector 74"/>
            <p:cNvCxnSpPr/>
            <p:nvPr/>
          </p:nvCxnSpPr>
          <p:spPr>
            <a:xfrm flipV="1">
              <a:off x="2128156" y="2251309"/>
              <a:ext cx="20441" cy="621988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 flipV="1">
              <a:off x="1081697" y="3310509"/>
              <a:ext cx="445420" cy="128831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302570" y="4294091"/>
              <a:ext cx="337877" cy="859791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V="1">
              <a:off x="2879400" y="3208657"/>
              <a:ext cx="1182557" cy="242160"/>
            </a:xfrm>
            <a:prstGeom prst="line">
              <a:avLst/>
            </a:prstGeom>
            <a:ln w="19050">
              <a:solidFill>
                <a:schemeClr val="accent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1292530" y="2122479"/>
              <a:ext cx="543898" cy="435128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H="1" flipV="1">
              <a:off x="1181154" y="4763156"/>
              <a:ext cx="1017819" cy="830581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Chevron 80"/>
            <p:cNvSpPr/>
            <p:nvPr/>
          </p:nvSpPr>
          <p:spPr>
            <a:xfrm rot="1704213">
              <a:off x="3837861" y="1683329"/>
              <a:ext cx="294584" cy="408670"/>
            </a:xfrm>
            <a:prstGeom prst="chevron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chemeClr val="bg1"/>
                </a:solidFill>
              </a:endParaRPr>
            </a:p>
          </p:txBody>
        </p:sp>
        <p:sp>
          <p:nvSpPr>
            <p:cNvPr id="82" name="Oval 81"/>
            <p:cNvSpPr>
              <a:spLocks/>
            </p:cNvSpPr>
            <p:nvPr/>
          </p:nvSpPr>
          <p:spPr>
            <a:xfrm>
              <a:off x="1413341" y="2873297"/>
              <a:ext cx="1429630" cy="142438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 err="1">
                <a:solidFill>
                  <a:schemeClr val="tx1"/>
                </a:solidFill>
              </a:endParaRPr>
            </a:p>
          </p:txBody>
        </p:sp>
        <p:sp>
          <p:nvSpPr>
            <p:cNvPr id="83" name="Freeform 23"/>
            <p:cNvSpPr>
              <a:spLocks noEditPoints="1"/>
            </p:cNvSpPr>
            <p:nvPr/>
          </p:nvSpPr>
          <p:spPr bwMode="auto">
            <a:xfrm>
              <a:off x="1593959" y="3096994"/>
              <a:ext cx="1122697" cy="976992"/>
            </a:xfrm>
            <a:custGeom>
              <a:avLst/>
              <a:gdLst>
                <a:gd name="T0" fmla="*/ 147 w 3408"/>
                <a:gd name="T1" fmla="*/ 2090 h 2451"/>
                <a:gd name="T2" fmla="*/ 913 w 3408"/>
                <a:gd name="T3" fmla="*/ 1937 h 2451"/>
                <a:gd name="T4" fmla="*/ 926 w 3408"/>
                <a:gd name="T5" fmla="*/ 19 h 2451"/>
                <a:gd name="T6" fmla="*/ 1557 w 3408"/>
                <a:gd name="T7" fmla="*/ 0 h 2451"/>
                <a:gd name="T8" fmla="*/ 2495 w 3408"/>
                <a:gd name="T9" fmla="*/ 1857 h 2451"/>
                <a:gd name="T10" fmla="*/ 1011 w 3408"/>
                <a:gd name="T11" fmla="*/ 2090 h 2451"/>
                <a:gd name="T12" fmla="*/ 2323 w 3408"/>
                <a:gd name="T13" fmla="*/ 1704 h 2451"/>
                <a:gd name="T14" fmla="*/ 1079 w 3408"/>
                <a:gd name="T15" fmla="*/ 1704 h 2451"/>
                <a:gd name="T16" fmla="*/ 1220 w 3408"/>
                <a:gd name="T17" fmla="*/ 1937 h 2451"/>
                <a:gd name="T18" fmla="*/ 2213 w 3408"/>
                <a:gd name="T19" fmla="*/ 1937 h 2451"/>
                <a:gd name="T20" fmla="*/ 1925 w 3408"/>
                <a:gd name="T21" fmla="*/ 1771 h 2451"/>
                <a:gd name="T22" fmla="*/ 2035 w 3408"/>
                <a:gd name="T23" fmla="*/ 1790 h 2451"/>
                <a:gd name="T24" fmla="*/ 2188 w 3408"/>
                <a:gd name="T25" fmla="*/ 1814 h 2451"/>
                <a:gd name="T26" fmla="*/ 2213 w 3408"/>
                <a:gd name="T27" fmla="*/ 1851 h 2451"/>
                <a:gd name="T28" fmla="*/ 2066 w 3408"/>
                <a:gd name="T29" fmla="*/ 1318 h 2451"/>
                <a:gd name="T30" fmla="*/ 1024 w 3408"/>
                <a:gd name="T31" fmla="*/ 1330 h 2451"/>
                <a:gd name="T32" fmla="*/ 1208 w 3408"/>
                <a:gd name="T33" fmla="*/ 1551 h 2451"/>
                <a:gd name="T34" fmla="*/ 2256 w 3408"/>
                <a:gd name="T35" fmla="*/ 1551 h 2451"/>
                <a:gd name="T36" fmla="*/ 1961 w 3408"/>
                <a:gd name="T37" fmla="*/ 1416 h 2451"/>
                <a:gd name="T38" fmla="*/ 2084 w 3408"/>
                <a:gd name="T39" fmla="*/ 1385 h 2451"/>
                <a:gd name="T40" fmla="*/ 2237 w 3408"/>
                <a:gd name="T41" fmla="*/ 1385 h 2451"/>
                <a:gd name="T42" fmla="*/ 2384 w 3408"/>
                <a:gd name="T43" fmla="*/ 1054 h 2451"/>
                <a:gd name="T44" fmla="*/ 2176 w 3408"/>
                <a:gd name="T45" fmla="*/ 932 h 2451"/>
                <a:gd name="T46" fmla="*/ 1159 w 3408"/>
                <a:gd name="T47" fmla="*/ 932 h 2451"/>
                <a:gd name="T48" fmla="*/ 1073 w 3408"/>
                <a:gd name="T49" fmla="*/ 1165 h 2451"/>
                <a:gd name="T50" fmla="*/ 2078 w 3408"/>
                <a:gd name="T51" fmla="*/ 1165 h 2451"/>
                <a:gd name="T52" fmla="*/ 1876 w 3408"/>
                <a:gd name="T53" fmla="*/ 1024 h 2451"/>
                <a:gd name="T54" fmla="*/ 2029 w 3408"/>
                <a:gd name="T55" fmla="*/ 1060 h 2451"/>
                <a:gd name="T56" fmla="*/ 2194 w 3408"/>
                <a:gd name="T57" fmla="*/ 1067 h 2451"/>
                <a:gd name="T58" fmla="*/ 2225 w 3408"/>
                <a:gd name="T59" fmla="*/ 1085 h 2451"/>
                <a:gd name="T60" fmla="*/ 2139 w 3408"/>
                <a:gd name="T61" fmla="*/ 546 h 2451"/>
                <a:gd name="T62" fmla="*/ 1030 w 3408"/>
                <a:gd name="T63" fmla="*/ 552 h 2451"/>
                <a:gd name="T64" fmla="*/ 1287 w 3408"/>
                <a:gd name="T65" fmla="*/ 785 h 2451"/>
                <a:gd name="T66" fmla="*/ 2145 w 3408"/>
                <a:gd name="T67" fmla="*/ 785 h 2451"/>
                <a:gd name="T68" fmla="*/ 1925 w 3408"/>
                <a:gd name="T69" fmla="*/ 613 h 2451"/>
                <a:gd name="T70" fmla="*/ 2078 w 3408"/>
                <a:gd name="T71" fmla="*/ 613 h 2451"/>
                <a:gd name="T72" fmla="*/ 2188 w 3408"/>
                <a:gd name="T73" fmla="*/ 662 h 2451"/>
                <a:gd name="T74" fmla="*/ 2378 w 3408"/>
                <a:gd name="T75" fmla="*/ 393 h 2451"/>
                <a:gd name="T76" fmla="*/ 2317 w 3408"/>
                <a:gd name="T77" fmla="*/ 160 h 2451"/>
                <a:gd name="T78" fmla="*/ 1091 w 3408"/>
                <a:gd name="T79" fmla="*/ 160 h 2451"/>
                <a:gd name="T80" fmla="*/ 1030 w 3408"/>
                <a:gd name="T81" fmla="*/ 393 h 2451"/>
                <a:gd name="T82" fmla="*/ 1931 w 3408"/>
                <a:gd name="T83" fmla="*/ 393 h 2451"/>
                <a:gd name="T84" fmla="*/ 1869 w 3408"/>
                <a:gd name="T85" fmla="*/ 276 h 2451"/>
                <a:gd name="T86" fmla="*/ 2053 w 3408"/>
                <a:gd name="T87" fmla="*/ 313 h 2451"/>
                <a:gd name="T88" fmla="*/ 2059 w 3408"/>
                <a:gd name="T89" fmla="*/ 319 h 2451"/>
                <a:gd name="T90" fmla="*/ 2268 w 3408"/>
                <a:gd name="T91" fmla="*/ 307 h 2451"/>
                <a:gd name="T92" fmla="*/ 117 w 3408"/>
                <a:gd name="T93" fmla="*/ 1526 h 2451"/>
                <a:gd name="T94" fmla="*/ 123 w 3408"/>
                <a:gd name="T95" fmla="*/ 460 h 2451"/>
                <a:gd name="T96" fmla="*/ 411 w 3408"/>
                <a:gd name="T97" fmla="*/ 595 h 2451"/>
                <a:gd name="T98" fmla="*/ 227 w 3408"/>
                <a:gd name="T99" fmla="*/ 760 h 2451"/>
                <a:gd name="T100" fmla="*/ 803 w 3408"/>
                <a:gd name="T101" fmla="*/ 907 h 2451"/>
                <a:gd name="T102" fmla="*/ 227 w 3408"/>
                <a:gd name="T103" fmla="*/ 1042 h 2451"/>
                <a:gd name="T104" fmla="*/ 478 w 3408"/>
                <a:gd name="T105" fmla="*/ 1367 h 2451"/>
                <a:gd name="T106" fmla="*/ 227 w 3408"/>
                <a:gd name="T107" fmla="*/ 1477 h 2451"/>
                <a:gd name="T108" fmla="*/ 301 w 3408"/>
                <a:gd name="T109" fmla="*/ 1728 h 2451"/>
                <a:gd name="T110" fmla="*/ 3101 w 3408"/>
                <a:gd name="T111" fmla="*/ 1606 h 2451"/>
                <a:gd name="T112" fmla="*/ 2960 w 3408"/>
                <a:gd name="T113" fmla="*/ 1220 h 2451"/>
                <a:gd name="T114" fmla="*/ 3187 w 3408"/>
                <a:gd name="T115" fmla="*/ 987 h 2451"/>
                <a:gd name="T116" fmla="*/ 3132 w 3408"/>
                <a:gd name="T117" fmla="*/ 834 h 2451"/>
                <a:gd name="T118" fmla="*/ 3187 w 3408"/>
                <a:gd name="T119" fmla="*/ 613 h 2451"/>
                <a:gd name="T120" fmla="*/ 3077 w 3408"/>
                <a:gd name="T121" fmla="*/ 435 h 2451"/>
                <a:gd name="T122" fmla="*/ 3297 w 3408"/>
                <a:gd name="T123" fmla="*/ 1373 h 2451"/>
                <a:gd name="T124" fmla="*/ 3255 w 3408"/>
                <a:gd name="T125" fmla="*/ 1722 h 2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08" h="2451">
                  <a:moveTo>
                    <a:pt x="754" y="2323"/>
                  </a:moveTo>
                  <a:lnTo>
                    <a:pt x="754" y="2200"/>
                  </a:lnTo>
                  <a:lnTo>
                    <a:pt x="1704" y="2200"/>
                  </a:lnTo>
                  <a:lnTo>
                    <a:pt x="2648" y="2200"/>
                  </a:lnTo>
                  <a:lnTo>
                    <a:pt x="2648" y="2323"/>
                  </a:lnTo>
                  <a:lnTo>
                    <a:pt x="2648" y="2445"/>
                  </a:lnTo>
                  <a:lnTo>
                    <a:pt x="1704" y="2451"/>
                  </a:lnTo>
                  <a:lnTo>
                    <a:pt x="754" y="2451"/>
                  </a:lnTo>
                  <a:lnTo>
                    <a:pt x="754" y="2323"/>
                  </a:lnTo>
                  <a:lnTo>
                    <a:pt x="754" y="2323"/>
                  </a:lnTo>
                  <a:close/>
                  <a:moveTo>
                    <a:pt x="0" y="2090"/>
                  </a:moveTo>
                  <a:lnTo>
                    <a:pt x="0" y="2090"/>
                  </a:lnTo>
                  <a:lnTo>
                    <a:pt x="0" y="2084"/>
                  </a:lnTo>
                  <a:lnTo>
                    <a:pt x="0" y="2084"/>
                  </a:lnTo>
                  <a:lnTo>
                    <a:pt x="0" y="2078"/>
                  </a:lnTo>
                  <a:lnTo>
                    <a:pt x="0" y="2072"/>
                  </a:lnTo>
                  <a:lnTo>
                    <a:pt x="0" y="2065"/>
                  </a:lnTo>
                  <a:lnTo>
                    <a:pt x="0" y="2059"/>
                  </a:lnTo>
                  <a:lnTo>
                    <a:pt x="0" y="2053"/>
                  </a:lnTo>
                  <a:lnTo>
                    <a:pt x="0" y="2041"/>
                  </a:lnTo>
                  <a:lnTo>
                    <a:pt x="0" y="2035"/>
                  </a:lnTo>
                  <a:lnTo>
                    <a:pt x="0" y="2023"/>
                  </a:lnTo>
                  <a:lnTo>
                    <a:pt x="0" y="2010"/>
                  </a:lnTo>
                  <a:lnTo>
                    <a:pt x="0" y="1998"/>
                  </a:lnTo>
                  <a:lnTo>
                    <a:pt x="0" y="1986"/>
                  </a:lnTo>
                  <a:lnTo>
                    <a:pt x="0" y="1961"/>
                  </a:lnTo>
                  <a:lnTo>
                    <a:pt x="0" y="1839"/>
                  </a:lnTo>
                  <a:lnTo>
                    <a:pt x="399" y="1839"/>
                  </a:lnTo>
                  <a:lnTo>
                    <a:pt x="803" y="1839"/>
                  </a:lnTo>
                  <a:lnTo>
                    <a:pt x="803" y="1961"/>
                  </a:lnTo>
                  <a:lnTo>
                    <a:pt x="803" y="2090"/>
                  </a:lnTo>
                  <a:lnTo>
                    <a:pt x="405" y="2090"/>
                  </a:lnTo>
                  <a:lnTo>
                    <a:pt x="362" y="2090"/>
                  </a:lnTo>
                  <a:lnTo>
                    <a:pt x="319" y="2090"/>
                  </a:lnTo>
                  <a:lnTo>
                    <a:pt x="282" y="2090"/>
                  </a:lnTo>
                  <a:lnTo>
                    <a:pt x="245" y="2090"/>
                  </a:lnTo>
                  <a:lnTo>
                    <a:pt x="227" y="2090"/>
                  </a:lnTo>
                  <a:lnTo>
                    <a:pt x="209" y="2090"/>
                  </a:lnTo>
                  <a:lnTo>
                    <a:pt x="196" y="2090"/>
                  </a:lnTo>
                  <a:lnTo>
                    <a:pt x="178" y="2090"/>
                  </a:lnTo>
                  <a:lnTo>
                    <a:pt x="166" y="2090"/>
                  </a:lnTo>
                  <a:lnTo>
                    <a:pt x="147" y="2090"/>
                  </a:lnTo>
                  <a:lnTo>
                    <a:pt x="135" y="2090"/>
                  </a:lnTo>
                  <a:lnTo>
                    <a:pt x="117" y="2090"/>
                  </a:lnTo>
                  <a:lnTo>
                    <a:pt x="104" y="2090"/>
                  </a:lnTo>
                  <a:lnTo>
                    <a:pt x="92" y="2090"/>
                  </a:lnTo>
                  <a:lnTo>
                    <a:pt x="80" y="2090"/>
                  </a:lnTo>
                  <a:lnTo>
                    <a:pt x="68" y="2090"/>
                  </a:lnTo>
                  <a:lnTo>
                    <a:pt x="62" y="2090"/>
                  </a:lnTo>
                  <a:lnTo>
                    <a:pt x="49" y="2090"/>
                  </a:lnTo>
                  <a:lnTo>
                    <a:pt x="43" y="2090"/>
                  </a:lnTo>
                  <a:lnTo>
                    <a:pt x="31" y="2090"/>
                  </a:lnTo>
                  <a:lnTo>
                    <a:pt x="25" y="2090"/>
                  </a:lnTo>
                  <a:lnTo>
                    <a:pt x="19" y="2090"/>
                  </a:lnTo>
                  <a:lnTo>
                    <a:pt x="13" y="2090"/>
                  </a:lnTo>
                  <a:lnTo>
                    <a:pt x="6" y="2090"/>
                  </a:lnTo>
                  <a:lnTo>
                    <a:pt x="6" y="2090"/>
                  </a:lnTo>
                  <a:lnTo>
                    <a:pt x="0" y="2090"/>
                  </a:lnTo>
                  <a:lnTo>
                    <a:pt x="0" y="2090"/>
                  </a:lnTo>
                  <a:lnTo>
                    <a:pt x="0" y="2090"/>
                  </a:lnTo>
                  <a:lnTo>
                    <a:pt x="0" y="2090"/>
                  </a:lnTo>
                  <a:close/>
                  <a:moveTo>
                    <a:pt x="932" y="2084"/>
                  </a:moveTo>
                  <a:lnTo>
                    <a:pt x="932" y="2078"/>
                  </a:lnTo>
                  <a:lnTo>
                    <a:pt x="926" y="2072"/>
                  </a:lnTo>
                  <a:lnTo>
                    <a:pt x="926" y="2065"/>
                  </a:lnTo>
                  <a:lnTo>
                    <a:pt x="920" y="2065"/>
                  </a:lnTo>
                  <a:lnTo>
                    <a:pt x="920" y="2059"/>
                  </a:lnTo>
                  <a:lnTo>
                    <a:pt x="920" y="2059"/>
                  </a:lnTo>
                  <a:lnTo>
                    <a:pt x="920" y="2059"/>
                  </a:lnTo>
                  <a:lnTo>
                    <a:pt x="920" y="2053"/>
                  </a:lnTo>
                  <a:lnTo>
                    <a:pt x="920" y="2047"/>
                  </a:lnTo>
                  <a:lnTo>
                    <a:pt x="920" y="2041"/>
                  </a:lnTo>
                  <a:lnTo>
                    <a:pt x="920" y="2035"/>
                  </a:lnTo>
                  <a:lnTo>
                    <a:pt x="913" y="2029"/>
                  </a:lnTo>
                  <a:lnTo>
                    <a:pt x="913" y="2016"/>
                  </a:lnTo>
                  <a:lnTo>
                    <a:pt x="913" y="2004"/>
                  </a:lnTo>
                  <a:lnTo>
                    <a:pt x="913" y="1998"/>
                  </a:lnTo>
                  <a:lnTo>
                    <a:pt x="913" y="1992"/>
                  </a:lnTo>
                  <a:lnTo>
                    <a:pt x="913" y="1986"/>
                  </a:lnTo>
                  <a:lnTo>
                    <a:pt x="913" y="1980"/>
                  </a:lnTo>
                  <a:lnTo>
                    <a:pt x="913" y="1967"/>
                  </a:lnTo>
                  <a:lnTo>
                    <a:pt x="913" y="1961"/>
                  </a:lnTo>
                  <a:lnTo>
                    <a:pt x="913" y="1949"/>
                  </a:lnTo>
                  <a:lnTo>
                    <a:pt x="913" y="1937"/>
                  </a:lnTo>
                  <a:lnTo>
                    <a:pt x="913" y="1931"/>
                  </a:lnTo>
                  <a:lnTo>
                    <a:pt x="913" y="1918"/>
                  </a:lnTo>
                  <a:lnTo>
                    <a:pt x="913" y="1906"/>
                  </a:lnTo>
                  <a:lnTo>
                    <a:pt x="913" y="1894"/>
                  </a:lnTo>
                  <a:lnTo>
                    <a:pt x="913" y="1882"/>
                  </a:lnTo>
                  <a:lnTo>
                    <a:pt x="913" y="1863"/>
                  </a:lnTo>
                  <a:lnTo>
                    <a:pt x="913" y="1851"/>
                  </a:lnTo>
                  <a:lnTo>
                    <a:pt x="913" y="1833"/>
                  </a:lnTo>
                  <a:lnTo>
                    <a:pt x="913" y="1820"/>
                  </a:lnTo>
                  <a:lnTo>
                    <a:pt x="913" y="1802"/>
                  </a:lnTo>
                  <a:lnTo>
                    <a:pt x="913" y="1784"/>
                  </a:lnTo>
                  <a:lnTo>
                    <a:pt x="913" y="1765"/>
                  </a:lnTo>
                  <a:lnTo>
                    <a:pt x="913" y="1747"/>
                  </a:lnTo>
                  <a:lnTo>
                    <a:pt x="913" y="1728"/>
                  </a:lnTo>
                  <a:lnTo>
                    <a:pt x="913" y="1704"/>
                  </a:lnTo>
                  <a:lnTo>
                    <a:pt x="913" y="1686"/>
                  </a:lnTo>
                  <a:lnTo>
                    <a:pt x="913" y="1661"/>
                  </a:lnTo>
                  <a:lnTo>
                    <a:pt x="913" y="1636"/>
                  </a:lnTo>
                  <a:lnTo>
                    <a:pt x="913" y="1612"/>
                  </a:lnTo>
                  <a:lnTo>
                    <a:pt x="913" y="1587"/>
                  </a:lnTo>
                  <a:lnTo>
                    <a:pt x="913" y="1563"/>
                  </a:lnTo>
                  <a:lnTo>
                    <a:pt x="913" y="1538"/>
                  </a:lnTo>
                  <a:lnTo>
                    <a:pt x="913" y="1508"/>
                  </a:lnTo>
                  <a:lnTo>
                    <a:pt x="913" y="1477"/>
                  </a:lnTo>
                  <a:lnTo>
                    <a:pt x="913" y="1447"/>
                  </a:lnTo>
                  <a:lnTo>
                    <a:pt x="913" y="1416"/>
                  </a:lnTo>
                  <a:lnTo>
                    <a:pt x="913" y="1385"/>
                  </a:lnTo>
                  <a:lnTo>
                    <a:pt x="913" y="1355"/>
                  </a:lnTo>
                  <a:lnTo>
                    <a:pt x="913" y="1318"/>
                  </a:lnTo>
                  <a:lnTo>
                    <a:pt x="913" y="1281"/>
                  </a:lnTo>
                  <a:lnTo>
                    <a:pt x="913" y="1244"/>
                  </a:lnTo>
                  <a:lnTo>
                    <a:pt x="913" y="1208"/>
                  </a:lnTo>
                  <a:lnTo>
                    <a:pt x="913" y="1171"/>
                  </a:lnTo>
                  <a:lnTo>
                    <a:pt x="913" y="1134"/>
                  </a:lnTo>
                  <a:lnTo>
                    <a:pt x="913" y="1091"/>
                  </a:lnTo>
                  <a:lnTo>
                    <a:pt x="913" y="1048"/>
                  </a:lnTo>
                  <a:lnTo>
                    <a:pt x="913" y="43"/>
                  </a:lnTo>
                  <a:lnTo>
                    <a:pt x="920" y="31"/>
                  </a:lnTo>
                  <a:lnTo>
                    <a:pt x="926" y="25"/>
                  </a:lnTo>
                  <a:lnTo>
                    <a:pt x="926" y="25"/>
                  </a:lnTo>
                  <a:lnTo>
                    <a:pt x="926" y="19"/>
                  </a:lnTo>
                  <a:lnTo>
                    <a:pt x="926" y="19"/>
                  </a:lnTo>
                  <a:lnTo>
                    <a:pt x="926" y="13"/>
                  </a:lnTo>
                  <a:lnTo>
                    <a:pt x="932" y="13"/>
                  </a:lnTo>
                  <a:lnTo>
                    <a:pt x="932" y="13"/>
                  </a:lnTo>
                  <a:lnTo>
                    <a:pt x="938" y="13"/>
                  </a:lnTo>
                  <a:lnTo>
                    <a:pt x="938" y="7"/>
                  </a:lnTo>
                  <a:lnTo>
                    <a:pt x="944" y="7"/>
                  </a:lnTo>
                  <a:lnTo>
                    <a:pt x="956" y="7"/>
                  </a:lnTo>
                  <a:lnTo>
                    <a:pt x="962" y="7"/>
                  </a:lnTo>
                  <a:lnTo>
                    <a:pt x="969" y="7"/>
                  </a:lnTo>
                  <a:lnTo>
                    <a:pt x="975" y="7"/>
                  </a:lnTo>
                  <a:lnTo>
                    <a:pt x="981" y="7"/>
                  </a:lnTo>
                  <a:lnTo>
                    <a:pt x="987" y="7"/>
                  </a:lnTo>
                  <a:lnTo>
                    <a:pt x="993" y="7"/>
                  </a:lnTo>
                  <a:lnTo>
                    <a:pt x="999" y="0"/>
                  </a:lnTo>
                  <a:lnTo>
                    <a:pt x="1011" y="0"/>
                  </a:lnTo>
                  <a:lnTo>
                    <a:pt x="1018" y="0"/>
                  </a:lnTo>
                  <a:lnTo>
                    <a:pt x="1030" y="0"/>
                  </a:lnTo>
                  <a:lnTo>
                    <a:pt x="1036" y="0"/>
                  </a:lnTo>
                  <a:lnTo>
                    <a:pt x="1048" y="0"/>
                  </a:lnTo>
                  <a:lnTo>
                    <a:pt x="1061" y="0"/>
                  </a:lnTo>
                  <a:lnTo>
                    <a:pt x="1073" y="0"/>
                  </a:lnTo>
                  <a:lnTo>
                    <a:pt x="1091" y="0"/>
                  </a:lnTo>
                  <a:lnTo>
                    <a:pt x="1103" y="0"/>
                  </a:lnTo>
                  <a:lnTo>
                    <a:pt x="1116" y="0"/>
                  </a:lnTo>
                  <a:lnTo>
                    <a:pt x="1134" y="0"/>
                  </a:lnTo>
                  <a:lnTo>
                    <a:pt x="1152" y="0"/>
                  </a:lnTo>
                  <a:lnTo>
                    <a:pt x="1171" y="0"/>
                  </a:lnTo>
                  <a:lnTo>
                    <a:pt x="1189" y="0"/>
                  </a:lnTo>
                  <a:lnTo>
                    <a:pt x="1208" y="0"/>
                  </a:lnTo>
                  <a:lnTo>
                    <a:pt x="1226" y="0"/>
                  </a:lnTo>
                  <a:lnTo>
                    <a:pt x="1250" y="0"/>
                  </a:lnTo>
                  <a:lnTo>
                    <a:pt x="1269" y="0"/>
                  </a:lnTo>
                  <a:lnTo>
                    <a:pt x="1293" y="0"/>
                  </a:lnTo>
                  <a:lnTo>
                    <a:pt x="1318" y="0"/>
                  </a:lnTo>
                  <a:lnTo>
                    <a:pt x="1342" y="0"/>
                  </a:lnTo>
                  <a:lnTo>
                    <a:pt x="1373" y="0"/>
                  </a:lnTo>
                  <a:lnTo>
                    <a:pt x="1398" y="0"/>
                  </a:lnTo>
                  <a:lnTo>
                    <a:pt x="1428" y="0"/>
                  </a:lnTo>
                  <a:lnTo>
                    <a:pt x="1459" y="0"/>
                  </a:lnTo>
                  <a:lnTo>
                    <a:pt x="1490" y="0"/>
                  </a:lnTo>
                  <a:lnTo>
                    <a:pt x="1520" y="0"/>
                  </a:lnTo>
                  <a:lnTo>
                    <a:pt x="1557" y="0"/>
                  </a:lnTo>
                  <a:lnTo>
                    <a:pt x="1588" y="0"/>
                  </a:lnTo>
                  <a:lnTo>
                    <a:pt x="1624" y="0"/>
                  </a:lnTo>
                  <a:lnTo>
                    <a:pt x="1661" y="0"/>
                  </a:lnTo>
                  <a:lnTo>
                    <a:pt x="1704" y="0"/>
                  </a:lnTo>
                  <a:lnTo>
                    <a:pt x="2452" y="0"/>
                  </a:lnTo>
                  <a:lnTo>
                    <a:pt x="2464" y="7"/>
                  </a:lnTo>
                  <a:lnTo>
                    <a:pt x="2470" y="13"/>
                  </a:lnTo>
                  <a:lnTo>
                    <a:pt x="2470" y="13"/>
                  </a:lnTo>
                  <a:lnTo>
                    <a:pt x="2476" y="19"/>
                  </a:lnTo>
                  <a:lnTo>
                    <a:pt x="2482" y="25"/>
                  </a:lnTo>
                  <a:lnTo>
                    <a:pt x="2482" y="31"/>
                  </a:lnTo>
                  <a:lnTo>
                    <a:pt x="2488" y="31"/>
                  </a:lnTo>
                  <a:lnTo>
                    <a:pt x="2495" y="49"/>
                  </a:lnTo>
                  <a:lnTo>
                    <a:pt x="2495" y="864"/>
                  </a:lnTo>
                  <a:lnTo>
                    <a:pt x="2495" y="950"/>
                  </a:lnTo>
                  <a:lnTo>
                    <a:pt x="2495" y="1036"/>
                  </a:lnTo>
                  <a:lnTo>
                    <a:pt x="2495" y="1116"/>
                  </a:lnTo>
                  <a:lnTo>
                    <a:pt x="2495" y="1159"/>
                  </a:lnTo>
                  <a:lnTo>
                    <a:pt x="2495" y="1201"/>
                  </a:lnTo>
                  <a:lnTo>
                    <a:pt x="2495" y="1238"/>
                  </a:lnTo>
                  <a:lnTo>
                    <a:pt x="2495" y="1281"/>
                  </a:lnTo>
                  <a:lnTo>
                    <a:pt x="2495" y="1318"/>
                  </a:lnTo>
                  <a:lnTo>
                    <a:pt x="2495" y="1355"/>
                  </a:lnTo>
                  <a:lnTo>
                    <a:pt x="2495" y="1391"/>
                  </a:lnTo>
                  <a:lnTo>
                    <a:pt x="2495" y="1428"/>
                  </a:lnTo>
                  <a:lnTo>
                    <a:pt x="2495" y="1465"/>
                  </a:lnTo>
                  <a:lnTo>
                    <a:pt x="2495" y="1502"/>
                  </a:lnTo>
                  <a:lnTo>
                    <a:pt x="2495" y="1532"/>
                  </a:lnTo>
                  <a:lnTo>
                    <a:pt x="2495" y="1563"/>
                  </a:lnTo>
                  <a:lnTo>
                    <a:pt x="2495" y="1600"/>
                  </a:lnTo>
                  <a:lnTo>
                    <a:pt x="2495" y="1630"/>
                  </a:lnTo>
                  <a:lnTo>
                    <a:pt x="2495" y="1655"/>
                  </a:lnTo>
                  <a:lnTo>
                    <a:pt x="2495" y="1686"/>
                  </a:lnTo>
                  <a:lnTo>
                    <a:pt x="2495" y="1710"/>
                  </a:lnTo>
                  <a:lnTo>
                    <a:pt x="2495" y="1735"/>
                  </a:lnTo>
                  <a:lnTo>
                    <a:pt x="2495" y="1759"/>
                  </a:lnTo>
                  <a:lnTo>
                    <a:pt x="2495" y="1777"/>
                  </a:lnTo>
                  <a:lnTo>
                    <a:pt x="2495" y="1802"/>
                  </a:lnTo>
                  <a:lnTo>
                    <a:pt x="2495" y="1820"/>
                  </a:lnTo>
                  <a:lnTo>
                    <a:pt x="2495" y="1833"/>
                  </a:lnTo>
                  <a:lnTo>
                    <a:pt x="2495" y="1851"/>
                  </a:lnTo>
                  <a:lnTo>
                    <a:pt x="2495" y="1857"/>
                  </a:lnTo>
                  <a:lnTo>
                    <a:pt x="2495" y="1863"/>
                  </a:lnTo>
                  <a:lnTo>
                    <a:pt x="2495" y="1869"/>
                  </a:lnTo>
                  <a:lnTo>
                    <a:pt x="2495" y="1875"/>
                  </a:lnTo>
                  <a:lnTo>
                    <a:pt x="2488" y="2065"/>
                  </a:lnTo>
                  <a:lnTo>
                    <a:pt x="2476" y="2078"/>
                  </a:lnTo>
                  <a:lnTo>
                    <a:pt x="2470" y="2090"/>
                  </a:lnTo>
                  <a:lnTo>
                    <a:pt x="1704" y="2090"/>
                  </a:lnTo>
                  <a:lnTo>
                    <a:pt x="1667" y="2090"/>
                  </a:lnTo>
                  <a:lnTo>
                    <a:pt x="1637" y="2090"/>
                  </a:lnTo>
                  <a:lnTo>
                    <a:pt x="1606" y="2090"/>
                  </a:lnTo>
                  <a:lnTo>
                    <a:pt x="1569" y="2090"/>
                  </a:lnTo>
                  <a:lnTo>
                    <a:pt x="1539" y="2090"/>
                  </a:lnTo>
                  <a:lnTo>
                    <a:pt x="1514" y="2090"/>
                  </a:lnTo>
                  <a:lnTo>
                    <a:pt x="1483" y="2090"/>
                  </a:lnTo>
                  <a:lnTo>
                    <a:pt x="1453" y="2090"/>
                  </a:lnTo>
                  <a:lnTo>
                    <a:pt x="1428" y="2090"/>
                  </a:lnTo>
                  <a:lnTo>
                    <a:pt x="1404" y="2090"/>
                  </a:lnTo>
                  <a:lnTo>
                    <a:pt x="1379" y="2090"/>
                  </a:lnTo>
                  <a:lnTo>
                    <a:pt x="1355" y="2090"/>
                  </a:lnTo>
                  <a:lnTo>
                    <a:pt x="1330" y="2090"/>
                  </a:lnTo>
                  <a:lnTo>
                    <a:pt x="1306" y="2090"/>
                  </a:lnTo>
                  <a:lnTo>
                    <a:pt x="1287" y="2090"/>
                  </a:lnTo>
                  <a:lnTo>
                    <a:pt x="1269" y="2090"/>
                  </a:lnTo>
                  <a:lnTo>
                    <a:pt x="1244" y="2090"/>
                  </a:lnTo>
                  <a:lnTo>
                    <a:pt x="1226" y="2090"/>
                  </a:lnTo>
                  <a:lnTo>
                    <a:pt x="1208" y="2090"/>
                  </a:lnTo>
                  <a:lnTo>
                    <a:pt x="1195" y="2090"/>
                  </a:lnTo>
                  <a:lnTo>
                    <a:pt x="1177" y="2090"/>
                  </a:lnTo>
                  <a:lnTo>
                    <a:pt x="1159" y="2090"/>
                  </a:lnTo>
                  <a:lnTo>
                    <a:pt x="1146" y="2090"/>
                  </a:lnTo>
                  <a:lnTo>
                    <a:pt x="1128" y="2090"/>
                  </a:lnTo>
                  <a:lnTo>
                    <a:pt x="1116" y="2090"/>
                  </a:lnTo>
                  <a:lnTo>
                    <a:pt x="1103" y="2090"/>
                  </a:lnTo>
                  <a:lnTo>
                    <a:pt x="1091" y="2090"/>
                  </a:lnTo>
                  <a:lnTo>
                    <a:pt x="1079" y="2090"/>
                  </a:lnTo>
                  <a:lnTo>
                    <a:pt x="1067" y="2090"/>
                  </a:lnTo>
                  <a:lnTo>
                    <a:pt x="1061" y="2090"/>
                  </a:lnTo>
                  <a:lnTo>
                    <a:pt x="1048" y="2090"/>
                  </a:lnTo>
                  <a:lnTo>
                    <a:pt x="1036" y="2090"/>
                  </a:lnTo>
                  <a:lnTo>
                    <a:pt x="1030" y="2090"/>
                  </a:lnTo>
                  <a:lnTo>
                    <a:pt x="1024" y="2090"/>
                  </a:lnTo>
                  <a:lnTo>
                    <a:pt x="1011" y="2090"/>
                  </a:lnTo>
                  <a:lnTo>
                    <a:pt x="1005" y="2090"/>
                  </a:lnTo>
                  <a:lnTo>
                    <a:pt x="993" y="2090"/>
                  </a:lnTo>
                  <a:lnTo>
                    <a:pt x="981" y="2090"/>
                  </a:lnTo>
                  <a:lnTo>
                    <a:pt x="975" y="2090"/>
                  </a:lnTo>
                  <a:lnTo>
                    <a:pt x="962" y="2090"/>
                  </a:lnTo>
                  <a:lnTo>
                    <a:pt x="956" y="2090"/>
                  </a:lnTo>
                  <a:lnTo>
                    <a:pt x="950" y="2084"/>
                  </a:lnTo>
                  <a:lnTo>
                    <a:pt x="950" y="2084"/>
                  </a:lnTo>
                  <a:lnTo>
                    <a:pt x="944" y="2084"/>
                  </a:lnTo>
                  <a:lnTo>
                    <a:pt x="938" y="2084"/>
                  </a:lnTo>
                  <a:lnTo>
                    <a:pt x="938" y="2084"/>
                  </a:lnTo>
                  <a:lnTo>
                    <a:pt x="938" y="2084"/>
                  </a:lnTo>
                  <a:lnTo>
                    <a:pt x="938" y="2084"/>
                  </a:lnTo>
                  <a:lnTo>
                    <a:pt x="932" y="2084"/>
                  </a:lnTo>
                  <a:lnTo>
                    <a:pt x="932" y="2084"/>
                  </a:lnTo>
                  <a:close/>
                  <a:moveTo>
                    <a:pt x="2378" y="1931"/>
                  </a:moveTo>
                  <a:lnTo>
                    <a:pt x="2378" y="1931"/>
                  </a:lnTo>
                  <a:lnTo>
                    <a:pt x="2384" y="1925"/>
                  </a:lnTo>
                  <a:lnTo>
                    <a:pt x="2384" y="1925"/>
                  </a:lnTo>
                  <a:lnTo>
                    <a:pt x="2384" y="1925"/>
                  </a:lnTo>
                  <a:lnTo>
                    <a:pt x="2384" y="1918"/>
                  </a:lnTo>
                  <a:lnTo>
                    <a:pt x="2384" y="1912"/>
                  </a:lnTo>
                  <a:lnTo>
                    <a:pt x="2384" y="1906"/>
                  </a:lnTo>
                  <a:lnTo>
                    <a:pt x="2384" y="1900"/>
                  </a:lnTo>
                  <a:lnTo>
                    <a:pt x="2384" y="1894"/>
                  </a:lnTo>
                  <a:lnTo>
                    <a:pt x="2384" y="1888"/>
                  </a:lnTo>
                  <a:lnTo>
                    <a:pt x="2384" y="1875"/>
                  </a:lnTo>
                  <a:lnTo>
                    <a:pt x="2384" y="1863"/>
                  </a:lnTo>
                  <a:lnTo>
                    <a:pt x="2384" y="1851"/>
                  </a:lnTo>
                  <a:lnTo>
                    <a:pt x="2384" y="1839"/>
                  </a:lnTo>
                  <a:lnTo>
                    <a:pt x="2384" y="1833"/>
                  </a:lnTo>
                  <a:lnTo>
                    <a:pt x="2384" y="1826"/>
                  </a:lnTo>
                  <a:lnTo>
                    <a:pt x="2384" y="1814"/>
                  </a:lnTo>
                  <a:lnTo>
                    <a:pt x="2384" y="1704"/>
                  </a:lnTo>
                  <a:lnTo>
                    <a:pt x="2372" y="1704"/>
                  </a:lnTo>
                  <a:lnTo>
                    <a:pt x="2372" y="1704"/>
                  </a:lnTo>
                  <a:lnTo>
                    <a:pt x="2366" y="1704"/>
                  </a:lnTo>
                  <a:lnTo>
                    <a:pt x="2360" y="1704"/>
                  </a:lnTo>
                  <a:lnTo>
                    <a:pt x="2354" y="1704"/>
                  </a:lnTo>
                  <a:lnTo>
                    <a:pt x="2348" y="1704"/>
                  </a:lnTo>
                  <a:lnTo>
                    <a:pt x="2335" y="1704"/>
                  </a:lnTo>
                  <a:lnTo>
                    <a:pt x="2323" y="1704"/>
                  </a:lnTo>
                  <a:lnTo>
                    <a:pt x="2311" y="1704"/>
                  </a:lnTo>
                  <a:lnTo>
                    <a:pt x="2298" y="1704"/>
                  </a:lnTo>
                  <a:lnTo>
                    <a:pt x="2280" y="1704"/>
                  </a:lnTo>
                  <a:lnTo>
                    <a:pt x="2262" y="1704"/>
                  </a:lnTo>
                  <a:lnTo>
                    <a:pt x="2243" y="1704"/>
                  </a:lnTo>
                  <a:lnTo>
                    <a:pt x="2225" y="1704"/>
                  </a:lnTo>
                  <a:lnTo>
                    <a:pt x="2200" y="1704"/>
                  </a:lnTo>
                  <a:lnTo>
                    <a:pt x="2182" y="1704"/>
                  </a:lnTo>
                  <a:lnTo>
                    <a:pt x="2158" y="1704"/>
                  </a:lnTo>
                  <a:lnTo>
                    <a:pt x="2133" y="1704"/>
                  </a:lnTo>
                  <a:lnTo>
                    <a:pt x="2108" y="1704"/>
                  </a:lnTo>
                  <a:lnTo>
                    <a:pt x="2084" y="1704"/>
                  </a:lnTo>
                  <a:lnTo>
                    <a:pt x="2059" y="1704"/>
                  </a:lnTo>
                  <a:lnTo>
                    <a:pt x="2029" y="1704"/>
                  </a:lnTo>
                  <a:lnTo>
                    <a:pt x="2004" y="1704"/>
                  </a:lnTo>
                  <a:lnTo>
                    <a:pt x="1974" y="1704"/>
                  </a:lnTo>
                  <a:lnTo>
                    <a:pt x="1943" y="1704"/>
                  </a:lnTo>
                  <a:lnTo>
                    <a:pt x="1888" y="1704"/>
                  </a:lnTo>
                  <a:lnTo>
                    <a:pt x="1827" y="1704"/>
                  </a:lnTo>
                  <a:lnTo>
                    <a:pt x="1765" y="1704"/>
                  </a:lnTo>
                  <a:lnTo>
                    <a:pt x="1704" y="1704"/>
                  </a:lnTo>
                  <a:lnTo>
                    <a:pt x="1643" y="1704"/>
                  </a:lnTo>
                  <a:lnTo>
                    <a:pt x="1581" y="1704"/>
                  </a:lnTo>
                  <a:lnTo>
                    <a:pt x="1520" y="1704"/>
                  </a:lnTo>
                  <a:lnTo>
                    <a:pt x="1459" y="1704"/>
                  </a:lnTo>
                  <a:lnTo>
                    <a:pt x="1428" y="1704"/>
                  </a:lnTo>
                  <a:lnTo>
                    <a:pt x="1404" y="1704"/>
                  </a:lnTo>
                  <a:lnTo>
                    <a:pt x="1373" y="1704"/>
                  </a:lnTo>
                  <a:lnTo>
                    <a:pt x="1349" y="1704"/>
                  </a:lnTo>
                  <a:lnTo>
                    <a:pt x="1318" y="1704"/>
                  </a:lnTo>
                  <a:lnTo>
                    <a:pt x="1293" y="1704"/>
                  </a:lnTo>
                  <a:lnTo>
                    <a:pt x="1269" y="1704"/>
                  </a:lnTo>
                  <a:lnTo>
                    <a:pt x="1244" y="1704"/>
                  </a:lnTo>
                  <a:lnTo>
                    <a:pt x="1226" y="1704"/>
                  </a:lnTo>
                  <a:lnTo>
                    <a:pt x="1201" y="1704"/>
                  </a:lnTo>
                  <a:lnTo>
                    <a:pt x="1183" y="1704"/>
                  </a:lnTo>
                  <a:lnTo>
                    <a:pt x="1159" y="1704"/>
                  </a:lnTo>
                  <a:lnTo>
                    <a:pt x="1140" y="1704"/>
                  </a:lnTo>
                  <a:lnTo>
                    <a:pt x="1128" y="1704"/>
                  </a:lnTo>
                  <a:lnTo>
                    <a:pt x="1110" y="1704"/>
                  </a:lnTo>
                  <a:lnTo>
                    <a:pt x="1097" y="1704"/>
                  </a:lnTo>
                  <a:lnTo>
                    <a:pt x="1079" y="1704"/>
                  </a:lnTo>
                  <a:lnTo>
                    <a:pt x="1073" y="1704"/>
                  </a:lnTo>
                  <a:lnTo>
                    <a:pt x="1061" y="1704"/>
                  </a:lnTo>
                  <a:lnTo>
                    <a:pt x="1054" y="1704"/>
                  </a:lnTo>
                  <a:lnTo>
                    <a:pt x="1042" y="1704"/>
                  </a:lnTo>
                  <a:lnTo>
                    <a:pt x="1042" y="1704"/>
                  </a:lnTo>
                  <a:lnTo>
                    <a:pt x="1036" y="1704"/>
                  </a:lnTo>
                  <a:lnTo>
                    <a:pt x="1036" y="1704"/>
                  </a:lnTo>
                  <a:lnTo>
                    <a:pt x="1024" y="1704"/>
                  </a:lnTo>
                  <a:lnTo>
                    <a:pt x="1024" y="1814"/>
                  </a:lnTo>
                  <a:lnTo>
                    <a:pt x="1024" y="1833"/>
                  </a:lnTo>
                  <a:lnTo>
                    <a:pt x="1024" y="1851"/>
                  </a:lnTo>
                  <a:lnTo>
                    <a:pt x="1024" y="1863"/>
                  </a:lnTo>
                  <a:lnTo>
                    <a:pt x="1024" y="1869"/>
                  </a:lnTo>
                  <a:lnTo>
                    <a:pt x="1024" y="1882"/>
                  </a:lnTo>
                  <a:lnTo>
                    <a:pt x="1024" y="1888"/>
                  </a:lnTo>
                  <a:lnTo>
                    <a:pt x="1024" y="1894"/>
                  </a:lnTo>
                  <a:lnTo>
                    <a:pt x="1024" y="1906"/>
                  </a:lnTo>
                  <a:lnTo>
                    <a:pt x="1024" y="1912"/>
                  </a:lnTo>
                  <a:lnTo>
                    <a:pt x="1024" y="1912"/>
                  </a:lnTo>
                  <a:lnTo>
                    <a:pt x="1024" y="1918"/>
                  </a:lnTo>
                  <a:lnTo>
                    <a:pt x="1024" y="1925"/>
                  </a:lnTo>
                  <a:lnTo>
                    <a:pt x="1024" y="1925"/>
                  </a:lnTo>
                  <a:lnTo>
                    <a:pt x="1024" y="1925"/>
                  </a:lnTo>
                  <a:lnTo>
                    <a:pt x="1024" y="1931"/>
                  </a:lnTo>
                  <a:lnTo>
                    <a:pt x="1030" y="1931"/>
                  </a:lnTo>
                  <a:lnTo>
                    <a:pt x="1036" y="1937"/>
                  </a:lnTo>
                  <a:lnTo>
                    <a:pt x="1036" y="1937"/>
                  </a:lnTo>
                  <a:lnTo>
                    <a:pt x="1042" y="1937"/>
                  </a:lnTo>
                  <a:lnTo>
                    <a:pt x="1042" y="1937"/>
                  </a:lnTo>
                  <a:lnTo>
                    <a:pt x="1048" y="1937"/>
                  </a:lnTo>
                  <a:lnTo>
                    <a:pt x="1054" y="1937"/>
                  </a:lnTo>
                  <a:lnTo>
                    <a:pt x="1061" y="1937"/>
                  </a:lnTo>
                  <a:lnTo>
                    <a:pt x="1073" y="1937"/>
                  </a:lnTo>
                  <a:lnTo>
                    <a:pt x="1085" y="1937"/>
                  </a:lnTo>
                  <a:lnTo>
                    <a:pt x="1097" y="1937"/>
                  </a:lnTo>
                  <a:lnTo>
                    <a:pt x="1110" y="1937"/>
                  </a:lnTo>
                  <a:lnTo>
                    <a:pt x="1122" y="1937"/>
                  </a:lnTo>
                  <a:lnTo>
                    <a:pt x="1140" y="1937"/>
                  </a:lnTo>
                  <a:lnTo>
                    <a:pt x="1159" y="1937"/>
                  </a:lnTo>
                  <a:lnTo>
                    <a:pt x="1177" y="1937"/>
                  </a:lnTo>
                  <a:lnTo>
                    <a:pt x="1195" y="1937"/>
                  </a:lnTo>
                  <a:lnTo>
                    <a:pt x="1220" y="1937"/>
                  </a:lnTo>
                  <a:lnTo>
                    <a:pt x="1244" y="1937"/>
                  </a:lnTo>
                  <a:lnTo>
                    <a:pt x="1263" y="1937"/>
                  </a:lnTo>
                  <a:lnTo>
                    <a:pt x="1287" y="1937"/>
                  </a:lnTo>
                  <a:lnTo>
                    <a:pt x="1312" y="1937"/>
                  </a:lnTo>
                  <a:lnTo>
                    <a:pt x="1342" y="1937"/>
                  </a:lnTo>
                  <a:lnTo>
                    <a:pt x="1367" y="1937"/>
                  </a:lnTo>
                  <a:lnTo>
                    <a:pt x="1398" y="1937"/>
                  </a:lnTo>
                  <a:lnTo>
                    <a:pt x="1422" y="1937"/>
                  </a:lnTo>
                  <a:lnTo>
                    <a:pt x="1453" y="1937"/>
                  </a:lnTo>
                  <a:lnTo>
                    <a:pt x="1483" y="1937"/>
                  </a:lnTo>
                  <a:lnTo>
                    <a:pt x="1514" y="1937"/>
                  </a:lnTo>
                  <a:lnTo>
                    <a:pt x="1545" y="1937"/>
                  </a:lnTo>
                  <a:lnTo>
                    <a:pt x="1581" y="1937"/>
                  </a:lnTo>
                  <a:lnTo>
                    <a:pt x="1612" y="1937"/>
                  </a:lnTo>
                  <a:lnTo>
                    <a:pt x="1643" y="1937"/>
                  </a:lnTo>
                  <a:lnTo>
                    <a:pt x="1710" y="1937"/>
                  </a:lnTo>
                  <a:lnTo>
                    <a:pt x="1735" y="1937"/>
                  </a:lnTo>
                  <a:lnTo>
                    <a:pt x="1765" y="1937"/>
                  </a:lnTo>
                  <a:lnTo>
                    <a:pt x="1790" y="1937"/>
                  </a:lnTo>
                  <a:lnTo>
                    <a:pt x="1808" y="1937"/>
                  </a:lnTo>
                  <a:lnTo>
                    <a:pt x="1833" y="1937"/>
                  </a:lnTo>
                  <a:lnTo>
                    <a:pt x="1857" y="1937"/>
                  </a:lnTo>
                  <a:lnTo>
                    <a:pt x="1882" y="1937"/>
                  </a:lnTo>
                  <a:lnTo>
                    <a:pt x="1900" y="1937"/>
                  </a:lnTo>
                  <a:lnTo>
                    <a:pt x="1919" y="1937"/>
                  </a:lnTo>
                  <a:lnTo>
                    <a:pt x="1943" y="1937"/>
                  </a:lnTo>
                  <a:lnTo>
                    <a:pt x="1961" y="1937"/>
                  </a:lnTo>
                  <a:lnTo>
                    <a:pt x="1980" y="1937"/>
                  </a:lnTo>
                  <a:lnTo>
                    <a:pt x="1998" y="1937"/>
                  </a:lnTo>
                  <a:lnTo>
                    <a:pt x="2017" y="1937"/>
                  </a:lnTo>
                  <a:lnTo>
                    <a:pt x="2035" y="1937"/>
                  </a:lnTo>
                  <a:lnTo>
                    <a:pt x="2047" y="1937"/>
                  </a:lnTo>
                  <a:lnTo>
                    <a:pt x="2066" y="1937"/>
                  </a:lnTo>
                  <a:lnTo>
                    <a:pt x="2084" y="1937"/>
                  </a:lnTo>
                  <a:lnTo>
                    <a:pt x="2096" y="1937"/>
                  </a:lnTo>
                  <a:lnTo>
                    <a:pt x="2115" y="1937"/>
                  </a:lnTo>
                  <a:lnTo>
                    <a:pt x="2127" y="1937"/>
                  </a:lnTo>
                  <a:lnTo>
                    <a:pt x="2139" y="1937"/>
                  </a:lnTo>
                  <a:lnTo>
                    <a:pt x="2151" y="1937"/>
                  </a:lnTo>
                  <a:lnTo>
                    <a:pt x="2164" y="1937"/>
                  </a:lnTo>
                  <a:lnTo>
                    <a:pt x="2188" y="1937"/>
                  </a:lnTo>
                  <a:lnTo>
                    <a:pt x="2213" y="1937"/>
                  </a:lnTo>
                  <a:lnTo>
                    <a:pt x="2231" y="1937"/>
                  </a:lnTo>
                  <a:lnTo>
                    <a:pt x="2249" y="1937"/>
                  </a:lnTo>
                  <a:lnTo>
                    <a:pt x="2268" y="1937"/>
                  </a:lnTo>
                  <a:lnTo>
                    <a:pt x="2286" y="1937"/>
                  </a:lnTo>
                  <a:lnTo>
                    <a:pt x="2298" y="1937"/>
                  </a:lnTo>
                  <a:lnTo>
                    <a:pt x="2311" y="1937"/>
                  </a:lnTo>
                  <a:lnTo>
                    <a:pt x="2323" y="1937"/>
                  </a:lnTo>
                  <a:lnTo>
                    <a:pt x="2335" y="1937"/>
                  </a:lnTo>
                  <a:lnTo>
                    <a:pt x="2341" y="1937"/>
                  </a:lnTo>
                  <a:lnTo>
                    <a:pt x="2354" y="1937"/>
                  </a:lnTo>
                  <a:lnTo>
                    <a:pt x="2360" y="1931"/>
                  </a:lnTo>
                  <a:lnTo>
                    <a:pt x="2366" y="1931"/>
                  </a:lnTo>
                  <a:lnTo>
                    <a:pt x="2366" y="1931"/>
                  </a:lnTo>
                  <a:lnTo>
                    <a:pt x="2372" y="1931"/>
                  </a:lnTo>
                  <a:lnTo>
                    <a:pt x="2372" y="1931"/>
                  </a:lnTo>
                  <a:lnTo>
                    <a:pt x="2378" y="1931"/>
                  </a:lnTo>
                  <a:lnTo>
                    <a:pt x="2378" y="1931"/>
                  </a:lnTo>
                  <a:lnTo>
                    <a:pt x="2378" y="1931"/>
                  </a:lnTo>
                  <a:lnTo>
                    <a:pt x="2378" y="1931"/>
                  </a:lnTo>
                  <a:close/>
                  <a:moveTo>
                    <a:pt x="1900" y="1857"/>
                  </a:moveTo>
                  <a:lnTo>
                    <a:pt x="1900" y="1857"/>
                  </a:lnTo>
                  <a:lnTo>
                    <a:pt x="1894" y="1857"/>
                  </a:lnTo>
                  <a:lnTo>
                    <a:pt x="1888" y="1851"/>
                  </a:lnTo>
                  <a:lnTo>
                    <a:pt x="1882" y="1851"/>
                  </a:lnTo>
                  <a:lnTo>
                    <a:pt x="1876" y="1845"/>
                  </a:lnTo>
                  <a:lnTo>
                    <a:pt x="1876" y="1833"/>
                  </a:lnTo>
                  <a:lnTo>
                    <a:pt x="1869" y="1826"/>
                  </a:lnTo>
                  <a:lnTo>
                    <a:pt x="1869" y="1820"/>
                  </a:lnTo>
                  <a:lnTo>
                    <a:pt x="1869" y="1814"/>
                  </a:lnTo>
                  <a:lnTo>
                    <a:pt x="1869" y="1808"/>
                  </a:lnTo>
                  <a:lnTo>
                    <a:pt x="1869" y="1808"/>
                  </a:lnTo>
                  <a:lnTo>
                    <a:pt x="1869" y="1802"/>
                  </a:lnTo>
                  <a:lnTo>
                    <a:pt x="1869" y="1796"/>
                  </a:lnTo>
                  <a:lnTo>
                    <a:pt x="1876" y="1790"/>
                  </a:lnTo>
                  <a:lnTo>
                    <a:pt x="1882" y="1784"/>
                  </a:lnTo>
                  <a:lnTo>
                    <a:pt x="1888" y="1777"/>
                  </a:lnTo>
                  <a:lnTo>
                    <a:pt x="1894" y="1777"/>
                  </a:lnTo>
                  <a:lnTo>
                    <a:pt x="1900" y="1771"/>
                  </a:lnTo>
                  <a:lnTo>
                    <a:pt x="1906" y="1771"/>
                  </a:lnTo>
                  <a:lnTo>
                    <a:pt x="1912" y="1771"/>
                  </a:lnTo>
                  <a:lnTo>
                    <a:pt x="1919" y="1771"/>
                  </a:lnTo>
                  <a:lnTo>
                    <a:pt x="1925" y="1771"/>
                  </a:lnTo>
                  <a:lnTo>
                    <a:pt x="1931" y="1771"/>
                  </a:lnTo>
                  <a:lnTo>
                    <a:pt x="1937" y="1771"/>
                  </a:lnTo>
                  <a:lnTo>
                    <a:pt x="1943" y="1777"/>
                  </a:lnTo>
                  <a:lnTo>
                    <a:pt x="1949" y="1784"/>
                  </a:lnTo>
                  <a:lnTo>
                    <a:pt x="1955" y="1790"/>
                  </a:lnTo>
                  <a:lnTo>
                    <a:pt x="1955" y="1796"/>
                  </a:lnTo>
                  <a:lnTo>
                    <a:pt x="1961" y="1802"/>
                  </a:lnTo>
                  <a:lnTo>
                    <a:pt x="1961" y="1808"/>
                  </a:lnTo>
                  <a:lnTo>
                    <a:pt x="1961" y="1814"/>
                  </a:lnTo>
                  <a:lnTo>
                    <a:pt x="1961" y="1820"/>
                  </a:lnTo>
                  <a:lnTo>
                    <a:pt x="1961" y="1826"/>
                  </a:lnTo>
                  <a:lnTo>
                    <a:pt x="1961" y="1833"/>
                  </a:lnTo>
                  <a:lnTo>
                    <a:pt x="1955" y="1839"/>
                  </a:lnTo>
                  <a:lnTo>
                    <a:pt x="1955" y="1839"/>
                  </a:lnTo>
                  <a:lnTo>
                    <a:pt x="1949" y="1845"/>
                  </a:lnTo>
                  <a:lnTo>
                    <a:pt x="1943" y="1851"/>
                  </a:lnTo>
                  <a:lnTo>
                    <a:pt x="1937" y="1851"/>
                  </a:lnTo>
                  <a:lnTo>
                    <a:pt x="1937" y="1857"/>
                  </a:lnTo>
                  <a:lnTo>
                    <a:pt x="1931" y="1857"/>
                  </a:lnTo>
                  <a:lnTo>
                    <a:pt x="1925" y="1857"/>
                  </a:lnTo>
                  <a:lnTo>
                    <a:pt x="1919" y="1857"/>
                  </a:lnTo>
                  <a:lnTo>
                    <a:pt x="1906" y="1857"/>
                  </a:lnTo>
                  <a:lnTo>
                    <a:pt x="1900" y="1857"/>
                  </a:lnTo>
                  <a:lnTo>
                    <a:pt x="1900" y="1857"/>
                  </a:lnTo>
                  <a:close/>
                  <a:moveTo>
                    <a:pt x="2066" y="1857"/>
                  </a:moveTo>
                  <a:lnTo>
                    <a:pt x="2059" y="1857"/>
                  </a:lnTo>
                  <a:lnTo>
                    <a:pt x="2053" y="1851"/>
                  </a:lnTo>
                  <a:lnTo>
                    <a:pt x="2047" y="1851"/>
                  </a:lnTo>
                  <a:lnTo>
                    <a:pt x="2041" y="1845"/>
                  </a:lnTo>
                  <a:lnTo>
                    <a:pt x="2035" y="1845"/>
                  </a:lnTo>
                  <a:lnTo>
                    <a:pt x="2035" y="1839"/>
                  </a:lnTo>
                  <a:lnTo>
                    <a:pt x="2035" y="1839"/>
                  </a:lnTo>
                  <a:lnTo>
                    <a:pt x="2035" y="1833"/>
                  </a:lnTo>
                  <a:lnTo>
                    <a:pt x="2029" y="1833"/>
                  </a:lnTo>
                  <a:lnTo>
                    <a:pt x="2029" y="1826"/>
                  </a:lnTo>
                  <a:lnTo>
                    <a:pt x="2029" y="1820"/>
                  </a:lnTo>
                  <a:lnTo>
                    <a:pt x="2029" y="1814"/>
                  </a:lnTo>
                  <a:lnTo>
                    <a:pt x="2029" y="1808"/>
                  </a:lnTo>
                  <a:lnTo>
                    <a:pt x="2029" y="1802"/>
                  </a:lnTo>
                  <a:lnTo>
                    <a:pt x="2029" y="1796"/>
                  </a:lnTo>
                  <a:lnTo>
                    <a:pt x="2035" y="1796"/>
                  </a:lnTo>
                  <a:lnTo>
                    <a:pt x="2035" y="1790"/>
                  </a:lnTo>
                  <a:lnTo>
                    <a:pt x="2035" y="1790"/>
                  </a:lnTo>
                  <a:lnTo>
                    <a:pt x="2035" y="1784"/>
                  </a:lnTo>
                  <a:lnTo>
                    <a:pt x="2041" y="1784"/>
                  </a:lnTo>
                  <a:lnTo>
                    <a:pt x="2047" y="1777"/>
                  </a:lnTo>
                  <a:lnTo>
                    <a:pt x="2053" y="1777"/>
                  </a:lnTo>
                  <a:lnTo>
                    <a:pt x="2059" y="1771"/>
                  </a:lnTo>
                  <a:lnTo>
                    <a:pt x="2066" y="1771"/>
                  </a:lnTo>
                  <a:lnTo>
                    <a:pt x="2072" y="1771"/>
                  </a:lnTo>
                  <a:lnTo>
                    <a:pt x="2078" y="1771"/>
                  </a:lnTo>
                  <a:lnTo>
                    <a:pt x="2084" y="1771"/>
                  </a:lnTo>
                  <a:lnTo>
                    <a:pt x="2090" y="1771"/>
                  </a:lnTo>
                  <a:lnTo>
                    <a:pt x="2096" y="1771"/>
                  </a:lnTo>
                  <a:lnTo>
                    <a:pt x="2096" y="1777"/>
                  </a:lnTo>
                  <a:lnTo>
                    <a:pt x="2102" y="1777"/>
                  </a:lnTo>
                  <a:lnTo>
                    <a:pt x="2108" y="1784"/>
                  </a:lnTo>
                  <a:lnTo>
                    <a:pt x="2115" y="1790"/>
                  </a:lnTo>
                  <a:lnTo>
                    <a:pt x="2115" y="1796"/>
                  </a:lnTo>
                  <a:lnTo>
                    <a:pt x="2121" y="1796"/>
                  </a:lnTo>
                  <a:lnTo>
                    <a:pt x="2121" y="1808"/>
                  </a:lnTo>
                  <a:lnTo>
                    <a:pt x="2121" y="1808"/>
                  </a:lnTo>
                  <a:lnTo>
                    <a:pt x="2121" y="1814"/>
                  </a:lnTo>
                  <a:lnTo>
                    <a:pt x="2121" y="1820"/>
                  </a:lnTo>
                  <a:lnTo>
                    <a:pt x="2121" y="1826"/>
                  </a:lnTo>
                  <a:lnTo>
                    <a:pt x="2115" y="1833"/>
                  </a:lnTo>
                  <a:lnTo>
                    <a:pt x="2115" y="1839"/>
                  </a:lnTo>
                  <a:lnTo>
                    <a:pt x="2108" y="1845"/>
                  </a:lnTo>
                  <a:lnTo>
                    <a:pt x="2108" y="1851"/>
                  </a:lnTo>
                  <a:lnTo>
                    <a:pt x="2102" y="1851"/>
                  </a:lnTo>
                  <a:lnTo>
                    <a:pt x="2096" y="1851"/>
                  </a:lnTo>
                  <a:lnTo>
                    <a:pt x="2096" y="1857"/>
                  </a:lnTo>
                  <a:lnTo>
                    <a:pt x="2090" y="1857"/>
                  </a:lnTo>
                  <a:lnTo>
                    <a:pt x="2084" y="1857"/>
                  </a:lnTo>
                  <a:lnTo>
                    <a:pt x="2078" y="1857"/>
                  </a:lnTo>
                  <a:lnTo>
                    <a:pt x="2072" y="1857"/>
                  </a:lnTo>
                  <a:lnTo>
                    <a:pt x="2066" y="1857"/>
                  </a:lnTo>
                  <a:lnTo>
                    <a:pt x="2066" y="1857"/>
                  </a:lnTo>
                  <a:close/>
                  <a:moveTo>
                    <a:pt x="2207" y="1851"/>
                  </a:moveTo>
                  <a:lnTo>
                    <a:pt x="2200" y="1845"/>
                  </a:lnTo>
                  <a:lnTo>
                    <a:pt x="2200" y="1845"/>
                  </a:lnTo>
                  <a:lnTo>
                    <a:pt x="2194" y="1833"/>
                  </a:lnTo>
                  <a:lnTo>
                    <a:pt x="2188" y="1826"/>
                  </a:lnTo>
                  <a:lnTo>
                    <a:pt x="2188" y="1814"/>
                  </a:lnTo>
                  <a:lnTo>
                    <a:pt x="2188" y="1808"/>
                  </a:lnTo>
                  <a:lnTo>
                    <a:pt x="2188" y="1796"/>
                  </a:lnTo>
                  <a:lnTo>
                    <a:pt x="2194" y="1790"/>
                  </a:lnTo>
                  <a:lnTo>
                    <a:pt x="2194" y="1784"/>
                  </a:lnTo>
                  <a:lnTo>
                    <a:pt x="2200" y="1784"/>
                  </a:lnTo>
                  <a:lnTo>
                    <a:pt x="2207" y="1777"/>
                  </a:lnTo>
                  <a:lnTo>
                    <a:pt x="2207" y="1777"/>
                  </a:lnTo>
                  <a:lnTo>
                    <a:pt x="2213" y="1771"/>
                  </a:lnTo>
                  <a:lnTo>
                    <a:pt x="2219" y="1771"/>
                  </a:lnTo>
                  <a:lnTo>
                    <a:pt x="2225" y="1771"/>
                  </a:lnTo>
                  <a:lnTo>
                    <a:pt x="2231" y="1771"/>
                  </a:lnTo>
                  <a:lnTo>
                    <a:pt x="2237" y="1771"/>
                  </a:lnTo>
                  <a:lnTo>
                    <a:pt x="2243" y="1771"/>
                  </a:lnTo>
                  <a:lnTo>
                    <a:pt x="2249" y="1771"/>
                  </a:lnTo>
                  <a:lnTo>
                    <a:pt x="2256" y="1771"/>
                  </a:lnTo>
                  <a:lnTo>
                    <a:pt x="2262" y="1777"/>
                  </a:lnTo>
                  <a:lnTo>
                    <a:pt x="2268" y="1784"/>
                  </a:lnTo>
                  <a:lnTo>
                    <a:pt x="2268" y="1784"/>
                  </a:lnTo>
                  <a:lnTo>
                    <a:pt x="2274" y="1790"/>
                  </a:lnTo>
                  <a:lnTo>
                    <a:pt x="2274" y="1796"/>
                  </a:lnTo>
                  <a:lnTo>
                    <a:pt x="2280" y="1802"/>
                  </a:lnTo>
                  <a:lnTo>
                    <a:pt x="2280" y="1808"/>
                  </a:lnTo>
                  <a:lnTo>
                    <a:pt x="2280" y="1814"/>
                  </a:lnTo>
                  <a:lnTo>
                    <a:pt x="2280" y="1820"/>
                  </a:lnTo>
                  <a:lnTo>
                    <a:pt x="2280" y="1826"/>
                  </a:lnTo>
                  <a:lnTo>
                    <a:pt x="2280" y="1833"/>
                  </a:lnTo>
                  <a:lnTo>
                    <a:pt x="2274" y="1839"/>
                  </a:lnTo>
                  <a:lnTo>
                    <a:pt x="2274" y="1839"/>
                  </a:lnTo>
                  <a:lnTo>
                    <a:pt x="2268" y="1845"/>
                  </a:lnTo>
                  <a:lnTo>
                    <a:pt x="2262" y="1851"/>
                  </a:lnTo>
                  <a:lnTo>
                    <a:pt x="2262" y="1851"/>
                  </a:lnTo>
                  <a:lnTo>
                    <a:pt x="2256" y="1857"/>
                  </a:lnTo>
                  <a:lnTo>
                    <a:pt x="2256" y="1857"/>
                  </a:lnTo>
                  <a:lnTo>
                    <a:pt x="2249" y="1857"/>
                  </a:lnTo>
                  <a:lnTo>
                    <a:pt x="2243" y="1857"/>
                  </a:lnTo>
                  <a:lnTo>
                    <a:pt x="2243" y="1857"/>
                  </a:lnTo>
                  <a:lnTo>
                    <a:pt x="2237" y="1857"/>
                  </a:lnTo>
                  <a:lnTo>
                    <a:pt x="2231" y="1857"/>
                  </a:lnTo>
                  <a:lnTo>
                    <a:pt x="2225" y="1857"/>
                  </a:lnTo>
                  <a:lnTo>
                    <a:pt x="2219" y="1857"/>
                  </a:lnTo>
                  <a:lnTo>
                    <a:pt x="2219" y="1857"/>
                  </a:lnTo>
                  <a:lnTo>
                    <a:pt x="2213" y="1851"/>
                  </a:lnTo>
                  <a:lnTo>
                    <a:pt x="2207" y="1851"/>
                  </a:lnTo>
                  <a:lnTo>
                    <a:pt x="2207" y="1851"/>
                  </a:lnTo>
                  <a:close/>
                  <a:moveTo>
                    <a:pt x="2378" y="1545"/>
                  </a:moveTo>
                  <a:lnTo>
                    <a:pt x="2384" y="1545"/>
                  </a:lnTo>
                  <a:lnTo>
                    <a:pt x="2384" y="1434"/>
                  </a:lnTo>
                  <a:lnTo>
                    <a:pt x="2384" y="1422"/>
                  </a:lnTo>
                  <a:lnTo>
                    <a:pt x="2384" y="1410"/>
                  </a:lnTo>
                  <a:lnTo>
                    <a:pt x="2384" y="1391"/>
                  </a:lnTo>
                  <a:lnTo>
                    <a:pt x="2384" y="1385"/>
                  </a:lnTo>
                  <a:lnTo>
                    <a:pt x="2384" y="1373"/>
                  </a:lnTo>
                  <a:lnTo>
                    <a:pt x="2384" y="1367"/>
                  </a:lnTo>
                  <a:lnTo>
                    <a:pt x="2384" y="1355"/>
                  </a:lnTo>
                  <a:lnTo>
                    <a:pt x="2384" y="1348"/>
                  </a:lnTo>
                  <a:lnTo>
                    <a:pt x="2384" y="1342"/>
                  </a:lnTo>
                  <a:lnTo>
                    <a:pt x="2384" y="1336"/>
                  </a:lnTo>
                  <a:lnTo>
                    <a:pt x="2384" y="1330"/>
                  </a:lnTo>
                  <a:lnTo>
                    <a:pt x="2384" y="1330"/>
                  </a:lnTo>
                  <a:lnTo>
                    <a:pt x="2384" y="1324"/>
                  </a:lnTo>
                  <a:lnTo>
                    <a:pt x="2384" y="1324"/>
                  </a:lnTo>
                  <a:lnTo>
                    <a:pt x="2378" y="1324"/>
                  </a:lnTo>
                  <a:lnTo>
                    <a:pt x="2378" y="1318"/>
                  </a:lnTo>
                  <a:lnTo>
                    <a:pt x="2378" y="1318"/>
                  </a:lnTo>
                  <a:lnTo>
                    <a:pt x="2378" y="1318"/>
                  </a:lnTo>
                  <a:lnTo>
                    <a:pt x="2378" y="1318"/>
                  </a:lnTo>
                  <a:lnTo>
                    <a:pt x="2372" y="1318"/>
                  </a:lnTo>
                  <a:lnTo>
                    <a:pt x="2366" y="1318"/>
                  </a:lnTo>
                  <a:lnTo>
                    <a:pt x="2354" y="1318"/>
                  </a:lnTo>
                  <a:lnTo>
                    <a:pt x="2348" y="1318"/>
                  </a:lnTo>
                  <a:lnTo>
                    <a:pt x="2335" y="1318"/>
                  </a:lnTo>
                  <a:lnTo>
                    <a:pt x="2323" y="1318"/>
                  </a:lnTo>
                  <a:lnTo>
                    <a:pt x="2305" y="1318"/>
                  </a:lnTo>
                  <a:lnTo>
                    <a:pt x="2292" y="1318"/>
                  </a:lnTo>
                  <a:lnTo>
                    <a:pt x="2274" y="1318"/>
                  </a:lnTo>
                  <a:lnTo>
                    <a:pt x="2256" y="1318"/>
                  </a:lnTo>
                  <a:lnTo>
                    <a:pt x="2231" y="1318"/>
                  </a:lnTo>
                  <a:lnTo>
                    <a:pt x="2213" y="1318"/>
                  </a:lnTo>
                  <a:lnTo>
                    <a:pt x="2188" y="1318"/>
                  </a:lnTo>
                  <a:lnTo>
                    <a:pt x="2170" y="1318"/>
                  </a:lnTo>
                  <a:lnTo>
                    <a:pt x="2145" y="1318"/>
                  </a:lnTo>
                  <a:lnTo>
                    <a:pt x="2121" y="1318"/>
                  </a:lnTo>
                  <a:lnTo>
                    <a:pt x="2090" y="1318"/>
                  </a:lnTo>
                  <a:lnTo>
                    <a:pt x="2066" y="1318"/>
                  </a:lnTo>
                  <a:lnTo>
                    <a:pt x="2035" y="1318"/>
                  </a:lnTo>
                  <a:lnTo>
                    <a:pt x="2010" y="1318"/>
                  </a:lnTo>
                  <a:lnTo>
                    <a:pt x="1980" y="1318"/>
                  </a:lnTo>
                  <a:lnTo>
                    <a:pt x="1949" y="1318"/>
                  </a:lnTo>
                  <a:lnTo>
                    <a:pt x="1925" y="1318"/>
                  </a:lnTo>
                  <a:lnTo>
                    <a:pt x="1894" y="1318"/>
                  </a:lnTo>
                  <a:lnTo>
                    <a:pt x="1833" y="1318"/>
                  </a:lnTo>
                  <a:lnTo>
                    <a:pt x="1765" y="1318"/>
                  </a:lnTo>
                  <a:lnTo>
                    <a:pt x="1704" y="1318"/>
                  </a:lnTo>
                  <a:lnTo>
                    <a:pt x="1643" y="1318"/>
                  </a:lnTo>
                  <a:lnTo>
                    <a:pt x="1581" y="1318"/>
                  </a:lnTo>
                  <a:lnTo>
                    <a:pt x="1514" y="1318"/>
                  </a:lnTo>
                  <a:lnTo>
                    <a:pt x="1490" y="1318"/>
                  </a:lnTo>
                  <a:lnTo>
                    <a:pt x="1459" y="1318"/>
                  </a:lnTo>
                  <a:lnTo>
                    <a:pt x="1428" y="1318"/>
                  </a:lnTo>
                  <a:lnTo>
                    <a:pt x="1398" y="1318"/>
                  </a:lnTo>
                  <a:lnTo>
                    <a:pt x="1373" y="1318"/>
                  </a:lnTo>
                  <a:lnTo>
                    <a:pt x="1342" y="1318"/>
                  </a:lnTo>
                  <a:lnTo>
                    <a:pt x="1318" y="1318"/>
                  </a:lnTo>
                  <a:lnTo>
                    <a:pt x="1293" y="1318"/>
                  </a:lnTo>
                  <a:lnTo>
                    <a:pt x="1263" y="1318"/>
                  </a:lnTo>
                  <a:lnTo>
                    <a:pt x="1238" y="1318"/>
                  </a:lnTo>
                  <a:lnTo>
                    <a:pt x="1220" y="1318"/>
                  </a:lnTo>
                  <a:lnTo>
                    <a:pt x="1195" y="1318"/>
                  </a:lnTo>
                  <a:lnTo>
                    <a:pt x="1177" y="1318"/>
                  </a:lnTo>
                  <a:lnTo>
                    <a:pt x="1152" y="1318"/>
                  </a:lnTo>
                  <a:lnTo>
                    <a:pt x="1134" y="1318"/>
                  </a:lnTo>
                  <a:lnTo>
                    <a:pt x="1116" y="1318"/>
                  </a:lnTo>
                  <a:lnTo>
                    <a:pt x="1103" y="1318"/>
                  </a:lnTo>
                  <a:lnTo>
                    <a:pt x="1085" y="1318"/>
                  </a:lnTo>
                  <a:lnTo>
                    <a:pt x="1073" y="1318"/>
                  </a:lnTo>
                  <a:lnTo>
                    <a:pt x="1061" y="1318"/>
                  </a:lnTo>
                  <a:lnTo>
                    <a:pt x="1054" y="1318"/>
                  </a:lnTo>
                  <a:lnTo>
                    <a:pt x="1042" y="1318"/>
                  </a:lnTo>
                  <a:lnTo>
                    <a:pt x="1036" y="1318"/>
                  </a:lnTo>
                  <a:lnTo>
                    <a:pt x="1030" y="1318"/>
                  </a:lnTo>
                  <a:lnTo>
                    <a:pt x="1030" y="1318"/>
                  </a:lnTo>
                  <a:lnTo>
                    <a:pt x="1030" y="1318"/>
                  </a:lnTo>
                  <a:lnTo>
                    <a:pt x="1030" y="1318"/>
                  </a:lnTo>
                  <a:lnTo>
                    <a:pt x="1030" y="1324"/>
                  </a:lnTo>
                  <a:lnTo>
                    <a:pt x="1030" y="1324"/>
                  </a:lnTo>
                  <a:lnTo>
                    <a:pt x="1024" y="1330"/>
                  </a:lnTo>
                  <a:lnTo>
                    <a:pt x="1024" y="1330"/>
                  </a:lnTo>
                  <a:lnTo>
                    <a:pt x="1024" y="1336"/>
                  </a:lnTo>
                  <a:lnTo>
                    <a:pt x="1024" y="1342"/>
                  </a:lnTo>
                  <a:lnTo>
                    <a:pt x="1024" y="1348"/>
                  </a:lnTo>
                  <a:lnTo>
                    <a:pt x="1024" y="1361"/>
                  </a:lnTo>
                  <a:lnTo>
                    <a:pt x="1024" y="1367"/>
                  </a:lnTo>
                  <a:lnTo>
                    <a:pt x="1024" y="1373"/>
                  </a:lnTo>
                  <a:lnTo>
                    <a:pt x="1024" y="1391"/>
                  </a:lnTo>
                  <a:lnTo>
                    <a:pt x="1024" y="1416"/>
                  </a:lnTo>
                  <a:lnTo>
                    <a:pt x="1024" y="1434"/>
                  </a:lnTo>
                  <a:lnTo>
                    <a:pt x="1024" y="1453"/>
                  </a:lnTo>
                  <a:lnTo>
                    <a:pt x="1024" y="1471"/>
                  </a:lnTo>
                  <a:lnTo>
                    <a:pt x="1024" y="1496"/>
                  </a:lnTo>
                  <a:lnTo>
                    <a:pt x="1024" y="1502"/>
                  </a:lnTo>
                  <a:lnTo>
                    <a:pt x="1024" y="1508"/>
                  </a:lnTo>
                  <a:lnTo>
                    <a:pt x="1024" y="1520"/>
                  </a:lnTo>
                  <a:lnTo>
                    <a:pt x="1024" y="1526"/>
                  </a:lnTo>
                  <a:lnTo>
                    <a:pt x="1024" y="1532"/>
                  </a:lnTo>
                  <a:lnTo>
                    <a:pt x="1024" y="1532"/>
                  </a:lnTo>
                  <a:lnTo>
                    <a:pt x="1024" y="1538"/>
                  </a:lnTo>
                  <a:lnTo>
                    <a:pt x="1030" y="1545"/>
                  </a:lnTo>
                  <a:lnTo>
                    <a:pt x="1030" y="1545"/>
                  </a:lnTo>
                  <a:lnTo>
                    <a:pt x="1030" y="1545"/>
                  </a:lnTo>
                  <a:lnTo>
                    <a:pt x="1030" y="1545"/>
                  </a:lnTo>
                  <a:lnTo>
                    <a:pt x="1030" y="1545"/>
                  </a:lnTo>
                  <a:lnTo>
                    <a:pt x="1036" y="1551"/>
                  </a:lnTo>
                  <a:lnTo>
                    <a:pt x="1042" y="1551"/>
                  </a:lnTo>
                  <a:lnTo>
                    <a:pt x="1048" y="1551"/>
                  </a:lnTo>
                  <a:lnTo>
                    <a:pt x="1048" y="1551"/>
                  </a:lnTo>
                  <a:lnTo>
                    <a:pt x="1054" y="1551"/>
                  </a:lnTo>
                  <a:lnTo>
                    <a:pt x="1061" y="1551"/>
                  </a:lnTo>
                  <a:lnTo>
                    <a:pt x="1067" y="1551"/>
                  </a:lnTo>
                  <a:lnTo>
                    <a:pt x="1073" y="1551"/>
                  </a:lnTo>
                  <a:lnTo>
                    <a:pt x="1085" y="1551"/>
                  </a:lnTo>
                  <a:lnTo>
                    <a:pt x="1097" y="1551"/>
                  </a:lnTo>
                  <a:lnTo>
                    <a:pt x="1110" y="1551"/>
                  </a:lnTo>
                  <a:lnTo>
                    <a:pt x="1122" y="1551"/>
                  </a:lnTo>
                  <a:lnTo>
                    <a:pt x="1134" y="1551"/>
                  </a:lnTo>
                  <a:lnTo>
                    <a:pt x="1152" y="1551"/>
                  </a:lnTo>
                  <a:lnTo>
                    <a:pt x="1171" y="1551"/>
                  </a:lnTo>
                  <a:lnTo>
                    <a:pt x="1189" y="1551"/>
                  </a:lnTo>
                  <a:lnTo>
                    <a:pt x="1208" y="1551"/>
                  </a:lnTo>
                  <a:lnTo>
                    <a:pt x="1232" y="1551"/>
                  </a:lnTo>
                  <a:lnTo>
                    <a:pt x="1250" y="1551"/>
                  </a:lnTo>
                  <a:lnTo>
                    <a:pt x="1275" y="1551"/>
                  </a:lnTo>
                  <a:lnTo>
                    <a:pt x="1300" y="1551"/>
                  </a:lnTo>
                  <a:lnTo>
                    <a:pt x="1324" y="1551"/>
                  </a:lnTo>
                  <a:lnTo>
                    <a:pt x="1349" y="1551"/>
                  </a:lnTo>
                  <a:lnTo>
                    <a:pt x="1379" y="1551"/>
                  </a:lnTo>
                  <a:lnTo>
                    <a:pt x="1404" y="1551"/>
                  </a:lnTo>
                  <a:lnTo>
                    <a:pt x="1434" y="1551"/>
                  </a:lnTo>
                  <a:lnTo>
                    <a:pt x="1465" y="1551"/>
                  </a:lnTo>
                  <a:lnTo>
                    <a:pt x="1490" y="1551"/>
                  </a:lnTo>
                  <a:lnTo>
                    <a:pt x="1526" y="1551"/>
                  </a:lnTo>
                  <a:lnTo>
                    <a:pt x="1557" y="1551"/>
                  </a:lnTo>
                  <a:lnTo>
                    <a:pt x="1588" y="1551"/>
                  </a:lnTo>
                  <a:lnTo>
                    <a:pt x="1618" y="1551"/>
                  </a:lnTo>
                  <a:lnTo>
                    <a:pt x="1649" y="1551"/>
                  </a:lnTo>
                  <a:lnTo>
                    <a:pt x="1716" y="1551"/>
                  </a:lnTo>
                  <a:lnTo>
                    <a:pt x="1741" y="1551"/>
                  </a:lnTo>
                  <a:lnTo>
                    <a:pt x="1765" y="1551"/>
                  </a:lnTo>
                  <a:lnTo>
                    <a:pt x="1790" y="1551"/>
                  </a:lnTo>
                  <a:lnTo>
                    <a:pt x="1808" y="1551"/>
                  </a:lnTo>
                  <a:lnTo>
                    <a:pt x="1833" y="1551"/>
                  </a:lnTo>
                  <a:lnTo>
                    <a:pt x="1851" y="1551"/>
                  </a:lnTo>
                  <a:lnTo>
                    <a:pt x="1876" y="1551"/>
                  </a:lnTo>
                  <a:lnTo>
                    <a:pt x="1894" y="1551"/>
                  </a:lnTo>
                  <a:lnTo>
                    <a:pt x="1912" y="1551"/>
                  </a:lnTo>
                  <a:lnTo>
                    <a:pt x="1937" y="1551"/>
                  </a:lnTo>
                  <a:lnTo>
                    <a:pt x="1955" y="1551"/>
                  </a:lnTo>
                  <a:lnTo>
                    <a:pt x="1974" y="1551"/>
                  </a:lnTo>
                  <a:lnTo>
                    <a:pt x="1992" y="1551"/>
                  </a:lnTo>
                  <a:lnTo>
                    <a:pt x="2004" y="1551"/>
                  </a:lnTo>
                  <a:lnTo>
                    <a:pt x="2023" y="1551"/>
                  </a:lnTo>
                  <a:lnTo>
                    <a:pt x="2041" y="1551"/>
                  </a:lnTo>
                  <a:lnTo>
                    <a:pt x="2072" y="1551"/>
                  </a:lnTo>
                  <a:lnTo>
                    <a:pt x="2102" y="1551"/>
                  </a:lnTo>
                  <a:lnTo>
                    <a:pt x="2127" y="1551"/>
                  </a:lnTo>
                  <a:lnTo>
                    <a:pt x="2151" y="1551"/>
                  </a:lnTo>
                  <a:lnTo>
                    <a:pt x="2176" y="1551"/>
                  </a:lnTo>
                  <a:lnTo>
                    <a:pt x="2200" y="1551"/>
                  </a:lnTo>
                  <a:lnTo>
                    <a:pt x="2219" y="1551"/>
                  </a:lnTo>
                  <a:lnTo>
                    <a:pt x="2243" y="1551"/>
                  </a:lnTo>
                  <a:lnTo>
                    <a:pt x="2256" y="1551"/>
                  </a:lnTo>
                  <a:lnTo>
                    <a:pt x="2274" y="1551"/>
                  </a:lnTo>
                  <a:lnTo>
                    <a:pt x="2292" y="1551"/>
                  </a:lnTo>
                  <a:lnTo>
                    <a:pt x="2305" y="1551"/>
                  </a:lnTo>
                  <a:lnTo>
                    <a:pt x="2317" y="1551"/>
                  </a:lnTo>
                  <a:lnTo>
                    <a:pt x="2329" y="1551"/>
                  </a:lnTo>
                  <a:lnTo>
                    <a:pt x="2335" y="1551"/>
                  </a:lnTo>
                  <a:lnTo>
                    <a:pt x="2348" y="1551"/>
                  </a:lnTo>
                  <a:lnTo>
                    <a:pt x="2354" y="1551"/>
                  </a:lnTo>
                  <a:lnTo>
                    <a:pt x="2360" y="1551"/>
                  </a:lnTo>
                  <a:lnTo>
                    <a:pt x="2366" y="1551"/>
                  </a:lnTo>
                  <a:lnTo>
                    <a:pt x="2366" y="1551"/>
                  </a:lnTo>
                  <a:lnTo>
                    <a:pt x="2372" y="1551"/>
                  </a:lnTo>
                  <a:lnTo>
                    <a:pt x="2372" y="1551"/>
                  </a:lnTo>
                  <a:lnTo>
                    <a:pt x="2378" y="1551"/>
                  </a:lnTo>
                  <a:lnTo>
                    <a:pt x="2378" y="1545"/>
                  </a:lnTo>
                  <a:lnTo>
                    <a:pt x="2378" y="1545"/>
                  </a:lnTo>
                  <a:close/>
                  <a:moveTo>
                    <a:pt x="1888" y="1465"/>
                  </a:moveTo>
                  <a:lnTo>
                    <a:pt x="1882" y="1465"/>
                  </a:lnTo>
                  <a:lnTo>
                    <a:pt x="1876" y="1459"/>
                  </a:lnTo>
                  <a:lnTo>
                    <a:pt x="1876" y="1453"/>
                  </a:lnTo>
                  <a:lnTo>
                    <a:pt x="1869" y="1440"/>
                  </a:lnTo>
                  <a:lnTo>
                    <a:pt x="1869" y="1434"/>
                  </a:lnTo>
                  <a:lnTo>
                    <a:pt x="1869" y="1422"/>
                  </a:lnTo>
                  <a:lnTo>
                    <a:pt x="1869" y="1416"/>
                  </a:lnTo>
                  <a:lnTo>
                    <a:pt x="1876" y="1410"/>
                  </a:lnTo>
                  <a:lnTo>
                    <a:pt x="1876" y="1404"/>
                  </a:lnTo>
                  <a:lnTo>
                    <a:pt x="1882" y="1398"/>
                  </a:lnTo>
                  <a:lnTo>
                    <a:pt x="1888" y="1391"/>
                  </a:lnTo>
                  <a:lnTo>
                    <a:pt x="1894" y="1391"/>
                  </a:lnTo>
                  <a:lnTo>
                    <a:pt x="1900" y="1385"/>
                  </a:lnTo>
                  <a:lnTo>
                    <a:pt x="1900" y="1385"/>
                  </a:lnTo>
                  <a:lnTo>
                    <a:pt x="1912" y="1385"/>
                  </a:lnTo>
                  <a:lnTo>
                    <a:pt x="1912" y="1385"/>
                  </a:lnTo>
                  <a:lnTo>
                    <a:pt x="1919" y="1385"/>
                  </a:lnTo>
                  <a:lnTo>
                    <a:pt x="1925" y="1385"/>
                  </a:lnTo>
                  <a:lnTo>
                    <a:pt x="1931" y="1385"/>
                  </a:lnTo>
                  <a:lnTo>
                    <a:pt x="1937" y="1391"/>
                  </a:lnTo>
                  <a:lnTo>
                    <a:pt x="1943" y="1398"/>
                  </a:lnTo>
                  <a:lnTo>
                    <a:pt x="1949" y="1404"/>
                  </a:lnTo>
                  <a:lnTo>
                    <a:pt x="1955" y="1410"/>
                  </a:lnTo>
                  <a:lnTo>
                    <a:pt x="1955" y="1416"/>
                  </a:lnTo>
                  <a:lnTo>
                    <a:pt x="1961" y="1416"/>
                  </a:lnTo>
                  <a:lnTo>
                    <a:pt x="1961" y="1422"/>
                  </a:lnTo>
                  <a:lnTo>
                    <a:pt x="1961" y="1422"/>
                  </a:lnTo>
                  <a:lnTo>
                    <a:pt x="1961" y="1428"/>
                  </a:lnTo>
                  <a:lnTo>
                    <a:pt x="1961" y="1428"/>
                  </a:lnTo>
                  <a:lnTo>
                    <a:pt x="1961" y="1434"/>
                  </a:lnTo>
                  <a:lnTo>
                    <a:pt x="1961" y="1440"/>
                  </a:lnTo>
                  <a:lnTo>
                    <a:pt x="1961" y="1440"/>
                  </a:lnTo>
                  <a:lnTo>
                    <a:pt x="1955" y="1453"/>
                  </a:lnTo>
                  <a:lnTo>
                    <a:pt x="1949" y="1459"/>
                  </a:lnTo>
                  <a:lnTo>
                    <a:pt x="1943" y="1465"/>
                  </a:lnTo>
                  <a:lnTo>
                    <a:pt x="1943" y="1465"/>
                  </a:lnTo>
                  <a:lnTo>
                    <a:pt x="1937" y="1471"/>
                  </a:lnTo>
                  <a:lnTo>
                    <a:pt x="1931" y="1471"/>
                  </a:lnTo>
                  <a:lnTo>
                    <a:pt x="1925" y="1471"/>
                  </a:lnTo>
                  <a:lnTo>
                    <a:pt x="1919" y="1471"/>
                  </a:lnTo>
                  <a:lnTo>
                    <a:pt x="1906" y="1471"/>
                  </a:lnTo>
                  <a:lnTo>
                    <a:pt x="1900" y="1471"/>
                  </a:lnTo>
                  <a:lnTo>
                    <a:pt x="1894" y="1471"/>
                  </a:lnTo>
                  <a:lnTo>
                    <a:pt x="1888" y="1465"/>
                  </a:lnTo>
                  <a:lnTo>
                    <a:pt x="1888" y="1465"/>
                  </a:lnTo>
                  <a:close/>
                  <a:moveTo>
                    <a:pt x="2053" y="1471"/>
                  </a:moveTo>
                  <a:lnTo>
                    <a:pt x="2047" y="1465"/>
                  </a:lnTo>
                  <a:lnTo>
                    <a:pt x="2041" y="1465"/>
                  </a:lnTo>
                  <a:lnTo>
                    <a:pt x="2041" y="1459"/>
                  </a:lnTo>
                  <a:lnTo>
                    <a:pt x="2035" y="1453"/>
                  </a:lnTo>
                  <a:lnTo>
                    <a:pt x="2035" y="1447"/>
                  </a:lnTo>
                  <a:lnTo>
                    <a:pt x="2029" y="1440"/>
                  </a:lnTo>
                  <a:lnTo>
                    <a:pt x="2029" y="1434"/>
                  </a:lnTo>
                  <a:lnTo>
                    <a:pt x="2029" y="1428"/>
                  </a:lnTo>
                  <a:lnTo>
                    <a:pt x="2029" y="1422"/>
                  </a:lnTo>
                  <a:lnTo>
                    <a:pt x="2029" y="1416"/>
                  </a:lnTo>
                  <a:lnTo>
                    <a:pt x="2035" y="1410"/>
                  </a:lnTo>
                  <a:lnTo>
                    <a:pt x="2035" y="1404"/>
                  </a:lnTo>
                  <a:lnTo>
                    <a:pt x="2041" y="1398"/>
                  </a:lnTo>
                  <a:lnTo>
                    <a:pt x="2047" y="1391"/>
                  </a:lnTo>
                  <a:lnTo>
                    <a:pt x="2053" y="1391"/>
                  </a:lnTo>
                  <a:lnTo>
                    <a:pt x="2059" y="1385"/>
                  </a:lnTo>
                  <a:lnTo>
                    <a:pt x="2066" y="1385"/>
                  </a:lnTo>
                  <a:lnTo>
                    <a:pt x="2066" y="1385"/>
                  </a:lnTo>
                  <a:lnTo>
                    <a:pt x="2072" y="1385"/>
                  </a:lnTo>
                  <a:lnTo>
                    <a:pt x="2078" y="1385"/>
                  </a:lnTo>
                  <a:lnTo>
                    <a:pt x="2084" y="1385"/>
                  </a:lnTo>
                  <a:lnTo>
                    <a:pt x="2090" y="1385"/>
                  </a:lnTo>
                  <a:lnTo>
                    <a:pt x="2096" y="1391"/>
                  </a:lnTo>
                  <a:lnTo>
                    <a:pt x="2102" y="1398"/>
                  </a:lnTo>
                  <a:lnTo>
                    <a:pt x="2108" y="1404"/>
                  </a:lnTo>
                  <a:lnTo>
                    <a:pt x="2115" y="1410"/>
                  </a:lnTo>
                  <a:lnTo>
                    <a:pt x="2121" y="1416"/>
                  </a:lnTo>
                  <a:lnTo>
                    <a:pt x="2121" y="1422"/>
                  </a:lnTo>
                  <a:lnTo>
                    <a:pt x="2121" y="1428"/>
                  </a:lnTo>
                  <a:lnTo>
                    <a:pt x="2121" y="1434"/>
                  </a:lnTo>
                  <a:lnTo>
                    <a:pt x="2121" y="1447"/>
                  </a:lnTo>
                  <a:lnTo>
                    <a:pt x="2115" y="1453"/>
                  </a:lnTo>
                  <a:lnTo>
                    <a:pt x="2108" y="1459"/>
                  </a:lnTo>
                  <a:lnTo>
                    <a:pt x="2102" y="1465"/>
                  </a:lnTo>
                  <a:lnTo>
                    <a:pt x="2096" y="1465"/>
                  </a:lnTo>
                  <a:lnTo>
                    <a:pt x="2090" y="1471"/>
                  </a:lnTo>
                  <a:lnTo>
                    <a:pt x="2084" y="1471"/>
                  </a:lnTo>
                  <a:lnTo>
                    <a:pt x="2072" y="1471"/>
                  </a:lnTo>
                  <a:lnTo>
                    <a:pt x="2066" y="1471"/>
                  </a:lnTo>
                  <a:lnTo>
                    <a:pt x="2066" y="1471"/>
                  </a:lnTo>
                  <a:lnTo>
                    <a:pt x="2059" y="1471"/>
                  </a:lnTo>
                  <a:lnTo>
                    <a:pt x="2053" y="1471"/>
                  </a:lnTo>
                  <a:lnTo>
                    <a:pt x="2053" y="1471"/>
                  </a:lnTo>
                  <a:close/>
                  <a:moveTo>
                    <a:pt x="2213" y="1465"/>
                  </a:moveTo>
                  <a:lnTo>
                    <a:pt x="2207" y="1465"/>
                  </a:lnTo>
                  <a:lnTo>
                    <a:pt x="2200" y="1459"/>
                  </a:lnTo>
                  <a:lnTo>
                    <a:pt x="2194" y="1459"/>
                  </a:lnTo>
                  <a:lnTo>
                    <a:pt x="2194" y="1453"/>
                  </a:lnTo>
                  <a:lnTo>
                    <a:pt x="2188" y="1447"/>
                  </a:lnTo>
                  <a:lnTo>
                    <a:pt x="2188" y="1440"/>
                  </a:lnTo>
                  <a:lnTo>
                    <a:pt x="2188" y="1434"/>
                  </a:lnTo>
                  <a:lnTo>
                    <a:pt x="2188" y="1428"/>
                  </a:lnTo>
                  <a:lnTo>
                    <a:pt x="2188" y="1422"/>
                  </a:lnTo>
                  <a:lnTo>
                    <a:pt x="2188" y="1416"/>
                  </a:lnTo>
                  <a:lnTo>
                    <a:pt x="2194" y="1410"/>
                  </a:lnTo>
                  <a:lnTo>
                    <a:pt x="2194" y="1404"/>
                  </a:lnTo>
                  <a:lnTo>
                    <a:pt x="2200" y="1398"/>
                  </a:lnTo>
                  <a:lnTo>
                    <a:pt x="2200" y="1398"/>
                  </a:lnTo>
                  <a:lnTo>
                    <a:pt x="2207" y="1391"/>
                  </a:lnTo>
                  <a:lnTo>
                    <a:pt x="2213" y="1385"/>
                  </a:lnTo>
                  <a:lnTo>
                    <a:pt x="2219" y="1385"/>
                  </a:lnTo>
                  <a:lnTo>
                    <a:pt x="2231" y="1385"/>
                  </a:lnTo>
                  <a:lnTo>
                    <a:pt x="2237" y="1385"/>
                  </a:lnTo>
                  <a:lnTo>
                    <a:pt x="2243" y="1385"/>
                  </a:lnTo>
                  <a:lnTo>
                    <a:pt x="2256" y="1385"/>
                  </a:lnTo>
                  <a:lnTo>
                    <a:pt x="2262" y="1391"/>
                  </a:lnTo>
                  <a:lnTo>
                    <a:pt x="2268" y="1398"/>
                  </a:lnTo>
                  <a:lnTo>
                    <a:pt x="2274" y="1404"/>
                  </a:lnTo>
                  <a:lnTo>
                    <a:pt x="2274" y="1410"/>
                  </a:lnTo>
                  <a:lnTo>
                    <a:pt x="2280" y="1416"/>
                  </a:lnTo>
                  <a:lnTo>
                    <a:pt x="2280" y="1422"/>
                  </a:lnTo>
                  <a:lnTo>
                    <a:pt x="2280" y="1428"/>
                  </a:lnTo>
                  <a:lnTo>
                    <a:pt x="2280" y="1434"/>
                  </a:lnTo>
                  <a:lnTo>
                    <a:pt x="2280" y="1440"/>
                  </a:lnTo>
                  <a:lnTo>
                    <a:pt x="2280" y="1447"/>
                  </a:lnTo>
                  <a:lnTo>
                    <a:pt x="2274" y="1453"/>
                  </a:lnTo>
                  <a:lnTo>
                    <a:pt x="2274" y="1453"/>
                  </a:lnTo>
                  <a:lnTo>
                    <a:pt x="2268" y="1459"/>
                  </a:lnTo>
                  <a:lnTo>
                    <a:pt x="2262" y="1465"/>
                  </a:lnTo>
                  <a:lnTo>
                    <a:pt x="2256" y="1471"/>
                  </a:lnTo>
                  <a:lnTo>
                    <a:pt x="2249" y="1471"/>
                  </a:lnTo>
                  <a:lnTo>
                    <a:pt x="2237" y="1471"/>
                  </a:lnTo>
                  <a:lnTo>
                    <a:pt x="2231" y="1471"/>
                  </a:lnTo>
                  <a:lnTo>
                    <a:pt x="2219" y="1471"/>
                  </a:lnTo>
                  <a:lnTo>
                    <a:pt x="2213" y="1465"/>
                  </a:lnTo>
                  <a:lnTo>
                    <a:pt x="2213" y="1465"/>
                  </a:lnTo>
                  <a:close/>
                  <a:moveTo>
                    <a:pt x="2378" y="1159"/>
                  </a:moveTo>
                  <a:lnTo>
                    <a:pt x="2378" y="1159"/>
                  </a:lnTo>
                  <a:lnTo>
                    <a:pt x="2378" y="1159"/>
                  </a:lnTo>
                  <a:lnTo>
                    <a:pt x="2384" y="1159"/>
                  </a:lnTo>
                  <a:lnTo>
                    <a:pt x="2384" y="1152"/>
                  </a:lnTo>
                  <a:lnTo>
                    <a:pt x="2384" y="1152"/>
                  </a:lnTo>
                  <a:lnTo>
                    <a:pt x="2384" y="1146"/>
                  </a:lnTo>
                  <a:lnTo>
                    <a:pt x="2384" y="1140"/>
                  </a:lnTo>
                  <a:lnTo>
                    <a:pt x="2384" y="1134"/>
                  </a:lnTo>
                  <a:lnTo>
                    <a:pt x="2384" y="1128"/>
                  </a:lnTo>
                  <a:lnTo>
                    <a:pt x="2384" y="1122"/>
                  </a:lnTo>
                  <a:lnTo>
                    <a:pt x="2384" y="1110"/>
                  </a:lnTo>
                  <a:lnTo>
                    <a:pt x="2384" y="1103"/>
                  </a:lnTo>
                  <a:lnTo>
                    <a:pt x="2384" y="1097"/>
                  </a:lnTo>
                  <a:lnTo>
                    <a:pt x="2384" y="1091"/>
                  </a:lnTo>
                  <a:lnTo>
                    <a:pt x="2384" y="1085"/>
                  </a:lnTo>
                  <a:lnTo>
                    <a:pt x="2384" y="1073"/>
                  </a:lnTo>
                  <a:lnTo>
                    <a:pt x="2384" y="1067"/>
                  </a:lnTo>
                  <a:lnTo>
                    <a:pt x="2384" y="1054"/>
                  </a:lnTo>
                  <a:lnTo>
                    <a:pt x="2384" y="1048"/>
                  </a:lnTo>
                  <a:lnTo>
                    <a:pt x="2384" y="1036"/>
                  </a:lnTo>
                  <a:lnTo>
                    <a:pt x="2384" y="1030"/>
                  </a:lnTo>
                  <a:lnTo>
                    <a:pt x="2384" y="1018"/>
                  </a:lnTo>
                  <a:lnTo>
                    <a:pt x="2384" y="1011"/>
                  </a:lnTo>
                  <a:lnTo>
                    <a:pt x="2384" y="1005"/>
                  </a:lnTo>
                  <a:lnTo>
                    <a:pt x="2384" y="999"/>
                  </a:lnTo>
                  <a:lnTo>
                    <a:pt x="2384" y="993"/>
                  </a:lnTo>
                  <a:lnTo>
                    <a:pt x="2384" y="987"/>
                  </a:lnTo>
                  <a:lnTo>
                    <a:pt x="2384" y="975"/>
                  </a:lnTo>
                  <a:lnTo>
                    <a:pt x="2384" y="969"/>
                  </a:lnTo>
                  <a:lnTo>
                    <a:pt x="2384" y="956"/>
                  </a:lnTo>
                  <a:lnTo>
                    <a:pt x="2384" y="956"/>
                  </a:lnTo>
                  <a:lnTo>
                    <a:pt x="2384" y="950"/>
                  </a:lnTo>
                  <a:lnTo>
                    <a:pt x="2384" y="944"/>
                  </a:lnTo>
                  <a:lnTo>
                    <a:pt x="2384" y="944"/>
                  </a:lnTo>
                  <a:lnTo>
                    <a:pt x="2384" y="938"/>
                  </a:lnTo>
                  <a:lnTo>
                    <a:pt x="2378" y="938"/>
                  </a:lnTo>
                  <a:lnTo>
                    <a:pt x="2378" y="938"/>
                  </a:lnTo>
                  <a:lnTo>
                    <a:pt x="2378" y="932"/>
                  </a:lnTo>
                  <a:lnTo>
                    <a:pt x="2378" y="932"/>
                  </a:lnTo>
                  <a:lnTo>
                    <a:pt x="2372" y="932"/>
                  </a:lnTo>
                  <a:lnTo>
                    <a:pt x="2372" y="932"/>
                  </a:lnTo>
                  <a:lnTo>
                    <a:pt x="2372" y="932"/>
                  </a:lnTo>
                  <a:lnTo>
                    <a:pt x="2366" y="932"/>
                  </a:lnTo>
                  <a:lnTo>
                    <a:pt x="2360" y="932"/>
                  </a:lnTo>
                  <a:lnTo>
                    <a:pt x="2360" y="932"/>
                  </a:lnTo>
                  <a:lnTo>
                    <a:pt x="2354" y="932"/>
                  </a:lnTo>
                  <a:lnTo>
                    <a:pt x="2348" y="932"/>
                  </a:lnTo>
                  <a:lnTo>
                    <a:pt x="2335" y="932"/>
                  </a:lnTo>
                  <a:lnTo>
                    <a:pt x="2329" y="932"/>
                  </a:lnTo>
                  <a:lnTo>
                    <a:pt x="2317" y="932"/>
                  </a:lnTo>
                  <a:lnTo>
                    <a:pt x="2305" y="932"/>
                  </a:lnTo>
                  <a:lnTo>
                    <a:pt x="2292" y="932"/>
                  </a:lnTo>
                  <a:lnTo>
                    <a:pt x="2280" y="932"/>
                  </a:lnTo>
                  <a:lnTo>
                    <a:pt x="2262" y="932"/>
                  </a:lnTo>
                  <a:lnTo>
                    <a:pt x="2243" y="932"/>
                  </a:lnTo>
                  <a:lnTo>
                    <a:pt x="2225" y="932"/>
                  </a:lnTo>
                  <a:lnTo>
                    <a:pt x="2213" y="932"/>
                  </a:lnTo>
                  <a:lnTo>
                    <a:pt x="2200" y="932"/>
                  </a:lnTo>
                  <a:lnTo>
                    <a:pt x="2188" y="932"/>
                  </a:lnTo>
                  <a:lnTo>
                    <a:pt x="2176" y="932"/>
                  </a:lnTo>
                  <a:lnTo>
                    <a:pt x="2164" y="932"/>
                  </a:lnTo>
                  <a:lnTo>
                    <a:pt x="2151" y="932"/>
                  </a:lnTo>
                  <a:lnTo>
                    <a:pt x="2139" y="932"/>
                  </a:lnTo>
                  <a:lnTo>
                    <a:pt x="2121" y="932"/>
                  </a:lnTo>
                  <a:lnTo>
                    <a:pt x="2108" y="932"/>
                  </a:lnTo>
                  <a:lnTo>
                    <a:pt x="2090" y="932"/>
                  </a:lnTo>
                  <a:lnTo>
                    <a:pt x="2078" y="932"/>
                  </a:lnTo>
                  <a:lnTo>
                    <a:pt x="2059" y="932"/>
                  </a:lnTo>
                  <a:lnTo>
                    <a:pt x="2041" y="932"/>
                  </a:lnTo>
                  <a:lnTo>
                    <a:pt x="2023" y="932"/>
                  </a:lnTo>
                  <a:lnTo>
                    <a:pt x="2004" y="932"/>
                  </a:lnTo>
                  <a:lnTo>
                    <a:pt x="1986" y="932"/>
                  </a:lnTo>
                  <a:lnTo>
                    <a:pt x="1968" y="932"/>
                  </a:lnTo>
                  <a:lnTo>
                    <a:pt x="1943" y="932"/>
                  </a:lnTo>
                  <a:lnTo>
                    <a:pt x="1925" y="932"/>
                  </a:lnTo>
                  <a:lnTo>
                    <a:pt x="1900" y="932"/>
                  </a:lnTo>
                  <a:lnTo>
                    <a:pt x="1882" y="932"/>
                  </a:lnTo>
                  <a:lnTo>
                    <a:pt x="1857" y="932"/>
                  </a:lnTo>
                  <a:lnTo>
                    <a:pt x="1833" y="932"/>
                  </a:lnTo>
                  <a:lnTo>
                    <a:pt x="1808" y="932"/>
                  </a:lnTo>
                  <a:lnTo>
                    <a:pt x="1784" y="932"/>
                  </a:lnTo>
                  <a:lnTo>
                    <a:pt x="1759" y="932"/>
                  </a:lnTo>
                  <a:lnTo>
                    <a:pt x="1729" y="932"/>
                  </a:lnTo>
                  <a:lnTo>
                    <a:pt x="1704" y="932"/>
                  </a:lnTo>
                  <a:lnTo>
                    <a:pt x="1661" y="932"/>
                  </a:lnTo>
                  <a:lnTo>
                    <a:pt x="1624" y="932"/>
                  </a:lnTo>
                  <a:lnTo>
                    <a:pt x="1581" y="932"/>
                  </a:lnTo>
                  <a:lnTo>
                    <a:pt x="1545" y="932"/>
                  </a:lnTo>
                  <a:lnTo>
                    <a:pt x="1508" y="932"/>
                  </a:lnTo>
                  <a:lnTo>
                    <a:pt x="1471" y="932"/>
                  </a:lnTo>
                  <a:lnTo>
                    <a:pt x="1440" y="932"/>
                  </a:lnTo>
                  <a:lnTo>
                    <a:pt x="1410" y="932"/>
                  </a:lnTo>
                  <a:lnTo>
                    <a:pt x="1379" y="932"/>
                  </a:lnTo>
                  <a:lnTo>
                    <a:pt x="1349" y="932"/>
                  </a:lnTo>
                  <a:lnTo>
                    <a:pt x="1318" y="932"/>
                  </a:lnTo>
                  <a:lnTo>
                    <a:pt x="1293" y="932"/>
                  </a:lnTo>
                  <a:lnTo>
                    <a:pt x="1269" y="932"/>
                  </a:lnTo>
                  <a:lnTo>
                    <a:pt x="1244" y="932"/>
                  </a:lnTo>
                  <a:lnTo>
                    <a:pt x="1220" y="932"/>
                  </a:lnTo>
                  <a:lnTo>
                    <a:pt x="1201" y="932"/>
                  </a:lnTo>
                  <a:lnTo>
                    <a:pt x="1177" y="932"/>
                  </a:lnTo>
                  <a:lnTo>
                    <a:pt x="1159" y="932"/>
                  </a:lnTo>
                  <a:lnTo>
                    <a:pt x="1140" y="932"/>
                  </a:lnTo>
                  <a:lnTo>
                    <a:pt x="1128" y="932"/>
                  </a:lnTo>
                  <a:lnTo>
                    <a:pt x="1110" y="932"/>
                  </a:lnTo>
                  <a:lnTo>
                    <a:pt x="1097" y="932"/>
                  </a:lnTo>
                  <a:lnTo>
                    <a:pt x="1085" y="932"/>
                  </a:lnTo>
                  <a:lnTo>
                    <a:pt x="1073" y="932"/>
                  </a:lnTo>
                  <a:lnTo>
                    <a:pt x="1067" y="932"/>
                  </a:lnTo>
                  <a:lnTo>
                    <a:pt x="1054" y="932"/>
                  </a:lnTo>
                  <a:lnTo>
                    <a:pt x="1048" y="932"/>
                  </a:lnTo>
                  <a:lnTo>
                    <a:pt x="1042" y="932"/>
                  </a:lnTo>
                  <a:lnTo>
                    <a:pt x="1036" y="932"/>
                  </a:lnTo>
                  <a:lnTo>
                    <a:pt x="1036" y="932"/>
                  </a:lnTo>
                  <a:lnTo>
                    <a:pt x="1030" y="932"/>
                  </a:lnTo>
                  <a:lnTo>
                    <a:pt x="1030" y="932"/>
                  </a:lnTo>
                  <a:lnTo>
                    <a:pt x="1030" y="932"/>
                  </a:lnTo>
                  <a:lnTo>
                    <a:pt x="1030" y="938"/>
                  </a:lnTo>
                  <a:lnTo>
                    <a:pt x="1024" y="938"/>
                  </a:lnTo>
                  <a:lnTo>
                    <a:pt x="1024" y="938"/>
                  </a:lnTo>
                  <a:lnTo>
                    <a:pt x="1024" y="944"/>
                  </a:lnTo>
                  <a:lnTo>
                    <a:pt x="1024" y="944"/>
                  </a:lnTo>
                  <a:lnTo>
                    <a:pt x="1024" y="950"/>
                  </a:lnTo>
                  <a:lnTo>
                    <a:pt x="1024" y="956"/>
                  </a:lnTo>
                  <a:lnTo>
                    <a:pt x="1024" y="969"/>
                  </a:lnTo>
                  <a:lnTo>
                    <a:pt x="1024" y="975"/>
                  </a:lnTo>
                  <a:lnTo>
                    <a:pt x="1024" y="987"/>
                  </a:lnTo>
                  <a:lnTo>
                    <a:pt x="1024" y="993"/>
                  </a:lnTo>
                  <a:lnTo>
                    <a:pt x="1024" y="999"/>
                  </a:lnTo>
                  <a:lnTo>
                    <a:pt x="1024" y="1005"/>
                  </a:lnTo>
                  <a:lnTo>
                    <a:pt x="1024" y="1011"/>
                  </a:lnTo>
                  <a:lnTo>
                    <a:pt x="1024" y="1018"/>
                  </a:lnTo>
                  <a:lnTo>
                    <a:pt x="1024" y="1030"/>
                  </a:lnTo>
                  <a:lnTo>
                    <a:pt x="1024" y="1036"/>
                  </a:lnTo>
                  <a:lnTo>
                    <a:pt x="1024" y="1048"/>
                  </a:lnTo>
                  <a:lnTo>
                    <a:pt x="1024" y="1159"/>
                  </a:lnTo>
                  <a:lnTo>
                    <a:pt x="1030" y="1165"/>
                  </a:lnTo>
                  <a:lnTo>
                    <a:pt x="1036" y="1165"/>
                  </a:lnTo>
                  <a:lnTo>
                    <a:pt x="1036" y="1165"/>
                  </a:lnTo>
                  <a:lnTo>
                    <a:pt x="1042" y="1165"/>
                  </a:lnTo>
                  <a:lnTo>
                    <a:pt x="1048" y="1165"/>
                  </a:lnTo>
                  <a:lnTo>
                    <a:pt x="1054" y="1165"/>
                  </a:lnTo>
                  <a:lnTo>
                    <a:pt x="1061" y="1165"/>
                  </a:lnTo>
                  <a:lnTo>
                    <a:pt x="1073" y="1165"/>
                  </a:lnTo>
                  <a:lnTo>
                    <a:pt x="1085" y="1165"/>
                  </a:lnTo>
                  <a:lnTo>
                    <a:pt x="1097" y="1165"/>
                  </a:lnTo>
                  <a:lnTo>
                    <a:pt x="1110" y="1165"/>
                  </a:lnTo>
                  <a:lnTo>
                    <a:pt x="1128" y="1165"/>
                  </a:lnTo>
                  <a:lnTo>
                    <a:pt x="1146" y="1165"/>
                  </a:lnTo>
                  <a:lnTo>
                    <a:pt x="1165" y="1165"/>
                  </a:lnTo>
                  <a:lnTo>
                    <a:pt x="1183" y="1165"/>
                  </a:lnTo>
                  <a:lnTo>
                    <a:pt x="1201" y="1165"/>
                  </a:lnTo>
                  <a:lnTo>
                    <a:pt x="1226" y="1165"/>
                  </a:lnTo>
                  <a:lnTo>
                    <a:pt x="1250" y="1165"/>
                  </a:lnTo>
                  <a:lnTo>
                    <a:pt x="1269" y="1165"/>
                  </a:lnTo>
                  <a:lnTo>
                    <a:pt x="1300" y="1165"/>
                  </a:lnTo>
                  <a:lnTo>
                    <a:pt x="1324" y="1165"/>
                  </a:lnTo>
                  <a:lnTo>
                    <a:pt x="1349" y="1165"/>
                  </a:lnTo>
                  <a:lnTo>
                    <a:pt x="1379" y="1165"/>
                  </a:lnTo>
                  <a:lnTo>
                    <a:pt x="1410" y="1165"/>
                  </a:lnTo>
                  <a:lnTo>
                    <a:pt x="1434" y="1165"/>
                  </a:lnTo>
                  <a:lnTo>
                    <a:pt x="1465" y="1165"/>
                  </a:lnTo>
                  <a:lnTo>
                    <a:pt x="1502" y="1165"/>
                  </a:lnTo>
                  <a:lnTo>
                    <a:pt x="1532" y="1165"/>
                  </a:lnTo>
                  <a:lnTo>
                    <a:pt x="1563" y="1165"/>
                  </a:lnTo>
                  <a:lnTo>
                    <a:pt x="1600" y="1165"/>
                  </a:lnTo>
                  <a:lnTo>
                    <a:pt x="1630" y="1165"/>
                  </a:lnTo>
                  <a:lnTo>
                    <a:pt x="1667" y="1165"/>
                  </a:lnTo>
                  <a:lnTo>
                    <a:pt x="1704" y="1165"/>
                  </a:lnTo>
                  <a:lnTo>
                    <a:pt x="1735" y="1165"/>
                  </a:lnTo>
                  <a:lnTo>
                    <a:pt x="1759" y="1165"/>
                  </a:lnTo>
                  <a:lnTo>
                    <a:pt x="1784" y="1165"/>
                  </a:lnTo>
                  <a:lnTo>
                    <a:pt x="1808" y="1165"/>
                  </a:lnTo>
                  <a:lnTo>
                    <a:pt x="1833" y="1165"/>
                  </a:lnTo>
                  <a:lnTo>
                    <a:pt x="1857" y="1165"/>
                  </a:lnTo>
                  <a:lnTo>
                    <a:pt x="1882" y="1165"/>
                  </a:lnTo>
                  <a:lnTo>
                    <a:pt x="1906" y="1165"/>
                  </a:lnTo>
                  <a:lnTo>
                    <a:pt x="1925" y="1165"/>
                  </a:lnTo>
                  <a:lnTo>
                    <a:pt x="1949" y="1165"/>
                  </a:lnTo>
                  <a:lnTo>
                    <a:pt x="1968" y="1165"/>
                  </a:lnTo>
                  <a:lnTo>
                    <a:pt x="1986" y="1165"/>
                  </a:lnTo>
                  <a:lnTo>
                    <a:pt x="2004" y="1165"/>
                  </a:lnTo>
                  <a:lnTo>
                    <a:pt x="2023" y="1165"/>
                  </a:lnTo>
                  <a:lnTo>
                    <a:pt x="2041" y="1165"/>
                  </a:lnTo>
                  <a:lnTo>
                    <a:pt x="2059" y="1165"/>
                  </a:lnTo>
                  <a:lnTo>
                    <a:pt x="2078" y="1165"/>
                  </a:lnTo>
                  <a:lnTo>
                    <a:pt x="2090" y="1165"/>
                  </a:lnTo>
                  <a:lnTo>
                    <a:pt x="2108" y="1165"/>
                  </a:lnTo>
                  <a:lnTo>
                    <a:pt x="2121" y="1165"/>
                  </a:lnTo>
                  <a:lnTo>
                    <a:pt x="2139" y="1165"/>
                  </a:lnTo>
                  <a:lnTo>
                    <a:pt x="2151" y="1165"/>
                  </a:lnTo>
                  <a:lnTo>
                    <a:pt x="2164" y="1165"/>
                  </a:lnTo>
                  <a:lnTo>
                    <a:pt x="2176" y="1165"/>
                  </a:lnTo>
                  <a:lnTo>
                    <a:pt x="2188" y="1165"/>
                  </a:lnTo>
                  <a:lnTo>
                    <a:pt x="2200" y="1165"/>
                  </a:lnTo>
                  <a:lnTo>
                    <a:pt x="2213" y="1165"/>
                  </a:lnTo>
                  <a:lnTo>
                    <a:pt x="2225" y="1165"/>
                  </a:lnTo>
                  <a:lnTo>
                    <a:pt x="2243" y="1165"/>
                  </a:lnTo>
                  <a:lnTo>
                    <a:pt x="2262" y="1165"/>
                  </a:lnTo>
                  <a:lnTo>
                    <a:pt x="2280" y="1165"/>
                  </a:lnTo>
                  <a:lnTo>
                    <a:pt x="2292" y="1165"/>
                  </a:lnTo>
                  <a:lnTo>
                    <a:pt x="2305" y="1165"/>
                  </a:lnTo>
                  <a:lnTo>
                    <a:pt x="2317" y="1165"/>
                  </a:lnTo>
                  <a:lnTo>
                    <a:pt x="2329" y="1165"/>
                  </a:lnTo>
                  <a:lnTo>
                    <a:pt x="2335" y="1165"/>
                  </a:lnTo>
                  <a:lnTo>
                    <a:pt x="2348" y="1165"/>
                  </a:lnTo>
                  <a:lnTo>
                    <a:pt x="2354" y="1165"/>
                  </a:lnTo>
                  <a:lnTo>
                    <a:pt x="2360" y="1165"/>
                  </a:lnTo>
                  <a:lnTo>
                    <a:pt x="2366" y="1165"/>
                  </a:lnTo>
                  <a:lnTo>
                    <a:pt x="2366" y="1165"/>
                  </a:lnTo>
                  <a:lnTo>
                    <a:pt x="2372" y="1165"/>
                  </a:lnTo>
                  <a:lnTo>
                    <a:pt x="2372" y="1165"/>
                  </a:lnTo>
                  <a:lnTo>
                    <a:pt x="2372" y="1165"/>
                  </a:lnTo>
                  <a:lnTo>
                    <a:pt x="2378" y="1159"/>
                  </a:lnTo>
                  <a:lnTo>
                    <a:pt x="2378" y="1159"/>
                  </a:lnTo>
                  <a:lnTo>
                    <a:pt x="2378" y="1159"/>
                  </a:lnTo>
                  <a:close/>
                  <a:moveTo>
                    <a:pt x="1888" y="1079"/>
                  </a:moveTo>
                  <a:lnTo>
                    <a:pt x="1888" y="1079"/>
                  </a:lnTo>
                  <a:lnTo>
                    <a:pt x="1882" y="1073"/>
                  </a:lnTo>
                  <a:lnTo>
                    <a:pt x="1876" y="1067"/>
                  </a:lnTo>
                  <a:lnTo>
                    <a:pt x="1876" y="1067"/>
                  </a:lnTo>
                  <a:lnTo>
                    <a:pt x="1869" y="1060"/>
                  </a:lnTo>
                  <a:lnTo>
                    <a:pt x="1869" y="1054"/>
                  </a:lnTo>
                  <a:lnTo>
                    <a:pt x="1869" y="1048"/>
                  </a:lnTo>
                  <a:lnTo>
                    <a:pt x="1869" y="1042"/>
                  </a:lnTo>
                  <a:lnTo>
                    <a:pt x="1869" y="1036"/>
                  </a:lnTo>
                  <a:lnTo>
                    <a:pt x="1869" y="1030"/>
                  </a:lnTo>
                  <a:lnTo>
                    <a:pt x="1876" y="1024"/>
                  </a:lnTo>
                  <a:lnTo>
                    <a:pt x="1876" y="1018"/>
                  </a:lnTo>
                  <a:lnTo>
                    <a:pt x="1882" y="1018"/>
                  </a:lnTo>
                  <a:lnTo>
                    <a:pt x="1882" y="1011"/>
                  </a:lnTo>
                  <a:lnTo>
                    <a:pt x="1888" y="1005"/>
                  </a:lnTo>
                  <a:lnTo>
                    <a:pt x="1894" y="1005"/>
                  </a:lnTo>
                  <a:lnTo>
                    <a:pt x="1900" y="999"/>
                  </a:lnTo>
                  <a:lnTo>
                    <a:pt x="1900" y="999"/>
                  </a:lnTo>
                  <a:lnTo>
                    <a:pt x="1906" y="999"/>
                  </a:lnTo>
                  <a:lnTo>
                    <a:pt x="1912" y="999"/>
                  </a:lnTo>
                  <a:lnTo>
                    <a:pt x="1919" y="999"/>
                  </a:lnTo>
                  <a:lnTo>
                    <a:pt x="1925" y="999"/>
                  </a:lnTo>
                  <a:lnTo>
                    <a:pt x="1931" y="999"/>
                  </a:lnTo>
                  <a:lnTo>
                    <a:pt x="1937" y="1005"/>
                  </a:lnTo>
                  <a:lnTo>
                    <a:pt x="1943" y="1005"/>
                  </a:lnTo>
                  <a:lnTo>
                    <a:pt x="1943" y="1011"/>
                  </a:lnTo>
                  <a:lnTo>
                    <a:pt x="1949" y="1018"/>
                  </a:lnTo>
                  <a:lnTo>
                    <a:pt x="1955" y="1024"/>
                  </a:lnTo>
                  <a:lnTo>
                    <a:pt x="1955" y="1030"/>
                  </a:lnTo>
                  <a:lnTo>
                    <a:pt x="1961" y="1036"/>
                  </a:lnTo>
                  <a:lnTo>
                    <a:pt x="1961" y="1048"/>
                  </a:lnTo>
                  <a:lnTo>
                    <a:pt x="1961" y="1054"/>
                  </a:lnTo>
                  <a:lnTo>
                    <a:pt x="1955" y="1067"/>
                  </a:lnTo>
                  <a:lnTo>
                    <a:pt x="1955" y="1067"/>
                  </a:lnTo>
                  <a:lnTo>
                    <a:pt x="1949" y="1073"/>
                  </a:lnTo>
                  <a:lnTo>
                    <a:pt x="1943" y="1079"/>
                  </a:lnTo>
                  <a:lnTo>
                    <a:pt x="1937" y="1079"/>
                  </a:lnTo>
                  <a:lnTo>
                    <a:pt x="1931" y="1085"/>
                  </a:lnTo>
                  <a:lnTo>
                    <a:pt x="1925" y="1085"/>
                  </a:lnTo>
                  <a:lnTo>
                    <a:pt x="1919" y="1091"/>
                  </a:lnTo>
                  <a:lnTo>
                    <a:pt x="1912" y="1091"/>
                  </a:lnTo>
                  <a:lnTo>
                    <a:pt x="1912" y="1091"/>
                  </a:lnTo>
                  <a:lnTo>
                    <a:pt x="1900" y="1085"/>
                  </a:lnTo>
                  <a:lnTo>
                    <a:pt x="1894" y="1085"/>
                  </a:lnTo>
                  <a:lnTo>
                    <a:pt x="1888" y="1079"/>
                  </a:lnTo>
                  <a:lnTo>
                    <a:pt x="1888" y="1079"/>
                  </a:lnTo>
                  <a:close/>
                  <a:moveTo>
                    <a:pt x="2053" y="1085"/>
                  </a:moveTo>
                  <a:lnTo>
                    <a:pt x="2047" y="1079"/>
                  </a:lnTo>
                  <a:lnTo>
                    <a:pt x="2041" y="1079"/>
                  </a:lnTo>
                  <a:lnTo>
                    <a:pt x="2041" y="1073"/>
                  </a:lnTo>
                  <a:lnTo>
                    <a:pt x="2035" y="1067"/>
                  </a:lnTo>
                  <a:lnTo>
                    <a:pt x="2035" y="1060"/>
                  </a:lnTo>
                  <a:lnTo>
                    <a:pt x="2029" y="1060"/>
                  </a:lnTo>
                  <a:lnTo>
                    <a:pt x="2029" y="1048"/>
                  </a:lnTo>
                  <a:lnTo>
                    <a:pt x="2029" y="1042"/>
                  </a:lnTo>
                  <a:lnTo>
                    <a:pt x="2029" y="1036"/>
                  </a:lnTo>
                  <a:lnTo>
                    <a:pt x="2035" y="1024"/>
                  </a:lnTo>
                  <a:lnTo>
                    <a:pt x="2035" y="1018"/>
                  </a:lnTo>
                  <a:lnTo>
                    <a:pt x="2041" y="1011"/>
                  </a:lnTo>
                  <a:lnTo>
                    <a:pt x="2047" y="1005"/>
                  </a:lnTo>
                  <a:lnTo>
                    <a:pt x="2059" y="999"/>
                  </a:lnTo>
                  <a:lnTo>
                    <a:pt x="2066" y="999"/>
                  </a:lnTo>
                  <a:lnTo>
                    <a:pt x="2078" y="999"/>
                  </a:lnTo>
                  <a:lnTo>
                    <a:pt x="2084" y="999"/>
                  </a:lnTo>
                  <a:lnTo>
                    <a:pt x="2084" y="999"/>
                  </a:lnTo>
                  <a:lnTo>
                    <a:pt x="2090" y="999"/>
                  </a:lnTo>
                  <a:lnTo>
                    <a:pt x="2096" y="1005"/>
                  </a:lnTo>
                  <a:lnTo>
                    <a:pt x="2096" y="1005"/>
                  </a:lnTo>
                  <a:lnTo>
                    <a:pt x="2102" y="1005"/>
                  </a:lnTo>
                  <a:lnTo>
                    <a:pt x="2102" y="1011"/>
                  </a:lnTo>
                  <a:lnTo>
                    <a:pt x="2108" y="1018"/>
                  </a:lnTo>
                  <a:lnTo>
                    <a:pt x="2115" y="1024"/>
                  </a:lnTo>
                  <a:lnTo>
                    <a:pt x="2115" y="1030"/>
                  </a:lnTo>
                  <a:lnTo>
                    <a:pt x="2121" y="1036"/>
                  </a:lnTo>
                  <a:lnTo>
                    <a:pt x="2121" y="1036"/>
                  </a:lnTo>
                  <a:lnTo>
                    <a:pt x="2121" y="1042"/>
                  </a:lnTo>
                  <a:lnTo>
                    <a:pt x="2121" y="1054"/>
                  </a:lnTo>
                  <a:lnTo>
                    <a:pt x="2115" y="1060"/>
                  </a:lnTo>
                  <a:lnTo>
                    <a:pt x="2115" y="1067"/>
                  </a:lnTo>
                  <a:lnTo>
                    <a:pt x="2108" y="1073"/>
                  </a:lnTo>
                  <a:lnTo>
                    <a:pt x="2102" y="1079"/>
                  </a:lnTo>
                  <a:lnTo>
                    <a:pt x="2090" y="1085"/>
                  </a:lnTo>
                  <a:lnTo>
                    <a:pt x="2084" y="1091"/>
                  </a:lnTo>
                  <a:lnTo>
                    <a:pt x="2078" y="1091"/>
                  </a:lnTo>
                  <a:lnTo>
                    <a:pt x="2072" y="1091"/>
                  </a:lnTo>
                  <a:lnTo>
                    <a:pt x="2066" y="1091"/>
                  </a:lnTo>
                  <a:lnTo>
                    <a:pt x="2066" y="1085"/>
                  </a:lnTo>
                  <a:lnTo>
                    <a:pt x="2059" y="1085"/>
                  </a:lnTo>
                  <a:lnTo>
                    <a:pt x="2053" y="1085"/>
                  </a:lnTo>
                  <a:lnTo>
                    <a:pt x="2053" y="1085"/>
                  </a:lnTo>
                  <a:close/>
                  <a:moveTo>
                    <a:pt x="2213" y="1085"/>
                  </a:moveTo>
                  <a:lnTo>
                    <a:pt x="2207" y="1079"/>
                  </a:lnTo>
                  <a:lnTo>
                    <a:pt x="2200" y="1079"/>
                  </a:lnTo>
                  <a:lnTo>
                    <a:pt x="2200" y="1073"/>
                  </a:lnTo>
                  <a:lnTo>
                    <a:pt x="2194" y="1067"/>
                  </a:lnTo>
                  <a:lnTo>
                    <a:pt x="2194" y="1060"/>
                  </a:lnTo>
                  <a:lnTo>
                    <a:pt x="2188" y="1060"/>
                  </a:lnTo>
                  <a:lnTo>
                    <a:pt x="2188" y="1054"/>
                  </a:lnTo>
                  <a:lnTo>
                    <a:pt x="2188" y="1048"/>
                  </a:lnTo>
                  <a:lnTo>
                    <a:pt x="2188" y="1042"/>
                  </a:lnTo>
                  <a:lnTo>
                    <a:pt x="2188" y="1036"/>
                  </a:lnTo>
                  <a:lnTo>
                    <a:pt x="2188" y="1036"/>
                  </a:lnTo>
                  <a:lnTo>
                    <a:pt x="2188" y="1030"/>
                  </a:lnTo>
                  <a:lnTo>
                    <a:pt x="2194" y="1024"/>
                  </a:lnTo>
                  <a:lnTo>
                    <a:pt x="2194" y="1018"/>
                  </a:lnTo>
                  <a:lnTo>
                    <a:pt x="2200" y="1011"/>
                  </a:lnTo>
                  <a:lnTo>
                    <a:pt x="2207" y="1011"/>
                  </a:lnTo>
                  <a:lnTo>
                    <a:pt x="2207" y="1005"/>
                  </a:lnTo>
                  <a:lnTo>
                    <a:pt x="2213" y="1005"/>
                  </a:lnTo>
                  <a:lnTo>
                    <a:pt x="2219" y="999"/>
                  </a:lnTo>
                  <a:lnTo>
                    <a:pt x="2231" y="999"/>
                  </a:lnTo>
                  <a:lnTo>
                    <a:pt x="2237" y="999"/>
                  </a:lnTo>
                  <a:lnTo>
                    <a:pt x="2243" y="999"/>
                  </a:lnTo>
                  <a:lnTo>
                    <a:pt x="2249" y="999"/>
                  </a:lnTo>
                  <a:lnTo>
                    <a:pt x="2256" y="999"/>
                  </a:lnTo>
                  <a:lnTo>
                    <a:pt x="2256" y="1005"/>
                  </a:lnTo>
                  <a:lnTo>
                    <a:pt x="2262" y="1011"/>
                  </a:lnTo>
                  <a:lnTo>
                    <a:pt x="2268" y="1011"/>
                  </a:lnTo>
                  <a:lnTo>
                    <a:pt x="2274" y="1018"/>
                  </a:lnTo>
                  <a:lnTo>
                    <a:pt x="2274" y="1024"/>
                  </a:lnTo>
                  <a:lnTo>
                    <a:pt x="2280" y="1030"/>
                  </a:lnTo>
                  <a:lnTo>
                    <a:pt x="2280" y="1036"/>
                  </a:lnTo>
                  <a:lnTo>
                    <a:pt x="2280" y="1042"/>
                  </a:lnTo>
                  <a:lnTo>
                    <a:pt x="2280" y="1048"/>
                  </a:lnTo>
                  <a:lnTo>
                    <a:pt x="2280" y="1054"/>
                  </a:lnTo>
                  <a:lnTo>
                    <a:pt x="2274" y="1060"/>
                  </a:lnTo>
                  <a:lnTo>
                    <a:pt x="2274" y="1067"/>
                  </a:lnTo>
                  <a:lnTo>
                    <a:pt x="2268" y="1073"/>
                  </a:lnTo>
                  <a:lnTo>
                    <a:pt x="2268" y="1079"/>
                  </a:lnTo>
                  <a:lnTo>
                    <a:pt x="2262" y="1079"/>
                  </a:lnTo>
                  <a:lnTo>
                    <a:pt x="2256" y="1085"/>
                  </a:lnTo>
                  <a:lnTo>
                    <a:pt x="2249" y="1085"/>
                  </a:lnTo>
                  <a:lnTo>
                    <a:pt x="2243" y="1091"/>
                  </a:lnTo>
                  <a:lnTo>
                    <a:pt x="2237" y="1091"/>
                  </a:lnTo>
                  <a:lnTo>
                    <a:pt x="2237" y="1091"/>
                  </a:lnTo>
                  <a:lnTo>
                    <a:pt x="2231" y="1091"/>
                  </a:lnTo>
                  <a:lnTo>
                    <a:pt x="2225" y="1085"/>
                  </a:lnTo>
                  <a:lnTo>
                    <a:pt x="2219" y="1085"/>
                  </a:lnTo>
                  <a:lnTo>
                    <a:pt x="2213" y="1085"/>
                  </a:lnTo>
                  <a:lnTo>
                    <a:pt x="2213" y="1085"/>
                  </a:lnTo>
                  <a:close/>
                  <a:moveTo>
                    <a:pt x="2372" y="779"/>
                  </a:moveTo>
                  <a:lnTo>
                    <a:pt x="2384" y="772"/>
                  </a:lnTo>
                  <a:lnTo>
                    <a:pt x="2384" y="662"/>
                  </a:lnTo>
                  <a:lnTo>
                    <a:pt x="2384" y="650"/>
                  </a:lnTo>
                  <a:lnTo>
                    <a:pt x="2384" y="644"/>
                  </a:lnTo>
                  <a:lnTo>
                    <a:pt x="2384" y="638"/>
                  </a:lnTo>
                  <a:lnTo>
                    <a:pt x="2384" y="625"/>
                  </a:lnTo>
                  <a:lnTo>
                    <a:pt x="2384" y="619"/>
                  </a:lnTo>
                  <a:lnTo>
                    <a:pt x="2384" y="613"/>
                  </a:lnTo>
                  <a:lnTo>
                    <a:pt x="2384" y="601"/>
                  </a:lnTo>
                  <a:lnTo>
                    <a:pt x="2384" y="589"/>
                  </a:lnTo>
                  <a:lnTo>
                    <a:pt x="2384" y="583"/>
                  </a:lnTo>
                  <a:lnTo>
                    <a:pt x="2384" y="576"/>
                  </a:lnTo>
                  <a:lnTo>
                    <a:pt x="2384" y="570"/>
                  </a:lnTo>
                  <a:lnTo>
                    <a:pt x="2384" y="564"/>
                  </a:lnTo>
                  <a:lnTo>
                    <a:pt x="2384" y="558"/>
                  </a:lnTo>
                  <a:lnTo>
                    <a:pt x="2384" y="558"/>
                  </a:lnTo>
                  <a:lnTo>
                    <a:pt x="2384" y="552"/>
                  </a:lnTo>
                  <a:lnTo>
                    <a:pt x="2378" y="552"/>
                  </a:lnTo>
                  <a:lnTo>
                    <a:pt x="2378" y="552"/>
                  </a:lnTo>
                  <a:lnTo>
                    <a:pt x="2378" y="552"/>
                  </a:lnTo>
                  <a:lnTo>
                    <a:pt x="2378" y="552"/>
                  </a:lnTo>
                  <a:lnTo>
                    <a:pt x="2378" y="552"/>
                  </a:lnTo>
                  <a:lnTo>
                    <a:pt x="2372" y="546"/>
                  </a:lnTo>
                  <a:lnTo>
                    <a:pt x="2366" y="546"/>
                  </a:lnTo>
                  <a:lnTo>
                    <a:pt x="2360" y="546"/>
                  </a:lnTo>
                  <a:lnTo>
                    <a:pt x="2354" y="546"/>
                  </a:lnTo>
                  <a:lnTo>
                    <a:pt x="2341" y="546"/>
                  </a:lnTo>
                  <a:lnTo>
                    <a:pt x="2329" y="546"/>
                  </a:lnTo>
                  <a:lnTo>
                    <a:pt x="2317" y="546"/>
                  </a:lnTo>
                  <a:lnTo>
                    <a:pt x="2305" y="546"/>
                  </a:lnTo>
                  <a:lnTo>
                    <a:pt x="2286" y="546"/>
                  </a:lnTo>
                  <a:lnTo>
                    <a:pt x="2268" y="546"/>
                  </a:lnTo>
                  <a:lnTo>
                    <a:pt x="2249" y="546"/>
                  </a:lnTo>
                  <a:lnTo>
                    <a:pt x="2231" y="546"/>
                  </a:lnTo>
                  <a:lnTo>
                    <a:pt x="2207" y="546"/>
                  </a:lnTo>
                  <a:lnTo>
                    <a:pt x="2188" y="546"/>
                  </a:lnTo>
                  <a:lnTo>
                    <a:pt x="2164" y="546"/>
                  </a:lnTo>
                  <a:lnTo>
                    <a:pt x="2139" y="546"/>
                  </a:lnTo>
                  <a:lnTo>
                    <a:pt x="2115" y="546"/>
                  </a:lnTo>
                  <a:lnTo>
                    <a:pt x="2090" y="546"/>
                  </a:lnTo>
                  <a:lnTo>
                    <a:pt x="2066" y="546"/>
                  </a:lnTo>
                  <a:lnTo>
                    <a:pt x="2035" y="546"/>
                  </a:lnTo>
                  <a:lnTo>
                    <a:pt x="2010" y="546"/>
                  </a:lnTo>
                  <a:lnTo>
                    <a:pt x="1980" y="546"/>
                  </a:lnTo>
                  <a:lnTo>
                    <a:pt x="1949" y="546"/>
                  </a:lnTo>
                  <a:lnTo>
                    <a:pt x="1919" y="546"/>
                  </a:lnTo>
                  <a:lnTo>
                    <a:pt x="1888" y="546"/>
                  </a:lnTo>
                  <a:lnTo>
                    <a:pt x="1827" y="546"/>
                  </a:lnTo>
                  <a:lnTo>
                    <a:pt x="1765" y="546"/>
                  </a:lnTo>
                  <a:lnTo>
                    <a:pt x="1704" y="546"/>
                  </a:lnTo>
                  <a:lnTo>
                    <a:pt x="1643" y="546"/>
                  </a:lnTo>
                  <a:lnTo>
                    <a:pt x="1581" y="546"/>
                  </a:lnTo>
                  <a:lnTo>
                    <a:pt x="1520" y="546"/>
                  </a:lnTo>
                  <a:lnTo>
                    <a:pt x="1490" y="546"/>
                  </a:lnTo>
                  <a:lnTo>
                    <a:pt x="1459" y="546"/>
                  </a:lnTo>
                  <a:lnTo>
                    <a:pt x="1428" y="546"/>
                  </a:lnTo>
                  <a:lnTo>
                    <a:pt x="1398" y="546"/>
                  </a:lnTo>
                  <a:lnTo>
                    <a:pt x="1373" y="546"/>
                  </a:lnTo>
                  <a:lnTo>
                    <a:pt x="1342" y="546"/>
                  </a:lnTo>
                  <a:lnTo>
                    <a:pt x="1318" y="546"/>
                  </a:lnTo>
                  <a:lnTo>
                    <a:pt x="1293" y="546"/>
                  </a:lnTo>
                  <a:lnTo>
                    <a:pt x="1269" y="546"/>
                  </a:lnTo>
                  <a:lnTo>
                    <a:pt x="1244" y="546"/>
                  </a:lnTo>
                  <a:lnTo>
                    <a:pt x="1220" y="546"/>
                  </a:lnTo>
                  <a:lnTo>
                    <a:pt x="1201" y="546"/>
                  </a:lnTo>
                  <a:lnTo>
                    <a:pt x="1177" y="546"/>
                  </a:lnTo>
                  <a:lnTo>
                    <a:pt x="1159" y="546"/>
                  </a:lnTo>
                  <a:lnTo>
                    <a:pt x="1140" y="546"/>
                  </a:lnTo>
                  <a:lnTo>
                    <a:pt x="1122" y="546"/>
                  </a:lnTo>
                  <a:lnTo>
                    <a:pt x="1103" y="546"/>
                  </a:lnTo>
                  <a:lnTo>
                    <a:pt x="1091" y="546"/>
                  </a:lnTo>
                  <a:lnTo>
                    <a:pt x="1079" y="546"/>
                  </a:lnTo>
                  <a:lnTo>
                    <a:pt x="1067" y="546"/>
                  </a:lnTo>
                  <a:lnTo>
                    <a:pt x="1054" y="546"/>
                  </a:lnTo>
                  <a:lnTo>
                    <a:pt x="1048" y="546"/>
                  </a:lnTo>
                  <a:lnTo>
                    <a:pt x="1042" y="546"/>
                  </a:lnTo>
                  <a:lnTo>
                    <a:pt x="1036" y="546"/>
                  </a:lnTo>
                  <a:lnTo>
                    <a:pt x="1030" y="552"/>
                  </a:lnTo>
                  <a:lnTo>
                    <a:pt x="1030" y="552"/>
                  </a:lnTo>
                  <a:lnTo>
                    <a:pt x="1030" y="552"/>
                  </a:lnTo>
                  <a:lnTo>
                    <a:pt x="1030" y="552"/>
                  </a:lnTo>
                  <a:lnTo>
                    <a:pt x="1030" y="552"/>
                  </a:lnTo>
                  <a:lnTo>
                    <a:pt x="1024" y="552"/>
                  </a:lnTo>
                  <a:lnTo>
                    <a:pt x="1024" y="558"/>
                  </a:lnTo>
                  <a:lnTo>
                    <a:pt x="1024" y="558"/>
                  </a:lnTo>
                  <a:lnTo>
                    <a:pt x="1024" y="564"/>
                  </a:lnTo>
                  <a:lnTo>
                    <a:pt x="1024" y="570"/>
                  </a:lnTo>
                  <a:lnTo>
                    <a:pt x="1024" y="576"/>
                  </a:lnTo>
                  <a:lnTo>
                    <a:pt x="1024" y="583"/>
                  </a:lnTo>
                  <a:lnTo>
                    <a:pt x="1024" y="589"/>
                  </a:lnTo>
                  <a:lnTo>
                    <a:pt x="1024" y="601"/>
                  </a:lnTo>
                  <a:lnTo>
                    <a:pt x="1024" y="607"/>
                  </a:lnTo>
                  <a:lnTo>
                    <a:pt x="1024" y="613"/>
                  </a:lnTo>
                  <a:lnTo>
                    <a:pt x="1024" y="619"/>
                  </a:lnTo>
                  <a:lnTo>
                    <a:pt x="1024" y="625"/>
                  </a:lnTo>
                  <a:lnTo>
                    <a:pt x="1024" y="638"/>
                  </a:lnTo>
                  <a:lnTo>
                    <a:pt x="1024" y="644"/>
                  </a:lnTo>
                  <a:lnTo>
                    <a:pt x="1024" y="656"/>
                  </a:lnTo>
                  <a:lnTo>
                    <a:pt x="1024" y="662"/>
                  </a:lnTo>
                  <a:lnTo>
                    <a:pt x="1024" y="772"/>
                  </a:lnTo>
                  <a:lnTo>
                    <a:pt x="1036" y="779"/>
                  </a:lnTo>
                  <a:lnTo>
                    <a:pt x="1036" y="779"/>
                  </a:lnTo>
                  <a:lnTo>
                    <a:pt x="1036" y="779"/>
                  </a:lnTo>
                  <a:lnTo>
                    <a:pt x="1042" y="779"/>
                  </a:lnTo>
                  <a:lnTo>
                    <a:pt x="1042" y="779"/>
                  </a:lnTo>
                  <a:lnTo>
                    <a:pt x="1048" y="779"/>
                  </a:lnTo>
                  <a:lnTo>
                    <a:pt x="1054" y="779"/>
                  </a:lnTo>
                  <a:lnTo>
                    <a:pt x="1061" y="779"/>
                  </a:lnTo>
                  <a:lnTo>
                    <a:pt x="1067" y="779"/>
                  </a:lnTo>
                  <a:lnTo>
                    <a:pt x="1079" y="779"/>
                  </a:lnTo>
                  <a:lnTo>
                    <a:pt x="1085" y="779"/>
                  </a:lnTo>
                  <a:lnTo>
                    <a:pt x="1097" y="779"/>
                  </a:lnTo>
                  <a:lnTo>
                    <a:pt x="1110" y="779"/>
                  </a:lnTo>
                  <a:lnTo>
                    <a:pt x="1122" y="779"/>
                  </a:lnTo>
                  <a:lnTo>
                    <a:pt x="1140" y="779"/>
                  </a:lnTo>
                  <a:lnTo>
                    <a:pt x="1159" y="785"/>
                  </a:lnTo>
                  <a:lnTo>
                    <a:pt x="1177" y="785"/>
                  </a:lnTo>
                  <a:lnTo>
                    <a:pt x="1195" y="785"/>
                  </a:lnTo>
                  <a:lnTo>
                    <a:pt x="1214" y="785"/>
                  </a:lnTo>
                  <a:lnTo>
                    <a:pt x="1238" y="785"/>
                  </a:lnTo>
                  <a:lnTo>
                    <a:pt x="1263" y="785"/>
                  </a:lnTo>
                  <a:lnTo>
                    <a:pt x="1287" y="785"/>
                  </a:lnTo>
                  <a:lnTo>
                    <a:pt x="1318" y="785"/>
                  </a:lnTo>
                  <a:lnTo>
                    <a:pt x="1349" y="785"/>
                  </a:lnTo>
                  <a:lnTo>
                    <a:pt x="1379" y="785"/>
                  </a:lnTo>
                  <a:lnTo>
                    <a:pt x="1391" y="785"/>
                  </a:lnTo>
                  <a:lnTo>
                    <a:pt x="1410" y="785"/>
                  </a:lnTo>
                  <a:lnTo>
                    <a:pt x="1428" y="785"/>
                  </a:lnTo>
                  <a:lnTo>
                    <a:pt x="1447" y="785"/>
                  </a:lnTo>
                  <a:lnTo>
                    <a:pt x="1465" y="785"/>
                  </a:lnTo>
                  <a:lnTo>
                    <a:pt x="1483" y="785"/>
                  </a:lnTo>
                  <a:lnTo>
                    <a:pt x="1502" y="785"/>
                  </a:lnTo>
                  <a:lnTo>
                    <a:pt x="1526" y="785"/>
                  </a:lnTo>
                  <a:lnTo>
                    <a:pt x="1545" y="785"/>
                  </a:lnTo>
                  <a:lnTo>
                    <a:pt x="1563" y="785"/>
                  </a:lnTo>
                  <a:lnTo>
                    <a:pt x="1588" y="785"/>
                  </a:lnTo>
                  <a:lnTo>
                    <a:pt x="1606" y="785"/>
                  </a:lnTo>
                  <a:lnTo>
                    <a:pt x="1630" y="785"/>
                  </a:lnTo>
                  <a:lnTo>
                    <a:pt x="1655" y="785"/>
                  </a:lnTo>
                  <a:lnTo>
                    <a:pt x="1679" y="785"/>
                  </a:lnTo>
                  <a:lnTo>
                    <a:pt x="1704" y="785"/>
                  </a:lnTo>
                  <a:lnTo>
                    <a:pt x="1729" y="785"/>
                  </a:lnTo>
                  <a:lnTo>
                    <a:pt x="1753" y="785"/>
                  </a:lnTo>
                  <a:lnTo>
                    <a:pt x="1778" y="785"/>
                  </a:lnTo>
                  <a:lnTo>
                    <a:pt x="1802" y="785"/>
                  </a:lnTo>
                  <a:lnTo>
                    <a:pt x="1827" y="785"/>
                  </a:lnTo>
                  <a:lnTo>
                    <a:pt x="1851" y="785"/>
                  </a:lnTo>
                  <a:lnTo>
                    <a:pt x="1869" y="785"/>
                  </a:lnTo>
                  <a:lnTo>
                    <a:pt x="1894" y="785"/>
                  </a:lnTo>
                  <a:lnTo>
                    <a:pt x="1912" y="785"/>
                  </a:lnTo>
                  <a:lnTo>
                    <a:pt x="1937" y="785"/>
                  </a:lnTo>
                  <a:lnTo>
                    <a:pt x="1955" y="785"/>
                  </a:lnTo>
                  <a:lnTo>
                    <a:pt x="1974" y="785"/>
                  </a:lnTo>
                  <a:lnTo>
                    <a:pt x="1992" y="785"/>
                  </a:lnTo>
                  <a:lnTo>
                    <a:pt x="2010" y="785"/>
                  </a:lnTo>
                  <a:lnTo>
                    <a:pt x="2029" y="785"/>
                  </a:lnTo>
                  <a:lnTo>
                    <a:pt x="2041" y="785"/>
                  </a:lnTo>
                  <a:lnTo>
                    <a:pt x="2059" y="785"/>
                  </a:lnTo>
                  <a:lnTo>
                    <a:pt x="2078" y="785"/>
                  </a:lnTo>
                  <a:lnTo>
                    <a:pt x="2090" y="785"/>
                  </a:lnTo>
                  <a:lnTo>
                    <a:pt x="2108" y="785"/>
                  </a:lnTo>
                  <a:lnTo>
                    <a:pt x="2121" y="785"/>
                  </a:lnTo>
                  <a:lnTo>
                    <a:pt x="2133" y="785"/>
                  </a:lnTo>
                  <a:lnTo>
                    <a:pt x="2145" y="785"/>
                  </a:lnTo>
                  <a:lnTo>
                    <a:pt x="2158" y="785"/>
                  </a:lnTo>
                  <a:lnTo>
                    <a:pt x="2182" y="785"/>
                  </a:lnTo>
                  <a:lnTo>
                    <a:pt x="2207" y="785"/>
                  </a:lnTo>
                  <a:lnTo>
                    <a:pt x="2225" y="785"/>
                  </a:lnTo>
                  <a:lnTo>
                    <a:pt x="2243" y="785"/>
                  </a:lnTo>
                  <a:lnTo>
                    <a:pt x="2262" y="785"/>
                  </a:lnTo>
                  <a:lnTo>
                    <a:pt x="2280" y="779"/>
                  </a:lnTo>
                  <a:lnTo>
                    <a:pt x="2292" y="779"/>
                  </a:lnTo>
                  <a:lnTo>
                    <a:pt x="2305" y="779"/>
                  </a:lnTo>
                  <a:lnTo>
                    <a:pt x="2317" y="779"/>
                  </a:lnTo>
                  <a:lnTo>
                    <a:pt x="2329" y="779"/>
                  </a:lnTo>
                  <a:lnTo>
                    <a:pt x="2335" y="779"/>
                  </a:lnTo>
                  <a:lnTo>
                    <a:pt x="2341" y="779"/>
                  </a:lnTo>
                  <a:lnTo>
                    <a:pt x="2348" y="779"/>
                  </a:lnTo>
                  <a:lnTo>
                    <a:pt x="2354" y="779"/>
                  </a:lnTo>
                  <a:lnTo>
                    <a:pt x="2360" y="779"/>
                  </a:lnTo>
                  <a:lnTo>
                    <a:pt x="2366" y="779"/>
                  </a:lnTo>
                  <a:lnTo>
                    <a:pt x="2366" y="779"/>
                  </a:lnTo>
                  <a:lnTo>
                    <a:pt x="2372" y="779"/>
                  </a:lnTo>
                  <a:lnTo>
                    <a:pt x="2372" y="779"/>
                  </a:lnTo>
                  <a:lnTo>
                    <a:pt x="2372" y="779"/>
                  </a:lnTo>
                  <a:lnTo>
                    <a:pt x="2372" y="779"/>
                  </a:lnTo>
                  <a:close/>
                  <a:moveTo>
                    <a:pt x="1894" y="699"/>
                  </a:moveTo>
                  <a:lnTo>
                    <a:pt x="1888" y="699"/>
                  </a:lnTo>
                  <a:lnTo>
                    <a:pt x="1882" y="693"/>
                  </a:lnTo>
                  <a:lnTo>
                    <a:pt x="1882" y="687"/>
                  </a:lnTo>
                  <a:lnTo>
                    <a:pt x="1876" y="681"/>
                  </a:lnTo>
                  <a:lnTo>
                    <a:pt x="1869" y="674"/>
                  </a:lnTo>
                  <a:lnTo>
                    <a:pt x="1869" y="668"/>
                  </a:lnTo>
                  <a:lnTo>
                    <a:pt x="1869" y="662"/>
                  </a:lnTo>
                  <a:lnTo>
                    <a:pt x="1869" y="656"/>
                  </a:lnTo>
                  <a:lnTo>
                    <a:pt x="1869" y="644"/>
                  </a:lnTo>
                  <a:lnTo>
                    <a:pt x="1876" y="638"/>
                  </a:lnTo>
                  <a:lnTo>
                    <a:pt x="1876" y="632"/>
                  </a:lnTo>
                  <a:lnTo>
                    <a:pt x="1876" y="632"/>
                  </a:lnTo>
                  <a:lnTo>
                    <a:pt x="1882" y="625"/>
                  </a:lnTo>
                  <a:lnTo>
                    <a:pt x="1888" y="619"/>
                  </a:lnTo>
                  <a:lnTo>
                    <a:pt x="1894" y="619"/>
                  </a:lnTo>
                  <a:lnTo>
                    <a:pt x="1900" y="613"/>
                  </a:lnTo>
                  <a:lnTo>
                    <a:pt x="1912" y="613"/>
                  </a:lnTo>
                  <a:lnTo>
                    <a:pt x="1919" y="613"/>
                  </a:lnTo>
                  <a:lnTo>
                    <a:pt x="1925" y="613"/>
                  </a:lnTo>
                  <a:lnTo>
                    <a:pt x="1931" y="613"/>
                  </a:lnTo>
                  <a:lnTo>
                    <a:pt x="1937" y="619"/>
                  </a:lnTo>
                  <a:lnTo>
                    <a:pt x="1943" y="625"/>
                  </a:lnTo>
                  <a:lnTo>
                    <a:pt x="1949" y="625"/>
                  </a:lnTo>
                  <a:lnTo>
                    <a:pt x="1955" y="632"/>
                  </a:lnTo>
                  <a:lnTo>
                    <a:pt x="1955" y="638"/>
                  </a:lnTo>
                  <a:lnTo>
                    <a:pt x="1961" y="644"/>
                  </a:lnTo>
                  <a:lnTo>
                    <a:pt x="1961" y="656"/>
                  </a:lnTo>
                  <a:lnTo>
                    <a:pt x="1961" y="662"/>
                  </a:lnTo>
                  <a:lnTo>
                    <a:pt x="1961" y="668"/>
                  </a:lnTo>
                  <a:lnTo>
                    <a:pt x="1961" y="674"/>
                  </a:lnTo>
                  <a:lnTo>
                    <a:pt x="1955" y="681"/>
                  </a:lnTo>
                  <a:lnTo>
                    <a:pt x="1949" y="687"/>
                  </a:lnTo>
                  <a:lnTo>
                    <a:pt x="1943" y="693"/>
                  </a:lnTo>
                  <a:lnTo>
                    <a:pt x="1937" y="699"/>
                  </a:lnTo>
                  <a:lnTo>
                    <a:pt x="1931" y="705"/>
                  </a:lnTo>
                  <a:lnTo>
                    <a:pt x="1925" y="705"/>
                  </a:lnTo>
                  <a:lnTo>
                    <a:pt x="1919" y="705"/>
                  </a:lnTo>
                  <a:lnTo>
                    <a:pt x="1912" y="705"/>
                  </a:lnTo>
                  <a:lnTo>
                    <a:pt x="1900" y="705"/>
                  </a:lnTo>
                  <a:lnTo>
                    <a:pt x="1894" y="699"/>
                  </a:lnTo>
                  <a:lnTo>
                    <a:pt x="1894" y="699"/>
                  </a:lnTo>
                  <a:close/>
                  <a:moveTo>
                    <a:pt x="2053" y="699"/>
                  </a:moveTo>
                  <a:lnTo>
                    <a:pt x="2047" y="693"/>
                  </a:lnTo>
                  <a:lnTo>
                    <a:pt x="2041" y="693"/>
                  </a:lnTo>
                  <a:lnTo>
                    <a:pt x="2041" y="687"/>
                  </a:lnTo>
                  <a:lnTo>
                    <a:pt x="2035" y="687"/>
                  </a:lnTo>
                  <a:lnTo>
                    <a:pt x="2035" y="681"/>
                  </a:lnTo>
                  <a:lnTo>
                    <a:pt x="2029" y="674"/>
                  </a:lnTo>
                  <a:lnTo>
                    <a:pt x="2029" y="668"/>
                  </a:lnTo>
                  <a:lnTo>
                    <a:pt x="2029" y="656"/>
                  </a:lnTo>
                  <a:lnTo>
                    <a:pt x="2029" y="650"/>
                  </a:lnTo>
                  <a:lnTo>
                    <a:pt x="2035" y="644"/>
                  </a:lnTo>
                  <a:lnTo>
                    <a:pt x="2035" y="638"/>
                  </a:lnTo>
                  <a:lnTo>
                    <a:pt x="2035" y="632"/>
                  </a:lnTo>
                  <a:lnTo>
                    <a:pt x="2041" y="625"/>
                  </a:lnTo>
                  <a:lnTo>
                    <a:pt x="2047" y="619"/>
                  </a:lnTo>
                  <a:lnTo>
                    <a:pt x="2053" y="619"/>
                  </a:lnTo>
                  <a:lnTo>
                    <a:pt x="2066" y="613"/>
                  </a:lnTo>
                  <a:lnTo>
                    <a:pt x="2066" y="613"/>
                  </a:lnTo>
                  <a:lnTo>
                    <a:pt x="2072" y="613"/>
                  </a:lnTo>
                  <a:lnTo>
                    <a:pt x="2078" y="613"/>
                  </a:lnTo>
                  <a:lnTo>
                    <a:pt x="2078" y="613"/>
                  </a:lnTo>
                  <a:lnTo>
                    <a:pt x="2084" y="613"/>
                  </a:lnTo>
                  <a:lnTo>
                    <a:pt x="2084" y="613"/>
                  </a:lnTo>
                  <a:lnTo>
                    <a:pt x="2090" y="613"/>
                  </a:lnTo>
                  <a:lnTo>
                    <a:pt x="2096" y="619"/>
                  </a:lnTo>
                  <a:lnTo>
                    <a:pt x="2102" y="619"/>
                  </a:lnTo>
                  <a:lnTo>
                    <a:pt x="2102" y="625"/>
                  </a:lnTo>
                  <a:lnTo>
                    <a:pt x="2108" y="625"/>
                  </a:lnTo>
                  <a:lnTo>
                    <a:pt x="2108" y="632"/>
                  </a:lnTo>
                  <a:lnTo>
                    <a:pt x="2115" y="632"/>
                  </a:lnTo>
                  <a:lnTo>
                    <a:pt x="2115" y="638"/>
                  </a:lnTo>
                  <a:lnTo>
                    <a:pt x="2115" y="638"/>
                  </a:lnTo>
                  <a:lnTo>
                    <a:pt x="2115" y="644"/>
                  </a:lnTo>
                  <a:lnTo>
                    <a:pt x="2121" y="650"/>
                  </a:lnTo>
                  <a:lnTo>
                    <a:pt x="2121" y="650"/>
                  </a:lnTo>
                  <a:lnTo>
                    <a:pt x="2121" y="656"/>
                  </a:lnTo>
                  <a:lnTo>
                    <a:pt x="2121" y="662"/>
                  </a:lnTo>
                  <a:lnTo>
                    <a:pt x="2121" y="668"/>
                  </a:lnTo>
                  <a:lnTo>
                    <a:pt x="2115" y="674"/>
                  </a:lnTo>
                  <a:lnTo>
                    <a:pt x="2115" y="681"/>
                  </a:lnTo>
                  <a:lnTo>
                    <a:pt x="2115" y="681"/>
                  </a:lnTo>
                  <a:lnTo>
                    <a:pt x="2108" y="693"/>
                  </a:lnTo>
                  <a:lnTo>
                    <a:pt x="2102" y="699"/>
                  </a:lnTo>
                  <a:lnTo>
                    <a:pt x="2090" y="699"/>
                  </a:lnTo>
                  <a:lnTo>
                    <a:pt x="2084" y="705"/>
                  </a:lnTo>
                  <a:lnTo>
                    <a:pt x="2084" y="705"/>
                  </a:lnTo>
                  <a:lnTo>
                    <a:pt x="2078" y="705"/>
                  </a:lnTo>
                  <a:lnTo>
                    <a:pt x="2072" y="705"/>
                  </a:lnTo>
                  <a:lnTo>
                    <a:pt x="2066" y="705"/>
                  </a:lnTo>
                  <a:lnTo>
                    <a:pt x="2066" y="705"/>
                  </a:lnTo>
                  <a:lnTo>
                    <a:pt x="2059" y="699"/>
                  </a:lnTo>
                  <a:lnTo>
                    <a:pt x="2053" y="699"/>
                  </a:lnTo>
                  <a:lnTo>
                    <a:pt x="2053" y="699"/>
                  </a:lnTo>
                  <a:close/>
                  <a:moveTo>
                    <a:pt x="2219" y="699"/>
                  </a:moveTo>
                  <a:lnTo>
                    <a:pt x="2213" y="699"/>
                  </a:lnTo>
                  <a:lnTo>
                    <a:pt x="2207" y="693"/>
                  </a:lnTo>
                  <a:lnTo>
                    <a:pt x="2200" y="687"/>
                  </a:lnTo>
                  <a:lnTo>
                    <a:pt x="2194" y="687"/>
                  </a:lnTo>
                  <a:lnTo>
                    <a:pt x="2194" y="681"/>
                  </a:lnTo>
                  <a:lnTo>
                    <a:pt x="2188" y="674"/>
                  </a:lnTo>
                  <a:lnTo>
                    <a:pt x="2188" y="668"/>
                  </a:lnTo>
                  <a:lnTo>
                    <a:pt x="2188" y="662"/>
                  </a:lnTo>
                  <a:lnTo>
                    <a:pt x="2188" y="656"/>
                  </a:lnTo>
                  <a:lnTo>
                    <a:pt x="2188" y="650"/>
                  </a:lnTo>
                  <a:lnTo>
                    <a:pt x="2188" y="644"/>
                  </a:lnTo>
                  <a:lnTo>
                    <a:pt x="2194" y="638"/>
                  </a:lnTo>
                  <a:lnTo>
                    <a:pt x="2194" y="632"/>
                  </a:lnTo>
                  <a:lnTo>
                    <a:pt x="2200" y="625"/>
                  </a:lnTo>
                  <a:lnTo>
                    <a:pt x="2207" y="619"/>
                  </a:lnTo>
                  <a:lnTo>
                    <a:pt x="2213" y="619"/>
                  </a:lnTo>
                  <a:lnTo>
                    <a:pt x="2219" y="613"/>
                  </a:lnTo>
                  <a:lnTo>
                    <a:pt x="2225" y="613"/>
                  </a:lnTo>
                  <a:lnTo>
                    <a:pt x="2237" y="613"/>
                  </a:lnTo>
                  <a:lnTo>
                    <a:pt x="2243" y="613"/>
                  </a:lnTo>
                  <a:lnTo>
                    <a:pt x="2249" y="613"/>
                  </a:lnTo>
                  <a:lnTo>
                    <a:pt x="2256" y="619"/>
                  </a:lnTo>
                  <a:lnTo>
                    <a:pt x="2262" y="619"/>
                  </a:lnTo>
                  <a:lnTo>
                    <a:pt x="2268" y="625"/>
                  </a:lnTo>
                  <a:lnTo>
                    <a:pt x="2268" y="632"/>
                  </a:lnTo>
                  <a:lnTo>
                    <a:pt x="2274" y="632"/>
                  </a:lnTo>
                  <a:lnTo>
                    <a:pt x="2274" y="638"/>
                  </a:lnTo>
                  <a:lnTo>
                    <a:pt x="2280" y="638"/>
                  </a:lnTo>
                  <a:lnTo>
                    <a:pt x="2280" y="644"/>
                  </a:lnTo>
                  <a:lnTo>
                    <a:pt x="2280" y="650"/>
                  </a:lnTo>
                  <a:lnTo>
                    <a:pt x="2280" y="650"/>
                  </a:lnTo>
                  <a:lnTo>
                    <a:pt x="2280" y="656"/>
                  </a:lnTo>
                  <a:lnTo>
                    <a:pt x="2280" y="662"/>
                  </a:lnTo>
                  <a:lnTo>
                    <a:pt x="2280" y="674"/>
                  </a:lnTo>
                  <a:lnTo>
                    <a:pt x="2274" y="681"/>
                  </a:lnTo>
                  <a:lnTo>
                    <a:pt x="2274" y="681"/>
                  </a:lnTo>
                  <a:lnTo>
                    <a:pt x="2268" y="687"/>
                  </a:lnTo>
                  <a:lnTo>
                    <a:pt x="2262" y="693"/>
                  </a:lnTo>
                  <a:lnTo>
                    <a:pt x="2262" y="699"/>
                  </a:lnTo>
                  <a:lnTo>
                    <a:pt x="2249" y="699"/>
                  </a:lnTo>
                  <a:lnTo>
                    <a:pt x="2249" y="705"/>
                  </a:lnTo>
                  <a:lnTo>
                    <a:pt x="2243" y="705"/>
                  </a:lnTo>
                  <a:lnTo>
                    <a:pt x="2237" y="705"/>
                  </a:lnTo>
                  <a:lnTo>
                    <a:pt x="2237" y="705"/>
                  </a:lnTo>
                  <a:lnTo>
                    <a:pt x="2231" y="705"/>
                  </a:lnTo>
                  <a:lnTo>
                    <a:pt x="2225" y="705"/>
                  </a:lnTo>
                  <a:lnTo>
                    <a:pt x="2225" y="705"/>
                  </a:lnTo>
                  <a:lnTo>
                    <a:pt x="2219" y="699"/>
                  </a:lnTo>
                  <a:lnTo>
                    <a:pt x="2219" y="699"/>
                  </a:lnTo>
                  <a:close/>
                  <a:moveTo>
                    <a:pt x="2378" y="393"/>
                  </a:moveTo>
                  <a:lnTo>
                    <a:pt x="2378" y="386"/>
                  </a:lnTo>
                  <a:lnTo>
                    <a:pt x="2384" y="386"/>
                  </a:lnTo>
                  <a:lnTo>
                    <a:pt x="2384" y="386"/>
                  </a:lnTo>
                  <a:lnTo>
                    <a:pt x="2384" y="380"/>
                  </a:lnTo>
                  <a:lnTo>
                    <a:pt x="2384" y="380"/>
                  </a:lnTo>
                  <a:lnTo>
                    <a:pt x="2384" y="374"/>
                  </a:lnTo>
                  <a:lnTo>
                    <a:pt x="2384" y="368"/>
                  </a:lnTo>
                  <a:lnTo>
                    <a:pt x="2384" y="362"/>
                  </a:lnTo>
                  <a:lnTo>
                    <a:pt x="2384" y="356"/>
                  </a:lnTo>
                  <a:lnTo>
                    <a:pt x="2384" y="344"/>
                  </a:lnTo>
                  <a:lnTo>
                    <a:pt x="2384" y="337"/>
                  </a:lnTo>
                  <a:lnTo>
                    <a:pt x="2384" y="325"/>
                  </a:lnTo>
                  <a:lnTo>
                    <a:pt x="2384" y="313"/>
                  </a:lnTo>
                  <a:lnTo>
                    <a:pt x="2384" y="301"/>
                  </a:lnTo>
                  <a:lnTo>
                    <a:pt x="2384" y="295"/>
                  </a:lnTo>
                  <a:lnTo>
                    <a:pt x="2384" y="288"/>
                  </a:lnTo>
                  <a:lnTo>
                    <a:pt x="2384" y="276"/>
                  </a:lnTo>
                  <a:lnTo>
                    <a:pt x="2384" y="270"/>
                  </a:lnTo>
                  <a:lnTo>
                    <a:pt x="2384" y="258"/>
                  </a:lnTo>
                  <a:lnTo>
                    <a:pt x="2384" y="245"/>
                  </a:lnTo>
                  <a:lnTo>
                    <a:pt x="2384" y="233"/>
                  </a:lnTo>
                  <a:lnTo>
                    <a:pt x="2384" y="221"/>
                  </a:lnTo>
                  <a:lnTo>
                    <a:pt x="2384" y="209"/>
                  </a:lnTo>
                  <a:lnTo>
                    <a:pt x="2384" y="203"/>
                  </a:lnTo>
                  <a:lnTo>
                    <a:pt x="2384" y="190"/>
                  </a:lnTo>
                  <a:lnTo>
                    <a:pt x="2384" y="184"/>
                  </a:lnTo>
                  <a:lnTo>
                    <a:pt x="2384" y="184"/>
                  </a:lnTo>
                  <a:lnTo>
                    <a:pt x="2384" y="178"/>
                  </a:lnTo>
                  <a:lnTo>
                    <a:pt x="2384" y="172"/>
                  </a:lnTo>
                  <a:lnTo>
                    <a:pt x="2384" y="172"/>
                  </a:lnTo>
                  <a:lnTo>
                    <a:pt x="2384" y="166"/>
                  </a:lnTo>
                  <a:lnTo>
                    <a:pt x="2378" y="166"/>
                  </a:lnTo>
                  <a:lnTo>
                    <a:pt x="2378" y="166"/>
                  </a:lnTo>
                  <a:lnTo>
                    <a:pt x="2378" y="166"/>
                  </a:lnTo>
                  <a:lnTo>
                    <a:pt x="2378" y="166"/>
                  </a:lnTo>
                  <a:lnTo>
                    <a:pt x="2372" y="166"/>
                  </a:lnTo>
                  <a:lnTo>
                    <a:pt x="2372" y="166"/>
                  </a:lnTo>
                  <a:lnTo>
                    <a:pt x="2360" y="166"/>
                  </a:lnTo>
                  <a:lnTo>
                    <a:pt x="2354" y="166"/>
                  </a:lnTo>
                  <a:lnTo>
                    <a:pt x="2341" y="160"/>
                  </a:lnTo>
                  <a:lnTo>
                    <a:pt x="2329" y="160"/>
                  </a:lnTo>
                  <a:lnTo>
                    <a:pt x="2317" y="160"/>
                  </a:lnTo>
                  <a:lnTo>
                    <a:pt x="2305" y="160"/>
                  </a:lnTo>
                  <a:lnTo>
                    <a:pt x="2286" y="160"/>
                  </a:lnTo>
                  <a:lnTo>
                    <a:pt x="2268" y="160"/>
                  </a:lnTo>
                  <a:lnTo>
                    <a:pt x="2249" y="160"/>
                  </a:lnTo>
                  <a:lnTo>
                    <a:pt x="2231" y="160"/>
                  </a:lnTo>
                  <a:lnTo>
                    <a:pt x="2213" y="160"/>
                  </a:lnTo>
                  <a:lnTo>
                    <a:pt x="2188" y="160"/>
                  </a:lnTo>
                  <a:lnTo>
                    <a:pt x="2164" y="160"/>
                  </a:lnTo>
                  <a:lnTo>
                    <a:pt x="2139" y="160"/>
                  </a:lnTo>
                  <a:lnTo>
                    <a:pt x="2115" y="160"/>
                  </a:lnTo>
                  <a:lnTo>
                    <a:pt x="2090" y="160"/>
                  </a:lnTo>
                  <a:lnTo>
                    <a:pt x="2066" y="160"/>
                  </a:lnTo>
                  <a:lnTo>
                    <a:pt x="2035" y="160"/>
                  </a:lnTo>
                  <a:lnTo>
                    <a:pt x="2010" y="160"/>
                  </a:lnTo>
                  <a:lnTo>
                    <a:pt x="1980" y="160"/>
                  </a:lnTo>
                  <a:lnTo>
                    <a:pt x="1949" y="160"/>
                  </a:lnTo>
                  <a:lnTo>
                    <a:pt x="1919" y="160"/>
                  </a:lnTo>
                  <a:lnTo>
                    <a:pt x="1888" y="160"/>
                  </a:lnTo>
                  <a:lnTo>
                    <a:pt x="1827" y="160"/>
                  </a:lnTo>
                  <a:lnTo>
                    <a:pt x="1765" y="160"/>
                  </a:lnTo>
                  <a:lnTo>
                    <a:pt x="1704" y="160"/>
                  </a:lnTo>
                  <a:lnTo>
                    <a:pt x="1643" y="160"/>
                  </a:lnTo>
                  <a:lnTo>
                    <a:pt x="1581" y="160"/>
                  </a:lnTo>
                  <a:lnTo>
                    <a:pt x="1520" y="160"/>
                  </a:lnTo>
                  <a:lnTo>
                    <a:pt x="1490" y="160"/>
                  </a:lnTo>
                  <a:lnTo>
                    <a:pt x="1459" y="160"/>
                  </a:lnTo>
                  <a:lnTo>
                    <a:pt x="1428" y="160"/>
                  </a:lnTo>
                  <a:lnTo>
                    <a:pt x="1398" y="160"/>
                  </a:lnTo>
                  <a:lnTo>
                    <a:pt x="1373" y="160"/>
                  </a:lnTo>
                  <a:lnTo>
                    <a:pt x="1342" y="160"/>
                  </a:lnTo>
                  <a:lnTo>
                    <a:pt x="1318" y="160"/>
                  </a:lnTo>
                  <a:lnTo>
                    <a:pt x="1293" y="160"/>
                  </a:lnTo>
                  <a:lnTo>
                    <a:pt x="1269" y="160"/>
                  </a:lnTo>
                  <a:lnTo>
                    <a:pt x="1244" y="160"/>
                  </a:lnTo>
                  <a:lnTo>
                    <a:pt x="1220" y="160"/>
                  </a:lnTo>
                  <a:lnTo>
                    <a:pt x="1195" y="160"/>
                  </a:lnTo>
                  <a:lnTo>
                    <a:pt x="1177" y="160"/>
                  </a:lnTo>
                  <a:lnTo>
                    <a:pt x="1159" y="160"/>
                  </a:lnTo>
                  <a:lnTo>
                    <a:pt x="1140" y="160"/>
                  </a:lnTo>
                  <a:lnTo>
                    <a:pt x="1122" y="160"/>
                  </a:lnTo>
                  <a:lnTo>
                    <a:pt x="1103" y="160"/>
                  </a:lnTo>
                  <a:lnTo>
                    <a:pt x="1091" y="160"/>
                  </a:lnTo>
                  <a:lnTo>
                    <a:pt x="1079" y="160"/>
                  </a:lnTo>
                  <a:lnTo>
                    <a:pt x="1067" y="160"/>
                  </a:lnTo>
                  <a:lnTo>
                    <a:pt x="1054" y="166"/>
                  </a:lnTo>
                  <a:lnTo>
                    <a:pt x="1048" y="166"/>
                  </a:lnTo>
                  <a:lnTo>
                    <a:pt x="1036" y="166"/>
                  </a:lnTo>
                  <a:lnTo>
                    <a:pt x="1036" y="166"/>
                  </a:lnTo>
                  <a:lnTo>
                    <a:pt x="1030" y="166"/>
                  </a:lnTo>
                  <a:lnTo>
                    <a:pt x="1030" y="166"/>
                  </a:lnTo>
                  <a:lnTo>
                    <a:pt x="1030" y="166"/>
                  </a:lnTo>
                  <a:lnTo>
                    <a:pt x="1030" y="166"/>
                  </a:lnTo>
                  <a:lnTo>
                    <a:pt x="1030" y="166"/>
                  </a:lnTo>
                  <a:lnTo>
                    <a:pt x="1024" y="172"/>
                  </a:lnTo>
                  <a:lnTo>
                    <a:pt x="1024" y="172"/>
                  </a:lnTo>
                  <a:lnTo>
                    <a:pt x="1024" y="178"/>
                  </a:lnTo>
                  <a:lnTo>
                    <a:pt x="1024" y="184"/>
                  </a:lnTo>
                  <a:lnTo>
                    <a:pt x="1024" y="184"/>
                  </a:lnTo>
                  <a:lnTo>
                    <a:pt x="1024" y="190"/>
                  </a:lnTo>
                  <a:lnTo>
                    <a:pt x="1024" y="203"/>
                  </a:lnTo>
                  <a:lnTo>
                    <a:pt x="1024" y="209"/>
                  </a:lnTo>
                  <a:lnTo>
                    <a:pt x="1024" y="221"/>
                  </a:lnTo>
                  <a:lnTo>
                    <a:pt x="1024" y="233"/>
                  </a:lnTo>
                  <a:lnTo>
                    <a:pt x="1024" y="245"/>
                  </a:lnTo>
                  <a:lnTo>
                    <a:pt x="1024" y="264"/>
                  </a:lnTo>
                  <a:lnTo>
                    <a:pt x="1024" y="270"/>
                  </a:lnTo>
                  <a:lnTo>
                    <a:pt x="1024" y="276"/>
                  </a:lnTo>
                  <a:lnTo>
                    <a:pt x="1024" y="288"/>
                  </a:lnTo>
                  <a:lnTo>
                    <a:pt x="1024" y="295"/>
                  </a:lnTo>
                  <a:lnTo>
                    <a:pt x="1024" y="307"/>
                  </a:lnTo>
                  <a:lnTo>
                    <a:pt x="1024" y="313"/>
                  </a:lnTo>
                  <a:lnTo>
                    <a:pt x="1024" y="325"/>
                  </a:lnTo>
                  <a:lnTo>
                    <a:pt x="1024" y="337"/>
                  </a:lnTo>
                  <a:lnTo>
                    <a:pt x="1024" y="350"/>
                  </a:lnTo>
                  <a:lnTo>
                    <a:pt x="1024" y="356"/>
                  </a:lnTo>
                  <a:lnTo>
                    <a:pt x="1024" y="362"/>
                  </a:lnTo>
                  <a:lnTo>
                    <a:pt x="1024" y="374"/>
                  </a:lnTo>
                  <a:lnTo>
                    <a:pt x="1024" y="374"/>
                  </a:lnTo>
                  <a:lnTo>
                    <a:pt x="1024" y="380"/>
                  </a:lnTo>
                  <a:lnTo>
                    <a:pt x="1024" y="386"/>
                  </a:lnTo>
                  <a:lnTo>
                    <a:pt x="1024" y="386"/>
                  </a:lnTo>
                  <a:lnTo>
                    <a:pt x="1030" y="386"/>
                  </a:lnTo>
                  <a:lnTo>
                    <a:pt x="1030" y="386"/>
                  </a:lnTo>
                  <a:lnTo>
                    <a:pt x="1030" y="393"/>
                  </a:lnTo>
                  <a:lnTo>
                    <a:pt x="1030" y="393"/>
                  </a:lnTo>
                  <a:lnTo>
                    <a:pt x="1036" y="393"/>
                  </a:lnTo>
                  <a:lnTo>
                    <a:pt x="1036" y="393"/>
                  </a:lnTo>
                  <a:lnTo>
                    <a:pt x="1042" y="393"/>
                  </a:lnTo>
                  <a:lnTo>
                    <a:pt x="1048" y="393"/>
                  </a:lnTo>
                  <a:lnTo>
                    <a:pt x="1054" y="393"/>
                  </a:lnTo>
                  <a:lnTo>
                    <a:pt x="1067" y="393"/>
                  </a:lnTo>
                  <a:lnTo>
                    <a:pt x="1073" y="393"/>
                  </a:lnTo>
                  <a:lnTo>
                    <a:pt x="1085" y="393"/>
                  </a:lnTo>
                  <a:lnTo>
                    <a:pt x="1097" y="393"/>
                  </a:lnTo>
                  <a:lnTo>
                    <a:pt x="1110" y="393"/>
                  </a:lnTo>
                  <a:lnTo>
                    <a:pt x="1128" y="393"/>
                  </a:lnTo>
                  <a:lnTo>
                    <a:pt x="1146" y="393"/>
                  </a:lnTo>
                  <a:lnTo>
                    <a:pt x="1165" y="393"/>
                  </a:lnTo>
                  <a:lnTo>
                    <a:pt x="1183" y="393"/>
                  </a:lnTo>
                  <a:lnTo>
                    <a:pt x="1201" y="393"/>
                  </a:lnTo>
                  <a:lnTo>
                    <a:pt x="1220" y="393"/>
                  </a:lnTo>
                  <a:lnTo>
                    <a:pt x="1244" y="393"/>
                  </a:lnTo>
                  <a:lnTo>
                    <a:pt x="1269" y="393"/>
                  </a:lnTo>
                  <a:lnTo>
                    <a:pt x="1293" y="393"/>
                  </a:lnTo>
                  <a:lnTo>
                    <a:pt x="1324" y="393"/>
                  </a:lnTo>
                  <a:lnTo>
                    <a:pt x="1349" y="393"/>
                  </a:lnTo>
                  <a:lnTo>
                    <a:pt x="1379" y="393"/>
                  </a:lnTo>
                  <a:lnTo>
                    <a:pt x="1410" y="393"/>
                  </a:lnTo>
                  <a:lnTo>
                    <a:pt x="1440" y="393"/>
                  </a:lnTo>
                  <a:lnTo>
                    <a:pt x="1477" y="393"/>
                  </a:lnTo>
                  <a:lnTo>
                    <a:pt x="1514" y="393"/>
                  </a:lnTo>
                  <a:lnTo>
                    <a:pt x="1545" y="393"/>
                  </a:lnTo>
                  <a:lnTo>
                    <a:pt x="1581" y="393"/>
                  </a:lnTo>
                  <a:lnTo>
                    <a:pt x="1624" y="393"/>
                  </a:lnTo>
                  <a:lnTo>
                    <a:pt x="1661" y="393"/>
                  </a:lnTo>
                  <a:lnTo>
                    <a:pt x="1704" y="393"/>
                  </a:lnTo>
                  <a:lnTo>
                    <a:pt x="1729" y="393"/>
                  </a:lnTo>
                  <a:lnTo>
                    <a:pt x="1753" y="393"/>
                  </a:lnTo>
                  <a:lnTo>
                    <a:pt x="1778" y="393"/>
                  </a:lnTo>
                  <a:lnTo>
                    <a:pt x="1802" y="393"/>
                  </a:lnTo>
                  <a:lnTo>
                    <a:pt x="1827" y="393"/>
                  </a:lnTo>
                  <a:lnTo>
                    <a:pt x="1845" y="393"/>
                  </a:lnTo>
                  <a:lnTo>
                    <a:pt x="1869" y="393"/>
                  </a:lnTo>
                  <a:lnTo>
                    <a:pt x="1888" y="393"/>
                  </a:lnTo>
                  <a:lnTo>
                    <a:pt x="1912" y="393"/>
                  </a:lnTo>
                  <a:lnTo>
                    <a:pt x="1931" y="393"/>
                  </a:lnTo>
                  <a:lnTo>
                    <a:pt x="1949" y="393"/>
                  </a:lnTo>
                  <a:lnTo>
                    <a:pt x="1968" y="393"/>
                  </a:lnTo>
                  <a:lnTo>
                    <a:pt x="1986" y="393"/>
                  </a:lnTo>
                  <a:lnTo>
                    <a:pt x="2004" y="393"/>
                  </a:lnTo>
                  <a:lnTo>
                    <a:pt x="2023" y="393"/>
                  </a:lnTo>
                  <a:lnTo>
                    <a:pt x="2041" y="393"/>
                  </a:lnTo>
                  <a:lnTo>
                    <a:pt x="2059" y="393"/>
                  </a:lnTo>
                  <a:lnTo>
                    <a:pt x="2072" y="393"/>
                  </a:lnTo>
                  <a:lnTo>
                    <a:pt x="2090" y="393"/>
                  </a:lnTo>
                  <a:lnTo>
                    <a:pt x="2102" y="393"/>
                  </a:lnTo>
                  <a:lnTo>
                    <a:pt x="2115" y="393"/>
                  </a:lnTo>
                  <a:lnTo>
                    <a:pt x="2133" y="393"/>
                  </a:lnTo>
                  <a:lnTo>
                    <a:pt x="2158" y="393"/>
                  </a:lnTo>
                  <a:lnTo>
                    <a:pt x="2182" y="393"/>
                  </a:lnTo>
                  <a:lnTo>
                    <a:pt x="2207" y="393"/>
                  </a:lnTo>
                  <a:lnTo>
                    <a:pt x="2225" y="393"/>
                  </a:lnTo>
                  <a:lnTo>
                    <a:pt x="2243" y="393"/>
                  </a:lnTo>
                  <a:lnTo>
                    <a:pt x="2262" y="393"/>
                  </a:lnTo>
                  <a:lnTo>
                    <a:pt x="2280" y="393"/>
                  </a:lnTo>
                  <a:lnTo>
                    <a:pt x="2292" y="393"/>
                  </a:lnTo>
                  <a:lnTo>
                    <a:pt x="2311" y="393"/>
                  </a:lnTo>
                  <a:lnTo>
                    <a:pt x="2317" y="393"/>
                  </a:lnTo>
                  <a:lnTo>
                    <a:pt x="2329" y="393"/>
                  </a:lnTo>
                  <a:lnTo>
                    <a:pt x="2341" y="393"/>
                  </a:lnTo>
                  <a:lnTo>
                    <a:pt x="2348" y="393"/>
                  </a:lnTo>
                  <a:lnTo>
                    <a:pt x="2354" y="393"/>
                  </a:lnTo>
                  <a:lnTo>
                    <a:pt x="2360" y="393"/>
                  </a:lnTo>
                  <a:lnTo>
                    <a:pt x="2366" y="393"/>
                  </a:lnTo>
                  <a:lnTo>
                    <a:pt x="2372" y="393"/>
                  </a:lnTo>
                  <a:lnTo>
                    <a:pt x="2372" y="393"/>
                  </a:lnTo>
                  <a:lnTo>
                    <a:pt x="2378" y="393"/>
                  </a:lnTo>
                  <a:lnTo>
                    <a:pt x="2378" y="393"/>
                  </a:lnTo>
                  <a:lnTo>
                    <a:pt x="2378" y="393"/>
                  </a:lnTo>
                  <a:lnTo>
                    <a:pt x="2378" y="393"/>
                  </a:lnTo>
                  <a:close/>
                  <a:moveTo>
                    <a:pt x="1888" y="313"/>
                  </a:moveTo>
                  <a:lnTo>
                    <a:pt x="1882" y="307"/>
                  </a:lnTo>
                  <a:lnTo>
                    <a:pt x="1882" y="307"/>
                  </a:lnTo>
                  <a:lnTo>
                    <a:pt x="1876" y="301"/>
                  </a:lnTo>
                  <a:lnTo>
                    <a:pt x="1876" y="295"/>
                  </a:lnTo>
                  <a:lnTo>
                    <a:pt x="1869" y="288"/>
                  </a:lnTo>
                  <a:lnTo>
                    <a:pt x="1869" y="282"/>
                  </a:lnTo>
                  <a:lnTo>
                    <a:pt x="1869" y="276"/>
                  </a:lnTo>
                  <a:lnTo>
                    <a:pt x="1869" y="270"/>
                  </a:lnTo>
                  <a:lnTo>
                    <a:pt x="1869" y="264"/>
                  </a:lnTo>
                  <a:lnTo>
                    <a:pt x="1869" y="258"/>
                  </a:lnTo>
                  <a:lnTo>
                    <a:pt x="1876" y="252"/>
                  </a:lnTo>
                  <a:lnTo>
                    <a:pt x="1876" y="245"/>
                  </a:lnTo>
                  <a:lnTo>
                    <a:pt x="1882" y="245"/>
                  </a:lnTo>
                  <a:lnTo>
                    <a:pt x="1882" y="239"/>
                  </a:lnTo>
                  <a:lnTo>
                    <a:pt x="1888" y="233"/>
                  </a:lnTo>
                  <a:lnTo>
                    <a:pt x="1894" y="233"/>
                  </a:lnTo>
                  <a:lnTo>
                    <a:pt x="1900" y="233"/>
                  </a:lnTo>
                  <a:lnTo>
                    <a:pt x="1900" y="227"/>
                  </a:lnTo>
                  <a:lnTo>
                    <a:pt x="1906" y="227"/>
                  </a:lnTo>
                  <a:lnTo>
                    <a:pt x="1912" y="227"/>
                  </a:lnTo>
                  <a:lnTo>
                    <a:pt x="1925" y="227"/>
                  </a:lnTo>
                  <a:lnTo>
                    <a:pt x="1931" y="227"/>
                  </a:lnTo>
                  <a:lnTo>
                    <a:pt x="1937" y="233"/>
                  </a:lnTo>
                  <a:lnTo>
                    <a:pt x="1949" y="239"/>
                  </a:lnTo>
                  <a:lnTo>
                    <a:pt x="1949" y="245"/>
                  </a:lnTo>
                  <a:lnTo>
                    <a:pt x="1955" y="258"/>
                  </a:lnTo>
                  <a:lnTo>
                    <a:pt x="1961" y="258"/>
                  </a:lnTo>
                  <a:lnTo>
                    <a:pt x="1961" y="264"/>
                  </a:lnTo>
                  <a:lnTo>
                    <a:pt x="1961" y="270"/>
                  </a:lnTo>
                  <a:lnTo>
                    <a:pt x="1961" y="270"/>
                  </a:lnTo>
                  <a:lnTo>
                    <a:pt x="1961" y="276"/>
                  </a:lnTo>
                  <a:lnTo>
                    <a:pt x="1961" y="282"/>
                  </a:lnTo>
                  <a:lnTo>
                    <a:pt x="1961" y="282"/>
                  </a:lnTo>
                  <a:lnTo>
                    <a:pt x="1961" y="288"/>
                  </a:lnTo>
                  <a:lnTo>
                    <a:pt x="1955" y="295"/>
                  </a:lnTo>
                  <a:lnTo>
                    <a:pt x="1955" y="301"/>
                  </a:lnTo>
                  <a:lnTo>
                    <a:pt x="1949" y="307"/>
                  </a:lnTo>
                  <a:lnTo>
                    <a:pt x="1937" y="313"/>
                  </a:lnTo>
                  <a:lnTo>
                    <a:pt x="1931" y="313"/>
                  </a:lnTo>
                  <a:lnTo>
                    <a:pt x="1925" y="319"/>
                  </a:lnTo>
                  <a:lnTo>
                    <a:pt x="1919" y="319"/>
                  </a:lnTo>
                  <a:lnTo>
                    <a:pt x="1919" y="319"/>
                  </a:lnTo>
                  <a:lnTo>
                    <a:pt x="1912" y="319"/>
                  </a:lnTo>
                  <a:lnTo>
                    <a:pt x="1906" y="319"/>
                  </a:lnTo>
                  <a:lnTo>
                    <a:pt x="1900" y="319"/>
                  </a:lnTo>
                  <a:lnTo>
                    <a:pt x="1894" y="313"/>
                  </a:lnTo>
                  <a:lnTo>
                    <a:pt x="1888" y="313"/>
                  </a:lnTo>
                  <a:lnTo>
                    <a:pt x="1888" y="313"/>
                  </a:lnTo>
                  <a:close/>
                  <a:moveTo>
                    <a:pt x="2053" y="313"/>
                  </a:moveTo>
                  <a:lnTo>
                    <a:pt x="2047" y="313"/>
                  </a:lnTo>
                  <a:lnTo>
                    <a:pt x="2041" y="307"/>
                  </a:lnTo>
                  <a:lnTo>
                    <a:pt x="2041" y="301"/>
                  </a:lnTo>
                  <a:lnTo>
                    <a:pt x="2035" y="301"/>
                  </a:lnTo>
                  <a:lnTo>
                    <a:pt x="2035" y="295"/>
                  </a:lnTo>
                  <a:lnTo>
                    <a:pt x="2029" y="288"/>
                  </a:lnTo>
                  <a:lnTo>
                    <a:pt x="2029" y="282"/>
                  </a:lnTo>
                  <a:lnTo>
                    <a:pt x="2029" y="276"/>
                  </a:lnTo>
                  <a:lnTo>
                    <a:pt x="2029" y="264"/>
                  </a:lnTo>
                  <a:lnTo>
                    <a:pt x="2029" y="258"/>
                  </a:lnTo>
                  <a:lnTo>
                    <a:pt x="2035" y="252"/>
                  </a:lnTo>
                  <a:lnTo>
                    <a:pt x="2035" y="245"/>
                  </a:lnTo>
                  <a:lnTo>
                    <a:pt x="2041" y="239"/>
                  </a:lnTo>
                  <a:lnTo>
                    <a:pt x="2041" y="239"/>
                  </a:lnTo>
                  <a:lnTo>
                    <a:pt x="2047" y="233"/>
                  </a:lnTo>
                  <a:lnTo>
                    <a:pt x="2053" y="233"/>
                  </a:lnTo>
                  <a:lnTo>
                    <a:pt x="2066" y="227"/>
                  </a:lnTo>
                  <a:lnTo>
                    <a:pt x="2072" y="227"/>
                  </a:lnTo>
                  <a:lnTo>
                    <a:pt x="2078" y="227"/>
                  </a:lnTo>
                  <a:lnTo>
                    <a:pt x="2090" y="227"/>
                  </a:lnTo>
                  <a:lnTo>
                    <a:pt x="2096" y="233"/>
                  </a:lnTo>
                  <a:lnTo>
                    <a:pt x="2102" y="233"/>
                  </a:lnTo>
                  <a:lnTo>
                    <a:pt x="2108" y="239"/>
                  </a:lnTo>
                  <a:lnTo>
                    <a:pt x="2115" y="252"/>
                  </a:lnTo>
                  <a:lnTo>
                    <a:pt x="2115" y="252"/>
                  </a:lnTo>
                  <a:lnTo>
                    <a:pt x="2121" y="258"/>
                  </a:lnTo>
                  <a:lnTo>
                    <a:pt x="2121" y="264"/>
                  </a:lnTo>
                  <a:lnTo>
                    <a:pt x="2121" y="270"/>
                  </a:lnTo>
                  <a:lnTo>
                    <a:pt x="2121" y="276"/>
                  </a:lnTo>
                  <a:lnTo>
                    <a:pt x="2121" y="282"/>
                  </a:lnTo>
                  <a:lnTo>
                    <a:pt x="2121" y="288"/>
                  </a:lnTo>
                  <a:lnTo>
                    <a:pt x="2115" y="295"/>
                  </a:lnTo>
                  <a:lnTo>
                    <a:pt x="2115" y="301"/>
                  </a:lnTo>
                  <a:lnTo>
                    <a:pt x="2108" y="307"/>
                  </a:lnTo>
                  <a:lnTo>
                    <a:pt x="2102" y="307"/>
                  </a:lnTo>
                  <a:lnTo>
                    <a:pt x="2096" y="313"/>
                  </a:lnTo>
                  <a:lnTo>
                    <a:pt x="2090" y="313"/>
                  </a:lnTo>
                  <a:lnTo>
                    <a:pt x="2084" y="319"/>
                  </a:lnTo>
                  <a:lnTo>
                    <a:pt x="2078" y="319"/>
                  </a:lnTo>
                  <a:lnTo>
                    <a:pt x="2072" y="319"/>
                  </a:lnTo>
                  <a:lnTo>
                    <a:pt x="2066" y="319"/>
                  </a:lnTo>
                  <a:lnTo>
                    <a:pt x="2059" y="319"/>
                  </a:lnTo>
                  <a:lnTo>
                    <a:pt x="2059" y="313"/>
                  </a:lnTo>
                  <a:lnTo>
                    <a:pt x="2053" y="313"/>
                  </a:lnTo>
                  <a:lnTo>
                    <a:pt x="2053" y="313"/>
                  </a:lnTo>
                  <a:close/>
                  <a:moveTo>
                    <a:pt x="2213" y="313"/>
                  </a:moveTo>
                  <a:lnTo>
                    <a:pt x="2207" y="307"/>
                  </a:lnTo>
                  <a:lnTo>
                    <a:pt x="2200" y="307"/>
                  </a:lnTo>
                  <a:lnTo>
                    <a:pt x="2200" y="301"/>
                  </a:lnTo>
                  <a:lnTo>
                    <a:pt x="2194" y="301"/>
                  </a:lnTo>
                  <a:lnTo>
                    <a:pt x="2194" y="295"/>
                  </a:lnTo>
                  <a:lnTo>
                    <a:pt x="2188" y="288"/>
                  </a:lnTo>
                  <a:lnTo>
                    <a:pt x="2188" y="282"/>
                  </a:lnTo>
                  <a:lnTo>
                    <a:pt x="2188" y="282"/>
                  </a:lnTo>
                  <a:lnTo>
                    <a:pt x="2188" y="276"/>
                  </a:lnTo>
                  <a:lnTo>
                    <a:pt x="2188" y="270"/>
                  </a:lnTo>
                  <a:lnTo>
                    <a:pt x="2188" y="264"/>
                  </a:lnTo>
                  <a:lnTo>
                    <a:pt x="2188" y="258"/>
                  </a:lnTo>
                  <a:lnTo>
                    <a:pt x="2194" y="252"/>
                  </a:lnTo>
                  <a:lnTo>
                    <a:pt x="2194" y="252"/>
                  </a:lnTo>
                  <a:lnTo>
                    <a:pt x="2194" y="245"/>
                  </a:lnTo>
                  <a:lnTo>
                    <a:pt x="2200" y="239"/>
                  </a:lnTo>
                  <a:lnTo>
                    <a:pt x="2207" y="239"/>
                  </a:lnTo>
                  <a:lnTo>
                    <a:pt x="2213" y="233"/>
                  </a:lnTo>
                  <a:lnTo>
                    <a:pt x="2219" y="227"/>
                  </a:lnTo>
                  <a:lnTo>
                    <a:pt x="2225" y="227"/>
                  </a:lnTo>
                  <a:lnTo>
                    <a:pt x="2231" y="227"/>
                  </a:lnTo>
                  <a:lnTo>
                    <a:pt x="2237" y="227"/>
                  </a:lnTo>
                  <a:lnTo>
                    <a:pt x="2243" y="227"/>
                  </a:lnTo>
                  <a:lnTo>
                    <a:pt x="2249" y="233"/>
                  </a:lnTo>
                  <a:lnTo>
                    <a:pt x="2256" y="233"/>
                  </a:lnTo>
                  <a:lnTo>
                    <a:pt x="2262" y="239"/>
                  </a:lnTo>
                  <a:lnTo>
                    <a:pt x="2268" y="239"/>
                  </a:lnTo>
                  <a:lnTo>
                    <a:pt x="2274" y="245"/>
                  </a:lnTo>
                  <a:lnTo>
                    <a:pt x="2274" y="252"/>
                  </a:lnTo>
                  <a:lnTo>
                    <a:pt x="2280" y="258"/>
                  </a:lnTo>
                  <a:lnTo>
                    <a:pt x="2280" y="264"/>
                  </a:lnTo>
                  <a:lnTo>
                    <a:pt x="2280" y="270"/>
                  </a:lnTo>
                  <a:lnTo>
                    <a:pt x="2280" y="276"/>
                  </a:lnTo>
                  <a:lnTo>
                    <a:pt x="2280" y="282"/>
                  </a:lnTo>
                  <a:lnTo>
                    <a:pt x="2274" y="288"/>
                  </a:lnTo>
                  <a:lnTo>
                    <a:pt x="2274" y="295"/>
                  </a:lnTo>
                  <a:lnTo>
                    <a:pt x="2268" y="301"/>
                  </a:lnTo>
                  <a:lnTo>
                    <a:pt x="2268" y="307"/>
                  </a:lnTo>
                  <a:lnTo>
                    <a:pt x="2262" y="307"/>
                  </a:lnTo>
                  <a:lnTo>
                    <a:pt x="2256" y="313"/>
                  </a:lnTo>
                  <a:lnTo>
                    <a:pt x="2256" y="313"/>
                  </a:lnTo>
                  <a:lnTo>
                    <a:pt x="2249" y="319"/>
                  </a:lnTo>
                  <a:lnTo>
                    <a:pt x="2243" y="319"/>
                  </a:lnTo>
                  <a:lnTo>
                    <a:pt x="2237" y="319"/>
                  </a:lnTo>
                  <a:lnTo>
                    <a:pt x="2231" y="319"/>
                  </a:lnTo>
                  <a:lnTo>
                    <a:pt x="2225" y="319"/>
                  </a:lnTo>
                  <a:lnTo>
                    <a:pt x="2219" y="313"/>
                  </a:lnTo>
                  <a:lnTo>
                    <a:pt x="2213" y="313"/>
                  </a:lnTo>
                  <a:lnTo>
                    <a:pt x="2213" y="313"/>
                  </a:lnTo>
                  <a:close/>
                  <a:moveTo>
                    <a:pt x="2605" y="1967"/>
                  </a:moveTo>
                  <a:lnTo>
                    <a:pt x="2605" y="1839"/>
                  </a:lnTo>
                  <a:lnTo>
                    <a:pt x="3003" y="1839"/>
                  </a:lnTo>
                  <a:lnTo>
                    <a:pt x="3408" y="1839"/>
                  </a:lnTo>
                  <a:lnTo>
                    <a:pt x="3408" y="1961"/>
                  </a:lnTo>
                  <a:lnTo>
                    <a:pt x="3402" y="2090"/>
                  </a:lnTo>
                  <a:lnTo>
                    <a:pt x="3003" y="2090"/>
                  </a:lnTo>
                  <a:lnTo>
                    <a:pt x="2605" y="2090"/>
                  </a:lnTo>
                  <a:lnTo>
                    <a:pt x="2605" y="1967"/>
                  </a:lnTo>
                  <a:lnTo>
                    <a:pt x="2605" y="1967"/>
                  </a:lnTo>
                  <a:close/>
                  <a:moveTo>
                    <a:pt x="141" y="1716"/>
                  </a:moveTo>
                  <a:lnTo>
                    <a:pt x="135" y="1716"/>
                  </a:lnTo>
                  <a:lnTo>
                    <a:pt x="135" y="1716"/>
                  </a:lnTo>
                  <a:lnTo>
                    <a:pt x="129" y="1710"/>
                  </a:lnTo>
                  <a:lnTo>
                    <a:pt x="123" y="1704"/>
                  </a:lnTo>
                  <a:lnTo>
                    <a:pt x="123" y="1698"/>
                  </a:lnTo>
                  <a:lnTo>
                    <a:pt x="117" y="1698"/>
                  </a:lnTo>
                  <a:lnTo>
                    <a:pt x="117" y="1698"/>
                  </a:lnTo>
                  <a:lnTo>
                    <a:pt x="117" y="1692"/>
                  </a:lnTo>
                  <a:lnTo>
                    <a:pt x="117" y="1686"/>
                  </a:lnTo>
                  <a:lnTo>
                    <a:pt x="117" y="1673"/>
                  </a:lnTo>
                  <a:lnTo>
                    <a:pt x="117" y="1667"/>
                  </a:lnTo>
                  <a:lnTo>
                    <a:pt x="117" y="1655"/>
                  </a:lnTo>
                  <a:lnTo>
                    <a:pt x="117" y="1643"/>
                  </a:lnTo>
                  <a:lnTo>
                    <a:pt x="117" y="1630"/>
                  </a:lnTo>
                  <a:lnTo>
                    <a:pt x="117" y="1612"/>
                  </a:lnTo>
                  <a:lnTo>
                    <a:pt x="117" y="1600"/>
                  </a:lnTo>
                  <a:lnTo>
                    <a:pt x="117" y="1581"/>
                  </a:lnTo>
                  <a:lnTo>
                    <a:pt x="117" y="1563"/>
                  </a:lnTo>
                  <a:lnTo>
                    <a:pt x="117" y="1545"/>
                  </a:lnTo>
                  <a:lnTo>
                    <a:pt x="117" y="1526"/>
                  </a:lnTo>
                  <a:lnTo>
                    <a:pt x="117" y="1502"/>
                  </a:lnTo>
                  <a:lnTo>
                    <a:pt x="117" y="1483"/>
                  </a:lnTo>
                  <a:lnTo>
                    <a:pt x="117" y="1459"/>
                  </a:lnTo>
                  <a:lnTo>
                    <a:pt x="117" y="1434"/>
                  </a:lnTo>
                  <a:lnTo>
                    <a:pt x="117" y="1410"/>
                  </a:lnTo>
                  <a:lnTo>
                    <a:pt x="117" y="1385"/>
                  </a:lnTo>
                  <a:lnTo>
                    <a:pt x="117" y="1361"/>
                  </a:lnTo>
                  <a:lnTo>
                    <a:pt x="117" y="1330"/>
                  </a:lnTo>
                  <a:lnTo>
                    <a:pt x="117" y="1306"/>
                  </a:lnTo>
                  <a:lnTo>
                    <a:pt x="117" y="1250"/>
                  </a:lnTo>
                  <a:lnTo>
                    <a:pt x="117" y="1195"/>
                  </a:lnTo>
                  <a:lnTo>
                    <a:pt x="117" y="1140"/>
                  </a:lnTo>
                  <a:lnTo>
                    <a:pt x="117" y="1079"/>
                  </a:lnTo>
                  <a:lnTo>
                    <a:pt x="117" y="1024"/>
                  </a:lnTo>
                  <a:lnTo>
                    <a:pt x="117" y="969"/>
                  </a:lnTo>
                  <a:lnTo>
                    <a:pt x="117" y="913"/>
                  </a:lnTo>
                  <a:lnTo>
                    <a:pt x="117" y="858"/>
                  </a:lnTo>
                  <a:lnTo>
                    <a:pt x="117" y="828"/>
                  </a:lnTo>
                  <a:lnTo>
                    <a:pt x="117" y="803"/>
                  </a:lnTo>
                  <a:lnTo>
                    <a:pt x="117" y="779"/>
                  </a:lnTo>
                  <a:lnTo>
                    <a:pt x="117" y="754"/>
                  </a:lnTo>
                  <a:lnTo>
                    <a:pt x="117" y="730"/>
                  </a:lnTo>
                  <a:lnTo>
                    <a:pt x="117" y="705"/>
                  </a:lnTo>
                  <a:lnTo>
                    <a:pt x="117" y="681"/>
                  </a:lnTo>
                  <a:lnTo>
                    <a:pt x="117" y="662"/>
                  </a:lnTo>
                  <a:lnTo>
                    <a:pt x="117" y="638"/>
                  </a:lnTo>
                  <a:lnTo>
                    <a:pt x="117" y="619"/>
                  </a:lnTo>
                  <a:lnTo>
                    <a:pt x="117" y="601"/>
                  </a:lnTo>
                  <a:lnTo>
                    <a:pt x="117" y="583"/>
                  </a:lnTo>
                  <a:lnTo>
                    <a:pt x="117" y="564"/>
                  </a:lnTo>
                  <a:lnTo>
                    <a:pt x="117" y="546"/>
                  </a:lnTo>
                  <a:lnTo>
                    <a:pt x="117" y="533"/>
                  </a:lnTo>
                  <a:lnTo>
                    <a:pt x="117" y="521"/>
                  </a:lnTo>
                  <a:lnTo>
                    <a:pt x="117" y="509"/>
                  </a:lnTo>
                  <a:lnTo>
                    <a:pt x="117" y="497"/>
                  </a:lnTo>
                  <a:lnTo>
                    <a:pt x="117" y="484"/>
                  </a:lnTo>
                  <a:lnTo>
                    <a:pt x="117" y="478"/>
                  </a:lnTo>
                  <a:lnTo>
                    <a:pt x="117" y="472"/>
                  </a:lnTo>
                  <a:lnTo>
                    <a:pt x="117" y="466"/>
                  </a:lnTo>
                  <a:lnTo>
                    <a:pt x="117" y="466"/>
                  </a:lnTo>
                  <a:lnTo>
                    <a:pt x="117" y="460"/>
                  </a:lnTo>
                  <a:lnTo>
                    <a:pt x="123" y="460"/>
                  </a:lnTo>
                  <a:lnTo>
                    <a:pt x="123" y="460"/>
                  </a:lnTo>
                  <a:lnTo>
                    <a:pt x="129" y="454"/>
                  </a:lnTo>
                  <a:lnTo>
                    <a:pt x="129" y="448"/>
                  </a:lnTo>
                  <a:lnTo>
                    <a:pt x="135" y="442"/>
                  </a:lnTo>
                  <a:lnTo>
                    <a:pt x="135" y="442"/>
                  </a:lnTo>
                  <a:lnTo>
                    <a:pt x="141" y="442"/>
                  </a:lnTo>
                  <a:lnTo>
                    <a:pt x="141" y="442"/>
                  </a:lnTo>
                  <a:lnTo>
                    <a:pt x="147" y="442"/>
                  </a:lnTo>
                  <a:lnTo>
                    <a:pt x="153" y="442"/>
                  </a:lnTo>
                  <a:lnTo>
                    <a:pt x="153" y="442"/>
                  </a:lnTo>
                  <a:lnTo>
                    <a:pt x="160" y="442"/>
                  </a:lnTo>
                  <a:lnTo>
                    <a:pt x="166" y="442"/>
                  </a:lnTo>
                  <a:lnTo>
                    <a:pt x="166" y="442"/>
                  </a:lnTo>
                  <a:lnTo>
                    <a:pt x="178" y="435"/>
                  </a:lnTo>
                  <a:lnTo>
                    <a:pt x="184" y="435"/>
                  </a:lnTo>
                  <a:lnTo>
                    <a:pt x="190" y="435"/>
                  </a:lnTo>
                  <a:lnTo>
                    <a:pt x="196" y="435"/>
                  </a:lnTo>
                  <a:lnTo>
                    <a:pt x="209" y="435"/>
                  </a:lnTo>
                  <a:lnTo>
                    <a:pt x="221" y="435"/>
                  </a:lnTo>
                  <a:lnTo>
                    <a:pt x="227" y="435"/>
                  </a:lnTo>
                  <a:lnTo>
                    <a:pt x="245" y="435"/>
                  </a:lnTo>
                  <a:lnTo>
                    <a:pt x="258" y="435"/>
                  </a:lnTo>
                  <a:lnTo>
                    <a:pt x="270" y="435"/>
                  </a:lnTo>
                  <a:lnTo>
                    <a:pt x="288" y="435"/>
                  </a:lnTo>
                  <a:lnTo>
                    <a:pt x="307" y="435"/>
                  </a:lnTo>
                  <a:lnTo>
                    <a:pt x="325" y="435"/>
                  </a:lnTo>
                  <a:lnTo>
                    <a:pt x="350" y="435"/>
                  </a:lnTo>
                  <a:lnTo>
                    <a:pt x="368" y="435"/>
                  </a:lnTo>
                  <a:lnTo>
                    <a:pt x="392" y="435"/>
                  </a:lnTo>
                  <a:lnTo>
                    <a:pt x="417" y="435"/>
                  </a:lnTo>
                  <a:lnTo>
                    <a:pt x="448" y="435"/>
                  </a:lnTo>
                  <a:lnTo>
                    <a:pt x="478" y="435"/>
                  </a:lnTo>
                  <a:lnTo>
                    <a:pt x="803" y="435"/>
                  </a:lnTo>
                  <a:lnTo>
                    <a:pt x="803" y="515"/>
                  </a:lnTo>
                  <a:lnTo>
                    <a:pt x="803" y="595"/>
                  </a:lnTo>
                  <a:lnTo>
                    <a:pt x="521" y="595"/>
                  </a:lnTo>
                  <a:lnTo>
                    <a:pt x="503" y="595"/>
                  </a:lnTo>
                  <a:lnTo>
                    <a:pt x="478" y="595"/>
                  </a:lnTo>
                  <a:lnTo>
                    <a:pt x="460" y="595"/>
                  </a:lnTo>
                  <a:lnTo>
                    <a:pt x="442" y="595"/>
                  </a:lnTo>
                  <a:lnTo>
                    <a:pt x="423" y="595"/>
                  </a:lnTo>
                  <a:lnTo>
                    <a:pt x="411" y="595"/>
                  </a:lnTo>
                  <a:lnTo>
                    <a:pt x="392" y="595"/>
                  </a:lnTo>
                  <a:lnTo>
                    <a:pt x="380" y="595"/>
                  </a:lnTo>
                  <a:lnTo>
                    <a:pt x="362" y="595"/>
                  </a:lnTo>
                  <a:lnTo>
                    <a:pt x="350" y="595"/>
                  </a:lnTo>
                  <a:lnTo>
                    <a:pt x="337" y="595"/>
                  </a:lnTo>
                  <a:lnTo>
                    <a:pt x="331" y="595"/>
                  </a:lnTo>
                  <a:lnTo>
                    <a:pt x="319" y="595"/>
                  </a:lnTo>
                  <a:lnTo>
                    <a:pt x="307" y="595"/>
                  </a:lnTo>
                  <a:lnTo>
                    <a:pt x="301" y="595"/>
                  </a:lnTo>
                  <a:lnTo>
                    <a:pt x="288" y="595"/>
                  </a:lnTo>
                  <a:lnTo>
                    <a:pt x="282" y="595"/>
                  </a:lnTo>
                  <a:lnTo>
                    <a:pt x="276" y="595"/>
                  </a:lnTo>
                  <a:lnTo>
                    <a:pt x="270" y="595"/>
                  </a:lnTo>
                  <a:lnTo>
                    <a:pt x="264" y="595"/>
                  </a:lnTo>
                  <a:lnTo>
                    <a:pt x="258" y="595"/>
                  </a:lnTo>
                  <a:lnTo>
                    <a:pt x="252" y="595"/>
                  </a:lnTo>
                  <a:lnTo>
                    <a:pt x="252" y="595"/>
                  </a:lnTo>
                  <a:lnTo>
                    <a:pt x="245" y="595"/>
                  </a:lnTo>
                  <a:lnTo>
                    <a:pt x="239" y="595"/>
                  </a:lnTo>
                  <a:lnTo>
                    <a:pt x="233" y="601"/>
                  </a:lnTo>
                  <a:lnTo>
                    <a:pt x="233" y="601"/>
                  </a:lnTo>
                  <a:lnTo>
                    <a:pt x="233" y="601"/>
                  </a:lnTo>
                  <a:lnTo>
                    <a:pt x="227" y="601"/>
                  </a:lnTo>
                  <a:lnTo>
                    <a:pt x="227" y="601"/>
                  </a:lnTo>
                  <a:lnTo>
                    <a:pt x="227" y="607"/>
                  </a:lnTo>
                  <a:lnTo>
                    <a:pt x="227" y="607"/>
                  </a:lnTo>
                  <a:lnTo>
                    <a:pt x="227" y="613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7" y="625"/>
                  </a:lnTo>
                  <a:lnTo>
                    <a:pt x="227" y="638"/>
                  </a:lnTo>
                  <a:lnTo>
                    <a:pt x="227" y="644"/>
                  </a:lnTo>
                  <a:lnTo>
                    <a:pt x="227" y="656"/>
                  </a:lnTo>
                  <a:lnTo>
                    <a:pt x="227" y="668"/>
                  </a:lnTo>
                  <a:lnTo>
                    <a:pt x="227" y="681"/>
                  </a:lnTo>
                  <a:lnTo>
                    <a:pt x="227" y="693"/>
                  </a:lnTo>
                  <a:lnTo>
                    <a:pt x="227" y="705"/>
                  </a:lnTo>
                  <a:lnTo>
                    <a:pt x="227" y="711"/>
                  </a:lnTo>
                  <a:lnTo>
                    <a:pt x="227" y="723"/>
                  </a:lnTo>
                  <a:lnTo>
                    <a:pt x="227" y="730"/>
                  </a:lnTo>
                  <a:lnTo>
                    <a:pt x="227" y="748"/>
                  </a:lnTo>
                  <a:lnTo>
                    <a:pt x="227" y="760"/>
                  </a:lnTo>
                  <a:lnTo>
                    <a:pt x="227" y="772"/>
                  </a:lnTo>
                  <a:lnTo>
                    <a:pt x="227" y="779"/>
                  </a:lnTo>
                  <a:lnTo>
                    <a:pt x="227" y="791"/>
                  </a:lnTo>
                  <a:lnTo>
                    <a:pt x="227" y="797"/>
                  </a:lnTo>
                  <a:lnTo>
                    <a:pt x="227" y="803"/>
                  </a:lnTo>
                  <a:lnTo>
                    <a:pt x="227" y="809"/>
                  </a:lnTo>
                  <a:lnTo>
                    <a:pt x="227" y="815"/>
                  </a:lnTo>
                  <a:lnTo>
                    <a:pt x="227" y="815"/>
                  </a:lnTo>
                  <a:lnTo>
                    <a:pt x="227" y="822"/>
                  </a:lnTo>
                  <a:lnTo>
                    <a:pt x="227" y="822"/>
                  </a:lnTo>
                  <a:lnTo>
                    <a:pt x="227" y="828"/>
                  </a:lnTo>
                  <a:lnTo>
                    <a:pt x="233" y="828"/>
                  </a:lnTo>
                  <a:lnTo>
                    <a:pt x="233" y="828"/>
                  </a:lnTo>
                  <a:lnTo>
                    <a:pt x="233" y="828"/>
                  </a:lnTo>
                  <a:lnTo>
                    <a:pt x="239" y="828"/>
                  </a:lnTo>
                  <a:lnTo>
                    <a:pt x="245" y="828"/>
                  </a:lnTo>
                  <a:lnTo>
                    <a:pt x="252" y="828"/>
                  </a:lnTo>
                  <a:lnTo>
                    <a:pt x="252" y="828"/>
                  </a:lnTo>
                  <a:lnTo>
                    <a:pt x="258" y="828"/>
                  </a:lnTo>
                  <a:lnTo>
                    <a:pt x="264" y="834"/>
                  </a:lnTo>
                  <a:lnTo>
                    <a:pt x="270" y="834"/>
                  </a:lnTo>
                  <a:lnTo>
                    <a:pt x="276" y="834"/>
                  </a:lnTo>
                  <a:lnTo>
                    <a:pt x="282" y="834"/>
                  </a:lnTo>
                  <a:lnTo>
                    <a:pt x="288" y="834"/>
                  </a:lnTo>
                  <a:lnTo>
                    <a:pt x="301" y="834"/>
                  </a:lnTo>
                  <a:lnTo>
                    <a:pt x="307" y="834"/>
                  </a:lnTo>
                  <a:lnTo>
                    <a:pt x="319" y="834"/>
                  </a:lnTo>
                  <a:lnTo>
                    <a:pt x="331" y="834"/>
                  </a:lnTo>
                  <a:lnTo>
                    <a:pt x="337" y="834"/>
                  </a:lnTo>
                  <a:lnTo>
                    <a:pt x="350" y="834"/>
                  </a:lnTo>
                  <a:lnTo>
                    <a:pt x="362" y="834"/>
                  </a:lnTo>
                  <a:lnTo>
                    <a:pt x="380" y="834"/>
                  </a:lnTo>
                  <a:lnTo>
                    <a:pt x="392" y="834"/>
                  </a:lnTo>
                  <a:lnTo>
                    <a:pt x="411" y="834"/>
                  </a:lnTo>
                  <a:lnTo>
                    <a:pt x="423" y="834"/>
                  </a:lnTo>
                  <a:lnTo>
                    <a:pt x="442" y="834"/>
                  </a:lnTo>
                  <a:lnTo>
                    <a:pt x="460" y="834"/>
                  </a:lnTo>
                  <a:lnTo>
                    <a:pt x="478" y="834"/>
                  </a:lnTo>
                  <a:lnTo>
                    <a:pt x="503" y="834"/>
                  </a:lnTo>
                  <a:lnTo>
                    <a:pt x="521" y="834"/>
                  </a:lnTo>
                  <a:lnTo>
                    <a:pt x="803" y="834"/>
                  </a:lnTo>
                  <a:lnTo>
                    <a:pt x="803" y="907"/>
                  </a:lnTo>
                  <a:lnTo>
                    <a:pt x="803" y="981"/>
                  </a:lnTo>
                  <a:lnTo>
                    <a:pt x="521" y="981"/>
                  </a:lnTo>
                  <a:lnTo>
                    <a:pt x="503" y="981"/>
                  </a:lnTo>
                  <a:lnTo>
                    <a:pt x="484" y="981"/>
                  </a:lnTo>
                  <a:lnTo>
                    <a:pt x="466" y="981"/>
                  </a:lnTo>
                  <a:lnTo>
                    <a:pt x="448" y="981"/>
                  </a:lnTo>
                  <a:lnTo>
                    <a:pt x="429" y="981"/>
                  </a:lnTo>
                  <a:lnTo>
                    <a:pt x="411" y="981"/>
                  </a:lnTo>
                  <a:lnTo>
                    <a:pt x="399" y="981"/>
                  </a:lnTo>
                  <a:lnTo>
                    <a:pt x="386" y="981"/>
                  </a:lnTo>
                  <a:lnTo>
                    <a:pt x="368" y="981"/>
                  </a:lnTo>
                  <a:lnTo>
                    <a:pt x="356" y="981"/>
                  </a:lnTo>
                  <a:lnTo>
                    <a:pt x="343" y="981"/>
                  </a:lnTo>
                  <a:lnTo>
                    <a:pt x="331" y="981"/>
                  </a:lnTo>
                  <a:lnTo>
                    <a:pt x="325" y="981"/>
                  </a:lnTo>
                  <a:lnTo>
                    <a:pt x="313" y="981"/>
                  </a:lnTo>
                  <a:lnTo>
                    <a:pt x="307" y="981"/>
                  </a:lnTo>
                  <a:lnTo>
                    <a:pt x="294" y="981"/>
                  </a:lnTo>
                  <a:lnTo>
                    <a:pt x="288" y="981"/>
                  </a:lnTo>
                  <a:lnTo>
                    <a:pt x="282" y="981"/>
                  </a:lnTo>
                  <a:lnTo>
                    <a:pt x="276" y="981"/>
                  </a:lnTo>
                  <a:lnTo>
                    <a:pt x="270" y="981"/>
                  </a:lnTo>
                  <a:lnTo>
                    <a:pt x="264" y="981"/>
                  </a:lnTo>
                  <a:lnTo>
                    <a:pt x="258" y="981"/>
                  </a:lnTo>
                  <a:lnTo>
                    <a:pt x="252" y="981"/>
                  </a:lnTo>
                  <a:lnTo>
                    <a:pt x="245" y="981"/>
                  </a:lnTo>
                  <a:lnTo>
                    <a:pt x="245" y="981"/>
                  </a:lnTo>
                  <a:lnTo>
                    <a:pt x="239" y="981"/>
                  </a:lnTo>
                  <a:lnTo>
                    <a:pt x="239" y="981"/>
                  </a:lnTo>
                  <a:lnTo>
                    <a:pt x="233" y="987"/>
                  </a:lnTo>
                  <a:lnTo>
                    <a:pt x="233" y="987"/>
                  </a:lnTo>
                  <a:lnTo>
                    <a:pt x="227" y="987"/>
                  </a:lnTo>
                  <a:lnTo>
                    <a:pt x="227" y="987"/>
                  </a:lnTo>
                  <a:lnTo>
                    <a:pt x="227" y="993"/>
                  </a:lnTo>
                  <a:lnTo>
                    <a:pt x="227" y="993"/>
                  </a:lnTo>
                  <a:lnTo>
                    <a:pt x="227" y="993"/>
                  </a:lnTo>
                  <a:lnTo>
                    <a:pt x="227" y="999"/>
                  </a:lnTo>
                  <a:lnTo>
                    <a:pt x="227" y="1005"/>
                  </a:lnTo>
                  <a:lnTo>
                    <a:pt x="227" y="1011"/>
                  </a:lnTo>
                  <a:lnTo>
                    <a:pt x="227" y="1018"/>
                  </a:lnTo>
                  <a:lnTo>
                    <a:pt x="227" y="1030"/>
                  </a:lnTo>
                  <a:lnTo>
                    <a:pt x="227" y="1042"/>
                  </a:lnTo>
                  <a:lnTo>
                    <a:pt x="227" y="1054"/>
                  </a:lnTo>
                  <a:lnTo>
                    <a:pt x="227" y="1067"/>
                  </a:lnTo>
                  <a:lnTo>
                    <a:pt x="227" y="1073"/>
                  </a:lnTo>
                  <a:lnTo>
                    <a:pt x="227" y="1079"/>
                  </a:lnTo>
                  <a:lnTo>
                    <a:pt x="227" y="1091"/>
                  </a:lnTo>
                  <a:lnTo>
                    <a:pt x="227" y="1097"/>
                  </a:lnTo>
                  <a:lnTo>
                    <a:pt x="227" y="1208"/>
                  </a:lnTo>
                  <a:lnTo>
                    <a:pt x="239" y="1214"/>
                  </a:lnTo>
                  <a:lnTo>
                    <a:pt x="239" y="1214"/>
                  </a:lnTo>
                  <a:lnTo>
                    <a:pt x="245" y="1214"/>
                  </a:lnTo>
                  <a:lnTo>
                    <a:pt x="245" y="1214"/>
                  </a:lnTo>
                  <a:lnTo>
                    <a:pt x="252" y="1214"/>
                  </a:lnTo>
                  <a:lnTo>
                    <a:pt x="258" y="1214"/>
                  </a:lnTo>
                  <a:lnTo>
                    <a:pt x="264" y="1214"/>
                  </a:lnTo>
                  <a:lnTo>
                    <a:pt x="270" y="1214"/>
                  </a:lnTo>
                  <a:lnTo>
                    <a:pt x="276" y="1214"/>
                  </a:lnTo>
                  <a:lnTo>
                    <a:pt x="282" y="1214"/>
                  </a:lnTo>
                  <a:lnTo>
                    <a:pt x="288" y="1214"/>
                  </a:lnTo>
                  <a:lnTo>
                    <a:pt x="294" y="1214"/>
                  </a:lnTo>
                  <a:lnTo>
                    <a:pt x="301" y="1214"/>
                  </a:lnTo>
                  <a:lnTo>
                    <a:pt x="313" y="1214"/>
                  </a:lnTo>
                  <a:lnTo>
                    <a:pt x="319" y="1220"/>
                  </a:lnTo>
                  <a:lnTo>
                    <a:pt x="331" y="1220"/>
                  </a:lnTo>
                  <a:lnTo>
                    <a:pt x="337" y="1220"/>
                  </a:lnTo>
                  <a:lnTo>
                    <a:pt x="350" y="1220"/>
                  </a:lnTo>
                  <a:lnTo>
                    <a:pt x="362" y="1220"/>
                  </a:lnTo>
                  <a:lnTo>
                    <a:pt x="374" y="1220"/>
                  </a:lnTo>
                  <a:lnTo>
                    <a:pt x="386" y="1220"/>
                  </a:lnTo>
                  <a:lnTo>
                    <a:pt x="405" y="1220"/>
                  </a:lnTo>
                  <a:lnTo>
                    <a:pt x="417" y="1220"/>
                  </a:lnTo>
                  <a:lnTo>
                    <a:pt x="435" y="1220"/>
                  </a:lnTo>
                  <a:lnTo>
                    <a:pt x="448" y="1220"/>
                  </a:lnTo>
                  <a:lnTo>
                    <a:pt x="466" y="1220"/>
                  </a:lnTo>
                  <a:lnTo>
                    <a:pt x="484" y="1220"/>
                  </a:lnTo>
                  <a:lnTo>
                    <a:pt x="503" y="1220"/>
                  </a:lnTo>
                  <a:lnTo>
                    <a:pt x="527" y="1220"/>
                  </a:lnTo>
                  <a:lnTo>
                    <a:pt x="803" y="1220"/>
                  </a:lnTo>
                  <a:lnTo>
                    <a:pt x="803" y="1293"/>
                  </a:lnTo>
                  <a:lnTo>
                    <a:pt x="803" y="1361"/>
                  </a:lnTo>
                  <a:lnTo>
                    <a:pt x="521" y="1367"/>
                  </a:lnTo>
                  <a:lnTo>
                    <a:pt x="497" y="1367"/>
                  </a:lnTo>
                  <a:lnTo>
                    <a:pt x="478" y="1367"/>
                  </a:lnTo>
                  <a:lnTo>
                    <a:pt x="460" y="1367"/>
                  </a:lnTo>
                  <a:lnTo>
                    <a:pt x="442" y="1367"/>
                  </a:lnTo>
                  <a:lnTo>
                    <a:pt x="423" y="1367"/>
                  </a:lnTo>
                  <a:lnTo>
                    <a:pt x="405" y="1367"/>
                  </a:lnTo>
                  <a:lnTo>
                    <a:pt x="392" y="1367"/>
                  </a:lnTo>
                  <a:lnTo>
                    <a:pt x="374" y="1367"/>
                  </a:lnTo>
                  <a:lnTo>
                    <a:pt x="362" y="1367"/>
                  </a:lnTo>
                  <a:lnTo>
                    <a:pt x="350" y="1367"/>
                  </a:lnTo>
                  <a:lnTo>
                    <a:pt x="337" y="1367"/>
                  </a:lnTo>
                  <a:lnTo>
                    <a:pt x="325" y="1367"/>
                  </a:lnTo>
                  <a:lnTo>
                    <a:pt x="319" y="1367"/>
                  </a:lnTo>
                  <a:lnTo>
                    <a:pt x="307" y="1367"/>
                  </a:lnTo>
                  <a:lnTo>
                    <a:pt x="301" y="1367"/>
                  </a:lnTo>
                  <a:lnTo>
                    <a:pt x="288" y="1367"/>
                  </a:lnTo>
                  <a:lnTo>
                    <a:pt x="282" y="1367"/>
                  </a:lnTo>
                  <a:lnTo>
                    <a:pt x="276" y="1367"/>
                  </a:lnTo>
                  <a:lnTo>
                    <a:pt x="270" y="1367"/>
                  </a:lnTo>
                  <a:lnTo>
                    <a:pt x="264" y="1367"/>
                  </a:lnTo>
                  <a:lnTo>
                    <a:pt x="258" y="1367"/>
                  </a:lnTo>
                  <a:lnTo>
                    <a:pt x="252" y="1367"/>
                  </a:lnTo>
                  <a:lnTo>
                    <a:pt x="252" y="1367"/>
                  </a:lnTo>
                  <a:lnTo>
                    <a:pt x="245" y="1367"/>
                  </a:lnTo>
                  <a:lnTo>
                    <a:pt x="239" y="1367"/>
                  </a:lnTo>
                  <a:lnTo>
                    <a:pt x="233" y="1367"/>
                  </a:lnTo>
                  <a:lnTo>
                    <a:pt x="233" y="1367"/>
                  </a:lnTo>
                  <a:lnTo>
                    <a:pt x="233" y="1373"/>
                  </a:lnTo>
                  <a:lnTo>
                    <a:pt x="227" y="1373"/>
                  </a:lnTo>
                  <a:lnTo>
                    <a:pt x="227" y="1373"/>
                  </a:lnTo>
                  <a:lnTo>
                    <a:pt x="227" y="1379"/>
                  </a:lnTo>
                  <a:lnTo>
                    <a:pt x="227" y="1379"/>
                  </a:lnTo>
                  <a:lnTo>
                    <a:pt x="227" y="1385"/>
                  </a:lnTo>
                  <a:lnTo>
                    <a:pt x="227" y="1385"/>
                  </a:lnTo>
                  <a:lnTo>
                    <a:pt x="227" y="1391"/>
                  </a:lnTo>
                  <a:lnTo>
                    <a:pt x="227" y="1398"/>
                  </a:lnTo>
                  <a:lnTo>
                    <a:pt x="227" y="1410"/>
                  </a:lnTo>
                  <a:lnTo>
                    <a:pt x="227" y="1416"/>
                  </a:lnTo>
                  <a:lnTo>
                    <a:pt x="227" y="1428"/>
                  </a:lnTo>
                  <a:lnTo>
                    <a:pt x="227" y="1440"/>
                  </a:lnTo>
                  <a:lnTo>
                    <a:pt x="227" y="1453"/>
                  </a:lnTo>
                  <a:lnTo>
                    <a:pt x="227" y="1459"/>
                  </a:lnTo>
                  <a:lnTo>
                    <a:pt x="227" y="1471"/>
                  </a:lnTo>
                  <a:lnTo>
                    <a:pt x="227" y="1477"/>
                  </a:lnTo>
                  <a:lnTo>
                    <a:pt x="227" y="1483"/>
                  </a:lnTo>
                  <a:lnTo>
                    <a:pt x="227" y="1594"/>
                  </a:lnTo>
                  <a:lnTo>
                    <a:pt x="245" y="1600"/>
                  </a:lnTo>
                  <a:lnTo>
                    <a:pt x="252" y="1600"/>
                  </a:lnTo>
                  <a:lnTo>
                    <a:pt x="258" y="1600"/>
                  </a:lnTo>
                  <a:lnTo>
                    <a:pt x="264" y="1600"/>
                  </a:lnTo>
                  <a:lnTo>
                    <a:pt x="270" y="1600"/>
                  </a:lnTo>
                  <a:lnTo>
                    <a:pt x="282" y="1606"/>
                  </a:lnTo>
                  <a:lnTo>
                    <a:pt x="288" y="1606"/>
                  </a:lnTo>
                  <a:lnTo>
                    <a:pt x="294" y="1606"/>
                  </a:lnTo>
                  <a:lnTo>
                    <a:pt x="301" y="1606"/>
                  </a:lnTo>
                  <a:lnTo>
                    <a:pt x="313" y="1606"/>
                  </a:lnTo>
                  <a:lnTo>
                    <a:pt x="319" y="1606"/>
                  </a:lnTo>
                  <a:lnTo>
                    <a:pt x="325" y="1606"/>
                  </a:lnTo>
                  <a:lnTo>
                    <a:pt x="337" y="1606"/>
                  </a:lnTo>
                  <a:lnTo>
                    <a:pt x="343" y="1606"/>
                  </a:lnTo>
                  <a:lnTo>
                    <a:pt x="356" y="1606"/>
                  </a:lnTo>
                  <a:lnTo>
                    <a:pt x="368" y="1606"/>
                  </a:lnTo>
                  <a:lnTo>
                    <a:pt x="380" y="1606"/>
                  </a:lnTo>
                  <a:lnTo>
                    <a:pt x="386" y="1606"/>
                  </a:lnTo>
                  <a:lnTo>
                    <a:pt x="399" y="1606"/>
                  </a:lnTo>
                  <a:lnTo>
                    <a:pt x="417" y="1606"/>
                  </a:lnTo>
                  <a:lnTo>
                    <a:pt x="429" y="1606"/>
                  </a:lnTo>
                  <a:lnTo>
                    <a:pt x="442" y="1606"/>
                  </a:lnTo>
                  <a:lnTo>
                    <a:pt x="454" y="1606"/>
                  </a:lnTo>
                  <a:lnTo>
                    <a:pt x="472" y="1606"/>
                  </a:lnTo>
                  <a:lnTo>
                    <a:pt x="484" y="1606"/>
                  </a:lnTo>
                  <a:lnTo>
                    <a:pt x="503" y="1606"/>
                  </a:lnTo>
                  <a:lnTo>
                    <a:pt x="521" y="1606"/>
                  </a:lnTo>
                  <a:lnTo>
                    <a:pt x="533" y="1606"/>
                  </a:lnTo>
                  <a:lnTo>
                    <a:pt x="803" y="1606"/>
                  </a:lnTo>
                  <a:lnTo>
                    <a:pt x="803" y="1667"/>
                  </a:lnTo>
                  <a:lnTo>
                    <a:pt x="803" y="1728"/>
                  </a:lnTo>
                  <a:lnTo>
                    <a:pt x="478" y="1728"/>
                  </a:lnTo>
                  <a:lnTo>
                    <a:pt x="454" y="1728"/>
                  </a:lnTo>
                  <a:lnTo>
                    <a:pt x="423" y="1728"/>
                  </a:lnTo>
                  <a:lnTo>
                    <a:pt x="399" y="1728"/>
                  </a:lnTo>
                  <a:lnTo>
                    <a:pt x="374" y="1728"/>
                  </a:lnTo>
                  <a:lnTo>
                    <a:pt x="356" y="1728"/>
                  </a:lnTo>
                  <a:lnTo>
                    <a:pt x="337" y="1728"/>
                  </a:lnTo>
                  <a:lnTo>
                    <a:pt x="313" y="1728"/>
                  </a:lnTo>
                  <a:lnTo>
                    <a:pt x="301" y="1728"/>
                  </a:lnTo>
                  <a:lnTo>
                    <a:pt x="282" y="1728"/>
                  </a:lnTo>
                  <a:lnTo>
                    <a:pt x="264" y="1722"/>
                  </a:lnTo>
                  <a:lnTo>
                    <a:pt x="252" y="1722"/>
                  </a:lnTo>
                  <a:lnTo>
                    <a:pt x="239" y="1722"/>
                  </a:lnTo>
                  <a:lnTo>
                    <a:pt x="227" y="1722"/>
                  </a:lnTo>
                  <a:lnTo>
                    <a:pt x="215" y="1722"/>
                  </a:lnTo>
                  <a:lnTo>
                    <a:pt x="209" y="1722"/>
                  </a:lnTo>
                  <a:lnTo>
                    <a:pt x="196" y="1722"/>
                  </a:lnTo>
                  <a:lnTo>
                    <a:pt x="190" y="1722"/>
                  </a:lnTo>
                  <a:lnTo>
                    <a:pt x="184" y="1722"/>
                  </a:lnTo>
                  <a:lnTo>
                    <a:pt x="178" y="1722"/>
                  </a:lnTo>
                  <a:lnTo>
                    <a:pt x="172" y="1722"/>
                  </a:lnTo>
                  <a:lnTo>
                    <a:pt x="166" y="1722"/>
                  </a:lnTo>
                  <a:lnTo>
                    <a:pt x="160" y="1722"/>
                  </a:lnTo>
                  <a:lnTo>
                    <a:pt x="160" y="1722"/>
                  </a:lnTo>
                  <a:lnTo>
                    <a:pt x="153" y="1722"/>
                  </a:lnTo>
                  <a:lnTo>
                    <a:pt x="147" y="1722"/>
                  </a:lnTo>
                  <a:lnTo>
                    <a:pt x="147" y="1722"/>
                  </a:lnTo>
                  <a:lnTo>
                    <a:pt x="141" y="1722"/>
                  </a:lnTo>
                  <a:lnTo>
                    <a:pt x="141" y="1716"/>
                  </a:lnTo>
                  <a:lnTo>
                    <a:pt x="141" y="1716"/>
                  </a:lnTo>
                  <a:close/>
                  <a:moveTo>
                    <a:pt x="2605" y="1667"/>
                  </a:moveTo>
                  <a:lnTo>
                    <a:pt x="2605" y="1606"/>
                  </a:lnTo>
                  <a:lnTo>
                    <a:pt x="2875" y="1606"/>
                  </a:lnTo>
                  <a:lnTo>
                    <a:pt x="2893" y="1606"/>
                  </a:lnTo>
                  <a:lnTo>
                    <a:pt x="2905" y="1606"/>
                  </a:lnTo>
                  <a:lnTo>
                    <a:pt x="2924" y="1606"/>
                  </a:lnTo>
                  <a:lnTo>
                    <a:pt x="2936" y="1606"/>
                  </a:lnTo>
                  <a:lnTo>
                    <a:pt x="2954" y="1606"/>
                  </a:lnTo>
                  <a:lnTo>
                    <a:pt x="2966" y="1606"/>
                  </a:lnTo>
                  <a:lnTo>
                    <a:pt x="2979" y="1606"/>
                  </a:lnTo>
                  <a:lnTo>
                    <a:pt x="2991" y="1606"/>
                  </a:lnTo>
                  <a:lnTo>
                    <a:pt x="3009" y="1606"/>
                  </a:lnTo>
                  <a:lnTo>
                    <a:pt x="3022" y="1606"/>
                  </a:lnTo>
                  <a:lnTo>
                    <a:pt x="3028" y="1606"/>
                  </a:lnTo>
                  <a:lnTo>
                    <a:pt x="3040" y="1606"/>
                  </a:lnTo>
                  <a:lnTo>
                    <a:pt x="3052" y="1606"/>
                  </a:lnTo>
                  <a:lnTo>
                    <a:pt x="3065" y="1606"/>
                  </a:lnTo>
                  <a:lnTo>
                    <a:pt x="3071" y="1606"/>
                  </a:lnTo>
                  <a:lnTo>
                    <a:pt x="3083" y="1606"/>
                  </a:lnTo>
                  <a:lnTo>
                    <a:pt x="3089" y="1606"/>
                  </a:lnTo>
                  <a:lnTo>
                    <a:pt x="3101" y="1606"/>
                  </a:lnTo>
                  <a:lnTo>
                    <a:pt x="3107" y="1606"/>
                  </a:lnTo>
                  <a:lnTo>
                    <a:pt x="3114" y="1606"/>
                  </a:lnTo>
                  <a:lnTo>
                    <a:pt x="3126" y="1606"/>
                  </a:lnTo>
                  <a:lnTo>
                    <a:pt x="3138" y="1606"/>
                  </a:lnTo>
                  <a:lnTo>
                    <a:pt x="3144" y="1600"/>
                  </a:lnTo>
                  <a:lnTo>
                    <a:pt x="3156" y="1600"/>
                  </a:lnTo>
                  <a:lnTo>
                    <a:pt x="3163" y="1600"/>
                  </a:lnTo>
                  <a:lnTo>
                    <a:pt x="3163" y="1600"/>
                  </a:lnTo>
                  <a:lnTo>
                    <a:pt x="3193" y="1600"/>
                  </a:lnTo>
                  <a:lnTo>
                    <a:pt x="3187" y="1483"/>
                  </a:lnTo>
                  <a:lnTo>
                    <a:pt x="3187" y="1367"/>
                  </a:lnTo>
                  <a:lnTo>
                    <a:pt x="3163" y="1367"/>
                  </a:lnTo>
                  <a:lnTo>
                    <a:pt x="3156" y="1367"/>
                  </a:lnTo>
                  <a:lnTo>
                    <a:pt x="3156" y="1367"/>
                  </a:lnTo>
                  <a:lnTo>
                    <a:pt x="3150" y="1367"/>
                  </a:lnTo>
                  <a:lnTo>
                    <a:pt x="3150" y="1367"/>
                  </a:lnTo>
                  <a:lnTo>
                    <a:pt x="3144" y="1367"/>
                  </a:lnTo>
                  <a:lnTo>
                    <a:pt x="3138" y="1367"/>
                  </a:lnTo>
                  <a:lnTo>
                    <a:pt x="3132" y="1367"/>
                  </a:lnTo>
                  <a:lnTo>
                    <a:pt x="3132" y="1367"/>
                  </a:lnTo>
                  <a:lnTo>
                    <a:pt x="3120" y="1367"/>
                  </a:lnTo>
                  <a:lnTo>
                    <a:pt x="3114" y="1367"/>
                  </a:lnTo>
                  <a:lnTo>
                    <a:pt x="3107" y="1367"/>
                  </a:lnTo>
                  <a:lnTo>
                    <a:pt x="3101" y="1367"/>
                  </a:lnTo>
                  <a:lnTo>
                    <a:pt x="3083" y="1367"/>
                  </a:lnTo>
                  <a:lnTo>
                    <a:pt x="3065" y="1367"/>
                  </a:lnTo>
                  <a:lnTo>
                    <a:pt x="3046" y="1367"/>
                  </a:lnTo>
                  <a:lnTo>
                    <a:pt x="3022" y="1367"/>
                  </a:lnTo>
                  <a:lnTo>
                    <a:pt x="2997" y="1367"/>
                  </a:lnTo>
                  <a:lnTo>
                    <a:pt x="2973" y="1367"/>
                  </a:lnTo>
                  <a:lnTo>
                    <a:pt x="2948" y="1367"/>
                  </a:lnTo>
                  <a:lnTo>
                    <a:pt x="2924" y="1367"/>
                  </a:lnTo>
                  <a:lnTo>
                    <a:pt x="2899" y="1367"/>
                  </a:lnTo>
                  <a:lnTo>
                    <a:pt x="2868" y="1367"/>
                  </a:lnTo>
                  <a:lnTo>
                    <a:pt x="2605" y="1367"/>
                  </a:lnTo>
                  <a:lnTo>
                    <a:pt x="2605" y="1293"/>
                  </a:lnTo>
                  <a:lnTo>
                    <a:pt x="2605" y="1220"/>
                  </a:lnTo>
                  <a:lnTo>
                    <a:pt x="2887" y="1220"/>
                  </a:lnTo>
                  <a:lnTo>
                    <a:pt x="2905" y="1220"/>
                  </a:lnTo>
                  <a:lnTo>
                    <a:pt x="2924" y="1220"/>
                  </a:lnTo>
                  <a:lnTo>
                    <a:pt x="2942" y="1220"/>
                  </a:lnTo>
                  <a:lnTo>
                    <a:pt x="2960" y="1220"/>
                  </a:lnTo>
                  <a:lnTo>
                    <a:pt x="2979" y="1220"/>
                  </a:lnTo>
                  <a:lnTo>
                    <a:pt x="2991" y="1220"/>
                  </a:lnTo>
                  <a:lnTo>
                    <a:pt x="3009" y="1220"/>
                  </a:lnTo>
                  <a:lnTo>
                    <a:pt x="3022" y="1220"/>
                  </a:lnTo>
                  <a:lnTo>
                    <a:pt x="3034" y="1220"/>
                  </a:lnTo>
                  <a:lnTo>
                    <a:pt x="3046" y="1220"/>
                  </a:lnTo>
                  <a:lnTo>
                    <a:pt x="3058" y="1220"/>
                  </a:lnTo>
                  <a:lnTo>
                    <a:pt x="3071" y="1220"/>
                  </a:lnTo>
                  <a:lnTo>
                    <a:pt x="3083" y="1220"/>
                  </a:lnTo>
                  <a:lnTo>
                    <a:pt x="3089" y="1220"/>
                  </a:lnTo>
                  <a:lnTo>
                    <a:pt x="3101" y="1220"/>
                  </a:lnTo>
                  <a:lnTo>
                    <a:pt x="3107" y="1214"/>
                  </a:lnTo>
                  <a:lnTo>
                    <a:pt x="3120" y="1214"/>
                  </a:lnTo>
                  <a:lnTo>
                    <a:pt x="3126" y="1214"/>
                  </a:lnTo>
                  <a:lnTo>
                    <a:pt x="3132" y="1214"/>
                  </a:lnTo>
                  <a:lnTo>
                    <a:pt x="3138" y="1214"/>
                  </a:lnTo>
                  <a:lnTo>
                    <a:pt x="3144" y="1214"/>
                  </a:lnTo>
                  <a:lnTo>
                    <a:pt x="3150" y="1214"/>
                  </a:lnTo>
                  <a:lnTo>
                    <a:pt x="3156" y="1214"/>
                  </a:lnTo>
                  <a:lnTo>
                    <a:pt x="3163" y="1214"/>
                  </a:lnTo>
                  <a:lnTo>
                    <a:pt x="3163" y="1214"/>
                  </a:lnTo>
                  <a:lnTo>
                    <a:pt x="3169" y="1214"/>
                  </a:lnTo>
                  <a:lnTo>
                    <a:pt x="3175" y="1214"/>
                  </a:lnTo>
                  <a:lnTo>
                    <a:pt x="3175" y="1214"/>
                  </a:lnTo>
                  <a:lnTo>
                    <a:pt x="3181" y="1214"/>
                  </a:lnTo>
                  <a:lnTo>
                    <a:pt x="3181" y="1214"/>
                  </a:lnTo>
                  <a:lnTo>
                    <a:pt x="3187" y="1208"/>
                  </a:lnTo>
                  <a:lnTo>
                    <a:pt x="3187" y="1097"/>
                  </a:lnTo>
                  <a:lnTo>
                    <a:pt x="3187" y="1085"/>
                  </a:lnTo>
                  <a:lnTo>
                    <a:pt x="3187" y="1067"/>
                  </a:lnTo>
                  <a:lnTo>
                    <a:pt x="3187" y="1054"/>
                  </a:lnTo>
                  <a:lnTo>
                    <a:pt x="3187" y="1042"/>
                  </a:lnTo>
                  <a:lnTo>
                    <a:pt x="3187" y="1036"/>
                  </a:lnTo>
                  <a:lnTo>
                    <a:pt x="3187" y="1024"/>
                  </a:lnTo>
                  <a:lnTo>
                    <a:pt x="3187" y="1018"/>
                  </a:lnTo>
                  <a:lnTo>
                    <a:pt x="3187" y="1011"/>
                  </a:lnTo>
                  <a:lnTo>
                    <a:pt x="3187" y="1005"/>
                  </a:lnTo>
                  <a:lnTo>
                    <a:pt x="3187" y="999"/>
                  </a:lnTo>
                  <a:lnTo>
                    <a:pt x="3187" y="993"/>
                  </a:lnTo>
                  <a:lnTo>
                    <a:pt x="3187" y="993"/>
                  </a:lnTo>
                  <a:lnTo>
                    <a:pt x="3187" y="987"/>
                  </a:lnTo>
                  <a:lnTo>
                    <a:pt x="3187" y="987"/>
                  </a:lnTo>
                  <a:lnTo>
                    <a:pt x="3187" y="987"/>
                  </a:lnTo>
                  <a:lnTo>
                    <a:pt x="3187" y="987"/>
                  </a:lnTo>
                  <a:lnTo>
                    <a:pt x="3187" y="987"/>
                  </a:lnTo>
                  <a:lnTo>
                    <a:pt x="3181" y="987"/>
                  </a:lnTo>
                  <a:lnTo>
                    <a:pt x="3181" y="987"/>
                  </a:lnTo>
                  <a:lnTo>
                    <a:pt x="3181" y="987"/>
                  </a:lnTo>
                  <a:lnTo>
                    <a:pt x="3175" y="987"/>
                  </a:lnTo>
                  <a:lnTo>
                    <a:pt x="3169" y="987"/>
                  </a:lnTo>
                  <a:lnTo>
                    <a:pt x="3169" y="981"/>
                  </a:lnTo>
                  <a:lnTo>
                    <a:pt x="3163" y="981"/>
                  </a:lnTo>
                  <a:lnTo>
                    <a:pt x="3156" y="981"/>
                  </a:lnTo>
                  <a:lnTo>
                    <a:pt x="3150" y="981"/>
                  </a:lnTo>
                  <a:lnTo>
                    <a:pt x="3144" y="981"/>
                  </a:lnTo>
                  <a:lnTo>
                    <a:pt x="3132" y="981"/>
                  </a:lnTo>
                  <a:lnTo>
                    <a:pt x="3126" y="981"/>
                  </a:lnTo>
                  <a:lnTo>
                    <a:pt x="3114" y="981"/>
                  </a:lnTo>
                  <a:lnTo>
                    <a:pt x="3107" y="981"/>
                  </a:lnTo>
                  <a:lnTo>
                    <a:pt x="3095" y="981"/>
                  </a:lnTo>
                  <a:lnTo>
                    <a:pt x="3077" y="981"/>
                  </a:lnTo>
                  <a:lnTo>
                    <a:pt x="3052" y="981"/>
                  </a:lnTo>
                  <a:lnTo>
                    <a:pt x="3034" y="981"/>
                  </a:lnTo>
                  <a:lnTo>
                    <a:pt x="3003" y="981"/>
                  </a:lnTo>
                  <a:lnTo>
                    <a:pt x="2979" y="981"/>
                  </a:lnTo>
                  <a:lnTo>
                    <a:pt x="2954" y="981"/>
                  </a:lnTo>
                  <a:lnTo>
                    <a:pt x="2924" y="981"/>
                  </a:lnTo>
                  <a:lnTo>
                    <a:pt x="2893" y="981"/>
                  </a:lnTo>
                  <a:lnTo>
                    <a:pt x="2605" y="981"/>
                  </a:lnTo>
                  <a:lnTo>
                    <a:pt x="2605" y="907"/>
                  </a:lnTo>
                  <a:lnTo>
                    <a:pt x="2605" y="834"/>
                  </a:lnTo>
                  <a:lnTo>
                    <a:pt x="2893" y="834"/>
                  </a:lnTo>
                  <a:lnTo>
                    <a:pt x="2924" y="834"/>
                  </a:lnTo>
                  <a:lnTo>
                    <a:pt x="2948" y="834"/>
                  </a:lnTo>
                  <a:lnTo>
                    <a:pt x="2979" y="834"/>
                  </a:lnTo>
                  <a:lnTo>
                    <a:pt x="3003" y="834"/>
                  </a:lnTo>
                  <a:lnTo>
                    <a:pt x="3028" y="834"/>
                  </a:lnTo>
                  <a:lnTo>
                    <a:pt x="3052" y="834"/>
                  </a:lnTo>
                  <a:lnTo>
                    <a:pt x="3077" y="834"/>
                  </a:lnTo>
                  <a:lnTo>
                    <a:pt x="3095" y="834"/>
                  </a:lnTo>
                  <a:lnTo>
                    <a:pt x="3107" y="834"/>
                  </a:lnTo>
                  <a:lnTo>
                    <a:pt x="3114" y="834"/>
                  </a:lnTo>
                  <a:lnTo>
                    <a:pt x="3126" y="834"/>
                  </a:lnTo>
                  <a:lnTo>
                    <a:pt x="3132" y="834"/>
                  </a:lnTo>
                  <a:lnTo>
                    <a:pt x="3138" y="834"/>
                  </a:lnTo>
                  <a:lnTo>
                    <a:pt x="3144" y="828"/>
                  </a:lnTo>
                  <a:lnTo>
                    <a:pt x="3150" y="828"/>
                  </a:lnTo>
                  <a:lnTo>
                    <a:pt x="3156" y="828"/>
                  </a:lnTo>
                  <a:lnTo>
                    <a:pt x="3163" y="828"/>
                  </a:lnTo>
                  <a:lnTo>
                    <a:pt x="3169" y="828"/>
                  </a:lnTo>
                  <a:lnTo>
                    <a:pt x="3175" y="828"/>
                  </a:lnTo>
                  <a:lnTo>
                    <a:pt x="3175" y="828"/>
                  </a:lnTo>
                  <a:lnTo>
                    <a:pt x="3181" y="828"/>
                  </a:lnTo>
                  <a:lnTo>
                    <a:pt x="3181" y="828"/>
                  </a:lnTo>
                  <a:lnTo>
                    <a:pt x="3181" y="828"/>
                  </a:lnTo>
                  <a:lnTo>
                    <a:pt x="3181" y="828"/>
                  </a:lnTo>
                  <a:lnTo>
                    <a:pt x="3187" y="828"/>
                  </a:lnTo>
                  <a:lnTo>
                    <a:pt x="3187" y="828"/>
                  </a:lnTo>
                  <a:lnTo>
                    <a:pt x="3187" y="822"/>
                  </a:lnTo>
                  <a:lnTo>
                    <a:pt x="3187" y="822"/>
                  </a:lnTo>
                  <a:lnTo>
                    <a:pt x="3187" y="815"/>
                  </a:lnTo>
                  <a:lnTo>
                    <a:pt x="3187" y="815"/>
                  </a:lnTo>
                  <a:lnTo>
                    <a:pt x="3187" y="809"/>
                  </a:lnTo>
                  <a:lnTo>
                    <a:pt x="3187" y="803"/>
                  </a:lnTo>
                  <a:lnTo>
                    <a:pt x="3187" y="797"/>
                  </a:lnTo>
                  <a:lnTo>
                    <a:pt x="3187" y="785"/>
                  </a:lnTo>
                  <a:lnTo>
                    <a:pt x="3187" y="772"/>
                  </a:lnTo>
                  <a:lnTo>
                    <a:pt x="3187" y="760"/>
                  </a:lnTo>
                  <a:lnTo>
                    <a:pt x="3187" y="754"/>
                  </a:lnTo>
                  <a:lnTo>
                    <a:pt x="3187" y="748"/>
                  </a:lnTo>
                  <a:lnTo>
                    <a:pt x="3187" y="742"/>
                  </a:lnTo>
                  <a:lnTo>
                    <a:pt x="3187" y="730"/>
                  </a:lnTo>
                  <a:lnTo>
                    <a:pt x="3187" y="723"/>
                  </a:lnTo>
                  <a:lnTo>
                    <a:pt x="3187" y="711"/>
                  </a:lnTo>
                  <a:lnTo>
                    <a:pt x="3187" y="705"/>
                  </a:lnTo>
                  <a:lnTo>
                    <a:pt x="3187" y="693"/>
                  </a:lnTo>
                  <a:lnTo>
                    <a:pt x="3187" y="687"/>
                  </a:lnTo>
                  <a:lnTo>
                    <a:pt x="3187" y="681"/>
                  </a:lnTo>
                  <a:lnTo>
                    <a:pt x="3187" y="668"/>
                  </a:lnTo>
                  <a:lnTo>
                    <a:pt x="3187" y="662"/>
                  </a:lnTo>
                  <a:lnTo>
                    <a:pt x="3187" y="650"/>
                  </a:lnTo>
                  <a:lnTo>
                    <a:pt x="3187" y="644"/>
                  </a:lnTo>
                  <a:lnTo>
                    <a:pt x="3187" y="632"/>
                  </a:lnTo>
                  <a:lnTo>
                    <a:pt x="3187" y="625"/>
                  </a:lnTo>
                  <a:lnTo>
                    <a:pt x="3187" y="619"/>
                  </a:lnTo>
                  <a:lnTo>
                    <a:pt x="3187" y="613"/>
                  </a:lnTo>
                  <a:lnTo>
                    <a:pt x="3187" y="607"/>
                  </a:lnTo>
                  <a:lnTo>
                    <a:pt x="3187" y="607"/>
                  </a:lnTo>
                  <a:lnTo>
                    <a:pt x="3187" y="601"/>
                  </a:lnTo>
                  <a:lnTo>
                    <a:pt x="3187" y="601"/>
                  </a:lnTo>
                  <a:lnTo>
                    <a:pt x="3187" y="601"/>
                  </a:lnTo>
                  <a:lnTo>
                    <a:pt x="3181" y="595"/>
                  </a:lnTo>
                  <a:lnTo>
                    <a:pt x="3181" y="595"/>
                  </a:lnTo>
                  <a:lnTo>
                    <a:pt x="3181" y="595"/>
                  </a:lnTo>
                  <a:lnTo>
                    <a:pt x="3181" y="595"/>
                  </a:lnTo>
                  <a:lnTo>
                    <a:pt x="3175" y="595"/>
                  </a:lnTo>
                  <a:lnTo>
                    <a:pt x="3175" y="595"/>
                  </a:lnTo>
                  <a:lnTo>
                    <a:pt x="3169" y="595"/>
                  </a:lnTo>
                  <a:lnTo>
                    <a:pt x="3163" y="595"/>
                  </a:lnTo>
                  <a:lnTo>
                    <a:pt x="3156" y="595"/>
                  </a:lnTo>
                  <a:lnTo>
                    <a:pt x="3150" y="595"/>
                  </a:lnTo>
                  <a:lnTo>
                    <a:pt x="3144" y="595"/>
                  </a:lnTo>
                  <a:lnTo>
                    <a:pt x="3138" y="595"/>
                  </a:lnTo>
                  <a:lnTo>
                    <a:pt x="3132" y="595"/>
                  </a:lnTo>
                  <a:lnTo>
                    <a:pt x="3126" y="595"/>
                  </a:lnTo>
                  <a:lnTo>
                    <a:pt x="3114" y="595"/>
                  </a:lnTo>
                  <a:lnTo>
                    <a:pt x="3107" y="595"/>
                  </a:lnTo>
                  <a:lnTo>
                    <a:pt x="3095" y="595"/>
                  </a:lnTo>
                  <a:lnTo>
                    <a:pt x="3077" y="595"/>
                  </a:lnTo>
                  <a:lnTo>
                    <a:pt x="3052" y="595"/>
                  </a:lnTo>
                  <a:lnTo>
                    <a:pt x="3028" y="595"/>
                  </a:lnTo>
                  <a:lnTo>
                    <a:pt x="3003" y="595"/>
                  </a:lnTo>
                  <a:lnTo>
                    <a:pt x="2979" y="595"/>
                  </a:lnTo>
                  <a:lnTo>
                    <a:pt x="2948" y="595"/>
                  </a:lnTo>
                  <a:lnTo>
                    <a:pt x="2924" y="595"/>
                  </a:lnTo>
                  <a:lnTo>
                    <a:pt x="2893" y="595"/>
                  </a:lnTo>
                  <a:lnTo>
                    <a:pt x="2605" y="595"/>
                  </a:lnTo>
                  <a:lnTo>
                    <a:pt x="2605" y="515"/>
                  </a:lnTo>
                  <a:lnTo>
                    <a:pt x="2605" y="435"/>
                  </a:lnTo>
                  <a:lnTo>
                    <a:pt x="2930" y="435"/>
                  </a:lnTo>
                  <a:lnTo>
                    <a:pt x="2948" y="435"/>
                  </a:lnTo>
                  <a:lnTo>
                    <a:pt x="2973" y="435"/>
                  </a:lnTo>
                  <a:lnTo>
                    <a:pt x="2991" y="435"/>
                  </a:lnTo>
                  <a:lnTo>
                    <a:pt x="3009" y="435"/>
                  </a:lnTo>
                  <a:lnTo>
                    <a:pt x="3028" y="435"/>
                  </a:lnTo>
                  <a:lnTo>
                    <a:pt x="3040" y="435"/>
                  </a:lnTo>
                  <a:lnTo>
                    <a:pt x="3058" y="435"/>
                  </a:lnTo>
                  <a:lnTo>
                    <a:pt x="3077" y="435"/>
                  </a:lnTo>
                  <a:lnTo>
                    <a:pt x="3089" y="435"/>
                  </a:lnTo>
                  <a:lnTo>
                    <a:pt x="3107" y="435"/>
                  </a:lnTo>
                  <a:lnTo>
                    <a:pt x="3120" y="435"/>
                  </a:lnTo>
                  <a:lnTo>
                    <a:pt x="3132" y="435"/>
                  </a:lnTo>
                  <a:lnTo>
                    <a:pt x="3144" y="435"/>
                  </a:lnTo>
                  <a:lnTo>
                    <a:pt x="3156" y="435"/>
                  </a:lnTo>
                  <a:lnTo>
                    <a:pt x="3169" y="435"/>
                  </a:lnTo>
                  <a:lnTo>
                    <a:pt x="3181" y="435"/>
                  </a:lnTo>
                  <a:lnTo>
                    <a:pt x="3187" y="435"/>
                  </a:lnTo>
                  <a:lnTo>
                    <a:pt x="3199" y="435"/>
                  </a:lnTo>
                  <a:lnTo>
                    <a:pt x="3206" y="435"/>
                  </a:lnTo>
                  <a:lnTo>
                    <a:pt x="3218" y="435"/>
                  </a:lnTo>
                  <a:lnTo>
                    <a:pt x="3224" y="435"/>
                  </a:lnTo>
                  <a:lnTo>
                    <a:pt x="3230" y="435"/>
                  </a:lnTo>
                  <a:lnTo>
                    <a:pt x="3236" y="435"/>
                  </a:lnTo>
                  <a:lnTo>
                    <a:pt x="3242" y="435"/>
                  </a:lnTo>
                  <a:lnTo>
                    <a:pt x="3248" y="435"/>
                  </a:lnTo>
                  <a:lnTo>
                    <a:pt x="3255" y="435"/>
                  </a:lnTo>
                  <a:lnTo>
                    <a:pt x="3255" y="435"/>
                  </a:lnTo>
                  <a:lnTo>
                    <a:pt x="3261" y="435"/>
                  </a:lnTo>
                  <a:lnTo>
                    <a:pt x="3261" y="435"/>
                  </a:lnTo>
                  <a:lnTo>
                    <a:pt x="3267" y="442"/>
                  </a:lnTo>
                  <a:lnTo>
                    <a:pt x="3267" y="442"/>
                  </a:lnTo>
                  <a:lnTo>
                    <a:pt x="3267" y="442"/>
                  </a:lnTo>
                  <a:lnTo>
                    <a:pt x="3273" y="442"/>
                  </a:lnTo>
                  <a:lnTo>
                    <a:pt x="3279" y="442"/>
                  </a:lnTo>
                  <a:lnTo>
                    <a:pt x="3285" y="448"/>
                  </a:lnTo>
                  <a:lnTo>
                    <a:pt x="3291" y="448"/>
                  </a:lnTo>
                  <a:lnTo>
                    <a:pt x="3291" y="454"/>
                  </a:lnTo>
                  <a:lnTo>
                    <a:pt x="3297" y="460"/>
                  </a:lnTo>
                  <a:lnTo>
                    <a:pt x="3297" y="1079"/>
                  </a:lnTo>
                  <a:lnTo>
                    <a:pt x="3297" y="1110"/>
                  </a:lnTo>
                  <a:lnTo>
                    <a:pt x="3297" y="1140"/>
                  </a:lnTo>
                  <a:lnTo>
                    <a:pt x="3297" y="1171"/>
                  </a:lnTo>
                  <a:lnTo>
                    <a:pt x="3297" y="1201"/>
                  </a:lnTo>
                  <a:lnTo>
                    <a:pt x="3297" y="1226"/>
                  </a:lnTo>
                  <a:lnTo>
                    <a:pt x="3297" y="1250"/>
                  </a:lnTo>
                  <a:lnTo>
                    <a:pt x="3297" y="1281"/>
                  </a:lnTo>
                  <a:lnTo>
                    <a:pt x="3297" y="1306"/>
                  </a:lnTo>
                  <a:lnTo>
                    <a:pt x="3297" y="1324"/>
                  </a:lnTo>
                  <a:lnTo>
                    <a:pt x="3297" y="1348"/>
                  </a:lnTo>
                  <a:lnTo>
                    <a:pt x="3297" y="1373"/>
                  </a:lnTo>
                  <a:lnTo>
                    <a:pt x="3297" y="1391"/>
                  </a:lnTo>
                  <a:lnTo>
                    <a:pt x="3297" y="1410"/>
                  </a:lnTo>
                  <a:lnTo>
                    <a:pt x="3297" y="1428"/>
                  </a:lnTo>
                  <a:lnTo>
                    <a:pt x="3297" y="1447"/>
                  </a:lnTo>
                  <a:lnTo>
                    <a:pt x="3297" y="1465"/>
                  </a:lnTo>
                  <a:lnTo>
                    <a:pt x="3297" y="1483"/>
                  </a:lnTo>
                  <a:lnTo>
                    <a:pt x="3297" y="1502"/>
                  </a:lnTo>
                  <a:lnTo>
                    <a:pt x="3297" y="1514"/>
                  </a:lnTo>
                  <a:lnTo>
                    <a:pt x="3297" y="1526"/>
                  </a:lnTo>
                  <a:lnTo>
                    <a:pt x="3297" y="1545"/>
                  </a:lnTo>
                  <a:lnTo>
                    <a:pt x="3297" y="1557"/>
                  </a:lnTo>
                  <a:lnTo>
                    <a:pt x="3297" y="1569"/>
                  </a:lnTo>
                  <a:lnTo>
                    <a:pt x="3297" y="1581"/>
                  </a:lnTo>
                  <a:lnTo>
                    <a:pt x="3297" y="1587"/>
                  </a:lnTo>
                  <a:lnTo>
                    <a:pt x="3297" y="1600"/>
                  </a:lnTo>
                  <a:lnTo>
                    <a:pt x="3297" y="1612"/>
                  </a:lnTo>
                  <a:lnTo>
                    <a:pt x="3297" y="1618"/>
                  </a:lnTo>
                  <a:lnTo>
                    <a:pt x="3297" y="1630"/>
                  </a:lnTo>
                  <a:lnTo>
                    <a:pt x="3297" y="1636"/>
                  </a:lnTo>
                  <a:lnTo>
                    <a:pt x="3297" y="1643"/>
                  </a:lnTo>
                  <a:lnTo>
                    <a:pt x="3297" y="1649"/>
                  </a:lnTo>
                  <a:lnTo>
                    <a:pt x="3297" y="1661"/>
                  </a:lnTo>
                  <a:lnTo>
                    <a:pt x="3297" y="1667"/>
                  </a:lnTo>
                  <a:lnTo>
                    <a:pt x="3297" y="1673"/>
                  </a:lnTo>
                  <a:lnTo>
                    <a:pt x="3297" y="1686"/>
                  </a:lnTo>
                  <a:lnTo>
                    <a:pt x="3297" y="1692"/>
                  </a:lnTo>
                  <a:lnTo>
                    <a:pt x="3291" y="1698"/>
                  </a:lnTo>
                  <a:lnTo>
                    <a:pt x="3291" y="1704"/>
                  </a:lnTo>
                  <a:lnTo>
                    <a:pt x="3291" y="1710"/>
                  </a:lnTo>
                  <a:lnTo>
                    <a:pt x="3291" y="1710"/>
                  </a:lnTo>
                  <a:lnTo>
                    <a:pt x="3291" y="1716"/>
                  </a:lnTo>
                  <a:lnTo>
                    <a:pt x="3285" y="1716"/>
                  </a:lnTo>
                  <a:lnTo>
                    <a:pt x="3285" y="1716"/>
                  </a:lnTo>
                  <a:lnTo>
                    <a:pt x="3285" y="1716"/>
                  </a:lnTo>
                  <a:lnTo>
                    <a:pt x="3279" y="1716"/>
                  </a:lnTo>
                  <a:lnTo>
                    <a:pt x="3279" y="1722"/>
                  </a:lnTo>
                  <a:lnTo>
                    <a:pt x="3273" y="1722"/>
                  </a:lnTo>
                  <a:lnTo>
                    <a:pt x="3273" y="1722"/>
                  </a:lnTo>
                  <a:lnTo>
                    <a:pt x="3267" y="1722"/>
                  </a:lnTo>
                  <a:lnTo>
                    <a:pt x="3261" y="1722"/>
                  </a:lnTo>
                  <a:lnTo>
                    <a:pt x="3261" y="1722"/>
                  </a:lnTo>
                  <a:lnTo>
                    <a:pt x="3255" y="1722"/>
                  </a:lnTo>
                  <a:lnTo>
                    <a:pt x="3255" y="1722"/>
                  </a:lnTo>
                  <a:lnTo>
                    <a:pt x="3248" y="1722"/>
                  </a:lnTo>
                  <a:lnTo>
                    <a:pt x="3242" y="1722"/>
                  </a:lnTo>
                  <a:lnTo>
                    <a:pt x="3236" y="1722"/>
                  </a:lnTo>
                  <a:lnTo>
                    <a:pt x="3230" y="1722"/>
                  </a:lnTo>
                  <a:lnTo>
                    <a:pt x="3224" y="1722"/>
                  </a:lnTo>
                  <a:lnTo>
                    <a:pt x="3212" y="1722"/>
                  </a:lnTo>
                  <a:lnTo>
                    <a:pt x="3206" y="1722"/>
                  </a:lnTo>
                  <a:lnTo>
                    <a:pt x="3193" y="1722"/>
                  </a:lnTo>
                  <a:lnTo>
                    <a:pt x="3181" y="1722"/>
                  </a:lnTo>
                  <a:lnTo>
                    <a:pt x="3169" y="1722"/>
                  </a:lnTo>
                  <a:lnTo>
                    <a:pt x="3156" y="1722"/>
                  </a:lnTo>
                  <a:lnTo>
                    <a:pt x="3144" y="1722"/>
                  </a:lnTo>
                  <a:lnTo>
                    <a:pt x="3126" y="1728"/>
                  </a:lnTo>
                  <a:lnTo>
                    <a:pt x="3114" y="1728"/>
                  </a:lnTo>
                  <a:lnTo>
                    <a:pt x="3095" y="1728"/>
                  </a:lnTo>
                  <a:lnTo>
                    <a:pt x="3077" y="1728"/>
                  </a:lnTo>
                  <a:lnTo>
                    <a:pt x="3058" y="1728"/>
                  </a:lnTo>
                  <a:lnTo>
                    <a:pt x="3034" y="1728"/>
                  </a:lnTo>
                  <a:lnTo>
                    <a:pt x="3009" y="1728"/>
                  </a:lnTo>
                  <a:lnTo>
                    <a:pt x="2985" y="1728"/>
                  </a:lnTo>
                  <a:lnTo>
                    <a:pt x="2960" y="1728"/>
                  </a:lnTo>
                  <a:lnTo>
                    <a:pt x="2936" y="1728"/>
                  </a:lnTo>
                  <a:lnTo>
                    <a:pt x="2605" y="1728"/>
                  </a:lnTo>
                  <a:lnTo>
                    <a:pt x="2605" y="1667"/>
                  </a:lnTo>
                  <a:lnTo>
                    <a:pt x="2605" y="16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83"/>
            <p:cNvSpPr>
              <a:spLocks/>
            </p:cNvSpPr>
            <p:nvPr/>
          </p:nvSpPr>
          <p:spPr>
            <a:xfrm>
              <a:off x="1707123" y="1371600"/>
              <a:ext cx="882947" cy="8797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 err="1">
                <a:solidFill>
                  <a:schemeClr val="tx1"/>
                </a:solidFill>
              </a:endParaRPr>
            </a:p>
          </p:txBody>
        </p:sp>
        <p:sp>
          <p:nvSpPr>
            <p:cNvPr id="85" name="Oval 84"/>
            <p:cNvSpPr>
              <a:spLocks/>
            </p:cNvSpPr>
            <p:nvPr/>
          </p:nvSpPr>
          <p:spPr>
            <a:xfrm>
              <a:off x="2198973" y="5188380"/>
              <a:ext cx="882947" cy="8797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 err="1">
                <a:solidFill>
                  <a:schemeClr val="tx1"/>
                </a:solidFill>
              </a:endParaRPr>
            </a:p>
          </p:txBody>
        </p:sp>
        <p:sp>
          <p:nvSpPr>
            <p:cNvPr id="86" name="Freeform 26"/>
            <p:cNvSpPr>
              <a:spLocks noChangeAspect="1" noEditPoints="1"/>
            </p:cNvSpPr>
            <p:nvPr/>
          </p:nvSpPr>
          <p:spPr bwMode="auto">
            <a:xfrm>
              <a:off x="1982639" y="1625408"/>
              <a:ext cx="319931" cy="345731"/>
            </a:xfrm>
            <a:custGeom>
              <a:avLst/>
              <a:gdLst>
                <a:gd name="T0" fmla="*/ 46 w 57"/>
                <a:gd name="T1" fmla="*/ 62 h 62"/>
                <a:gd name="T2" fmla="*/ 11 w 57"/>
                <a:gd name="T3" fmla="*/ 62 h 62"/>
                <a:gd name="T4" fmla="*/ 0 w 57"/>
                <a:gd name="T5" fmla="*/ 52 h 62"/>
                <a:gd name="T6" fmla="*/ 12 w 57"/>
                <a:gd name="T7" fmla="*/ 29 h 62"/>
                <a:gd name="T8" fmla="*/ 11 w 57"/>
                <a:gd name="T9" fmla="*/ 34 h 62"/>
                <a:gd name="T10" fmla="*/ 11 w 57"/>
                <a:gd name="T11" fmla="*/ 42 h 62"/>
                <a:gd name="T12" fmla="*/ 6 w 57"/>
                <a:gd name="T13" fmla="*/ 49 h 62"/>
                <a:gd name="T14" fmla="*/ 13 w 57"/>
                <a:gd name="T15" fmla="*/ 57 h 62"/>
                <a:gd name="T16" fmla="*/ 21 w 57"/>
                <a:gd name="T17" fmla="*/ 49 h 62"/>
                <a:gd name="T18" fmla="*/ 16 w 57"/>
                <a:gd name="T19" fmla="*/ 42 h 62"/>
                <a:gd name="T20" fmla="*/ 16 w 57"/>
                <a:gd name="T21" fmla="*/ 34 h 62"/>
                <a:gd name="T22" fmla="*/ 17 w 57"/>
                <a:gd name="T23" fmla="*/ 30 h 62"/>
                <a:gd name="T24" fmla="*/ 29 w 57"/>
                <a:gd name="T25" fmla="*/ 34 h 62"/>
                <a:gd name="T26" fmla="*/ 41 w 57"/>
                <a:gd name="T27" fmla="*/ 30 h 62"/>
                <a:gd name="T28" fmla="*/ 42 w 57"/>
                <a:gd name="T29" fmla="*/ 34 h 62"/>
                <a:gd name="T30" fmla="*/ 42 w 57"/>
                <a:gd name="T31" fmla="*/ 36 h 62"/>
                <a:gd name="T32" fmla="*/ 31 w 57"/>
                <a:gd name="T33" fmla="*/ 47 h 62"/>
                <a:gd name="T34" fmla="*/ 31 w 57"/>
                <a:gd name="T35" fmla="*/ 50 h 62"/>
                <a:gd name="T36" fmla="*/ 30 w 57"/>
                <a:gd name="T37" fmla="*/ 53 h 62"/>
                <a:gd name="T38" fmla="*/ 34 w 57"/>
                <a:gd name="T39" fmla="*/ 57 h 62"/>
                <a:gd name="T40" fmla="*/ 38 w 57"/>
                <a:gd name="T41" fmla="*/ 53 h 62"/>
                <a:gd name="T42" fmla="*/ 36 w 57"/>
                <a:gd name="T43" fmla="*/ 50 h 62"/>
                <a:gd name="T44" fmla="*/ 36 w 57"/>
                <a:gd name="T45" fmla="*/ 47 h 62"/>
                <a:gd name="T46" fmla="*/ 42 w 57"/>
                <a:gd name="T47" fmla="*/ 42 h 62"/>
                <a:gd name="T48" fmla="*/ 47 w 57"/>
                <a:gd name="T49" fmla="*/ 47 h 62"/>
                <a:gd name="T50" fmla="*/ 47 w 57"/>
                <a:gd name="T51" fmla="*/ 50 h 62"/>
                <a:gd name="T52" fmla="*/ 45 w 57"/>
                <a:gd name="T53" fmla="*/ 53 h 62"/>
                <a:gd name="T54" fmla="*/ 49 w 57"/>
                <a:gd name="T55" fmla="*/ 57 h 62"/>
                <a:gd name="T56" fmla="*/ 53 w 57"/>
                <a:gd name="T57" fmla="*/ 53 h 62"/>
                <a:gd name="T58" fmla="*/ 52 w 57"/>
                <a:gd name="T59" fmla="*/ 50 h 62"/>
                <a:gd name="T60" fmla="*/ 52 w 57"/>
                <a:gd name="T61" fmla="*/ 47 h 62"/>
                <a:gd name="T62" fmla="*/ 47 w 57"/>
                <a:gd name="T63" fmla="*/ 38 h 62"/>
                <a:gd name="T64" fmla="*/ 46 w 57"/>
                <a:gd name="T65" fmla="*/ 29 h 62"/>
                <a:gd name="T66" fmla="*/ 57 w 57"/>
                <a:gd name="T67" fmla="*/ 52 h 62"/>
                <a:gd name="T68" fmla="*/ 46 w 57"/>
                <a:gd name="T69" fmla="*/ 62 h 62"/>
                <a:gd name="T70" fmla="*/ 13 w 57"/>
                <a:gd name="T71" fmla="*/ 52 h 62"/>
                <a:gd name="T72" fmla="*/ 11 w 57"/>
                <a:gd name="T73" fmla="*/ 49 h 62"/>
                <a:gd name="T74" fmla="*/ 13 w 57"/>
                <a:gd name="T75" fmla="*/ 47 h 62"/>
                <a:gd name="T76" fmla="*/ 16 w 57"/>
                <a:gd name="T77" fmla="*/ 49 h 62"/>
                <a:gd name="T78" fmla="*/ 13 w 57"/>
                <a:gd name="T79" fmla="*/ 52 h 62"/>
                <a:gd name="T80" fmla="*/ 29 w 57"/>
                <a:gd name="T81" fmla="*/ 31 h 62"/>
                <a:gd name="T82" fmla="*/ 13 w 57"/>
                <a:gd name="T83" fmla="*/ 16 h 62"/>
                <a:gd name="T84" fmla="*/ 29 w 57"/>
                <a:gd name="T85" fmla="*/ 0 h 62"/>
                <a:gd name="T86" fmla="*/ 44 w 57"/>
                <a:gd name="T87" fmla="*/ 16 h 62"/>
                <a:gd name="T88" fmla="*/ 29 w 57"/>
                <a:gd name="T89" fmla="*/ 31 h 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7" h="62">
                  <a:moveTo>
                    <a:pt x="46" y="62"/>
                  </a:moveTo>
                  <a:cubicBezTo>
                    <a:pt x="11" y="62"/>
                    <a:pt x="11" y="62"/>
                    <a:pt x="11" y="62"/>
                  </a:cubicBezTo>
                  <a:cubicBezTo>
                    <a:pt x="5" y="62"/>
                    <a:pt x="0" y="58"/>
                    <a:pt x="0" y="52"/>
                  </a:cubicBezTo>
                  <a:cubicBezTo>
                    <a:pt x="0" y="44"/>
                    <a:pt x="2" y="31"/>
                    <a:pt x="12" y="29"/>
                  </a:cubicBezTo>
                  <a:cubicBezTo>
                    <a:pt x="11" y="31"/>
                    <a:pt x="11" y="32"/>
                    <a:pt x="11" y="34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8" y="43"/>
                    <a:pt x="6" y="46"/>
                    <a:pt x="6" y="49"/>
                  </a:cubicBezTo>
                  <a:cubicBezTo>
                    <a:pt x="6" y="54"/>
                    <a:pt x="9" y="57"/>
                    <a:pt x="13" y="57"/>
                  </a:cubicBezTo>
                  <a:cubicBezTo>
                    <a:pt x="18" y="57"/>
                    <a:pt x="21" y="54"/>
                    <a:pt x="21" y="49"/>
                  </a:cubicBezTo>
                  <a:cubicBezTo>
                    <a:pt x="21" y="46"/>
                    <a:pt x="19" y="43"/>
                    <a:pt x="16" y="42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3"/>
                    <a:pt x="16" y="31"/>
                    <a:pt x="17" y="30"/>
                  </a:cubicBezTo>
                  <a:cubicBezTo>
                    <a:pt x="20" y="33"/>
                    <a:pt x="24" y="34"/>
                    <a:pt x="29" y="34"/>
                  </a:cubicBezTo>
                  <a:cubicBezTo>
                    <a:pt x="33" y="34"/>
                    <a:pt x="37" y="33"/>
                    <a:pt x="41" y="30"/>
                  </a:cubicBezTo>
                  <a:cubicBezTo>
                    <a:pt x="41" y="31"/>
                    <a:pt x="42" y="33"/>
                    <a:pt x="42" y="34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36" y="36"/>
                    <a:pt x="31" y="41"/>
                    <a:pt x="31" y="47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51"/>
                    <a:pt x="30" y="52"/>
                    <a:pt x="30" y="53"/>
                  </a:cubicBezTo>
                  <a:cubicBezTo>
                    <a:pt x="30" y="55"/>
                    <a:pt x="32" y="57"/>
                    <a:pt x="34" y="57"/>
                  </a:cubicBezTo>
                  <a:cubicBezTo>
                    <a:pt x="36" y="57"/>
                    <a:pt x="38" y="55"/>
                    <a:pt x="38" y="53"/>
                  </a:cubicBezTo>
                  <a:cubicBezTo>
                    <a:pt x="38" y="52"/>
                    <a:pt x="37" y="51"/>
                    <a:pt x="36" y="50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4"/>
                    <a:pt x="39" y="42"/>
                    <a:pt x="42" y="42"/>
                  </a:cubicBezTo>
                  <a:cubicBezTo>
                    <a:pt x="44" y="42"/>
                    <a:pt x="47" y="44"/>
                    <a:pt x="47" y="47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5" y="52"/>
                    <a:pt x="45" y="53"/>
                  </a:cubicBezTo>
                  <a:cubicBezTo>
                    <a:pt x="45" y="55"/>
                    <a:pt x="47" y="57"/>
                    <a:pt x="49" y="57"/>
                  </a:cubicBezTo>
                  <a:cubicBezTo>
                    <a:pt x="51" y="57"/>
                    <a:pt x="53" y="55"/>
                    <a:pt x="53" y="53"/>
                  </a:cubicBezTo>
                  <a:cubicBezTo>
                    <a:pt x="53" y="52"/>
                    <a:pt x="53" y="51"/>
                    <a:pt x="52" y="50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52" y="43"/>
                    <a:pt x="50" y="40"/>
                    <a:pt x="47" y="38"/>
                  </a:cubicBezTo>
                  <a:cubicBezTo>
                    <a:pt x="47" y="35"/>
                    <a:pt x="47" y="32"/>
                    <a:pt x="46" y="29"/>
                  </a:cubicBezTo>
                  <a:cubicBezTo>
                    <a:pt x="55" y="31"/>
                    <a:pt x="57" y="44"/>
                    <a:pt x="57" y="52"/>
                  </a:cubicBezTo>
                  <a:cubicBezTo>
                    <a:pt x="57" y="58"/>
                    <a:pt x="53" y="62"/>
                    <a:pt x="46" y="62"/>
                  </a:cubicBezTo>
                  <a:close/>
                  <a:moveTo>
                    <a:pt x="13" y="52"/>
                  </a:moveTo>
                  <a:cubicBezTo>
                    <a:pt x="12" y="52"/>
                    <a:pt x="11" y="51"/>
                    <a:pt x="11" y="49"/>
                  </a:cubicBezTo>
                  <a:cubicBezTo>
                    <a:pt x="11" y="48"/>
                    <a:pt x="12" y="47"/>
                    <a:pt x="13" y="47"/>
                  </a:cubicBezTo>
                  <a:cubicBezTo>
                    <a:pt x="15" y="47"/>
                    <a:pt x="16" y="48"/>
                    <a:pt x="16" y="49"/>
                  </a:cubicBezTo>
                  <a:cubicBezTo>
                    <a:pt x="16" y="51"/>
                    <a:pt x="15" y="52"/>
                    <a:pt x="13" y="52"/>
                  </a:cubicBezTo>
                  <a:close/>
                  <a:moveTo>
                    <a:pt x="29" y="31"/>
                  </a:moveTo>
                  <a:cubicBezTo>
                    <a:pt x="20" y="31"/>
                    <a:pt x="13" y="24"/>
                    <a:pt x="13" y="16"/>
                  </a:cubicBezTo>
                  <a:cubicBezTo>
                    <a:pt x="13" y="7"/>
                    <a:pt x="20" y="0"/>
                    <a:pt x="29" y="0"/>
                  </a:cubicBezTo>
                  <a:cubicBezTo>
                    <a:pt x="37" y="0"/>
                    <a:pt x="44" y="7"/>
                    <a:pt x="44" y="16"/>
                  </a:cubicBezTo>
                  <a:cubicBezTo>
                    <a:pt x="44" y="24"/>
                    <a:pt x="37" y="31"/>
                    <a:pt x="29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7" name="Group 86"/>
            <p:cNvGrpSpPr/>
            <p:nvPr/>
          </p:nvGrpSpPr>
          <p:grpSpPr>
            <a:xfrm>
              <a:off x="2469748" y="5460870"/>
              <a:ext cx="292100" cy="292100"/>
              <a:chOff x="5599113" y="3013075"/>
              <a:chExt cx="292100" cy="292100"/>
            </a:xfrm>
            <a:solidFill>
              <a:srgbClr val="FFFFFF"/>
            </a:solidFill>
          </p:grpSpPr>
          <p:sp>
            <p:nvSpPr>
              <p:cNvPr id="98" name="Freeform 228"/>
              <p:cNvSpPr>
                <a:spLocks noEditPoints="1"/>
              </p:cNvSpPr>
              <p:nvPr/>
            </p:nvSpPr>
            <p:spPr bwMode="auto">
              <a:xfrm>
                <a:off x="5599113" y="3013075"/>
                <a:ext cx="292100" cy="292100"/>
              </a:xfrm>
              <a:custGeom>
                <a:avLst/>
                <a:gdLst/>
                <a:ahLst/>
                <a:cxnLst>
                  <a:cxn ang="0">
                    <a:pos x="94" y="66"/>
                  </a:cxn>
                  <a:cxn ang="0">
                    <a:pos x="84" y="66"/>
                  </a:cxn>
                  <a:cxn ang="0">
                    <a:pos x="94" y="40"/>
                  </a:cxn>
                  <a:cxn ang="0">
                    <a:pos x="58" y="0"/>
                  </a:cxn>
                  <a:cxn ang="0">
                    <a:pos x="25" y="23"/>
                  </a:cxn>
                  <a:cxn ang="0">
                    <a:pos x="22" y="36"/>
                  </a:cxn>
                  <a:cxn ang="0">
                    <a:pos x="22" y="40"/>
                  </a:cxn>
                  <a:cxn ang="0">
                    <a:pos x="32" y="66"/>
                  </a:cxn>
                  <a:cxn ang="0">
                    <a:pos x="21" y="66"/>
                  </a:cxn>
                  <a:cxn ang="0">
                    <a:pos x="0" y="87"/>
                  </a:cxn>
                  <a:cxn ang="0">
                    <a:pos x="0" y="116"/>
                  </a:cxn>
                  <a:cxn ang="0">
                    <a:pos x="116" y="116"/>
                  </a:cxn>
                  <a:cxn ang="0">
                    <a:pos x="116" y="87"/>
                  </a:cxn>
                  <a:cxn ang="0">
                    <a:pos x="94" y="66"/>
                  </a:cxn>
                  <a:cxn ang="0">
                    <a:pos x="29" y="40"/>
                  </a:cxn>
                  <a:cxn ang="0">
                    <a:pos x="30" y="34"/>
                  </a:cxn>
                  <a:cxn ang="0">
                    <a:pos x="43" y="19"/>
                  </a:cxn>
                  <a:cxn ang="0">
                    <a:pos x="78" y="31"/>
                  </a:cxn>
                  <a:cxn ang="0">
                    <a:pos x="85" y="30"/>
                  </a:cxn>
                  <a:cxn ang="0">
                    <a:pos x="87" y="40"/>
                  </a:cxn>
                  <a:cxn ang="0">
                    <a:pos x="58" y="73"/>
                  </a:cxn>
                  <a:cxn ang="0">
                    <a:pos x="29" y="40"/>
                  </a:cxn>
                  <a:cxn ang="0">
                    <a:pos x="7" y="109"/>
                  </a:cxn>
                  <a:cxn ang="0">
                    <a:pos x="7" y="87"/>
                  </a:cxn>
                  <a:cxn ang="0">
                    <a:pos x="21" y="73"/>
                  </a:cxn>
                  <a:cxn ang="0">
                    <a:pos x="39" y="73"/>
                  </a:cxn>
                  <a:cxn ang="0">
                    <a:pos x="58" y="80"/>
                  </a:cxn>
                  <a:cxn ang="0">
                    <a:pos x="58" y="109"/>
                  </a:cxn>
                  <a:cxn ang="0">
                    <a:pos x="7" y="109"/>
                  </a:cxn>
                  <a:cxn ang="0">
                    <a:pos x="108" y="109"/>
                  </a:cxn>
                  <a:cxn ang="0">
                    <a:pos x="65" y="109"/>
                  </a:cxn>
                  <a:cxn ang="0">
                    <a:pos x="65" y="79"/>
                  </a:cxn>
                  <a:cxn ang="0">
                    <a:pos x="77" y="73"/>
                  </a:cxn>
                  <a:cxn ang="0">
                    <a:pos x="94" y="73"/>
                  </a:cxn>
                  <a:cxn ang="0">
                    <a:pos x="108" y="87"/>
                  </a:cxn>
                  <a:cxn ang="0">
                    <a:pos x="108" y="109"/>
                  </a:cxn>
                </a:cxnLst>
                <a:rect l="0" t="0" r="r" b="b"/>
                <a:pathLst>
                  <a:path w="116" h="116">
                    <a:moveTo>
                      <a:pt x="94" y="66"/>
                    </a:moveTo>
                    <a:cubicBezTo>
                      <a:pt x="84" y="66"/>
                      <a:pt x="84" y="66"/>
                      <a:pt x="84" y="66"/>
                    </a:cubicBezTo>
                    <a:cubicBezTo>
                      <a:pt x="90" y="59"/>
                      <a:pt x="94" y="50"/>
                      <a:pt x="94" y="40"/>
                    </a:cubicBezTo>
                    <a:cubicBezTo>
                      <a:pt x="94" y="13"/>
                      <a:pt x="76" y="0"/>
                      <a:pt x="58" y="0"/>
                    </a:cubicBezTo>
                    <a:cubicBezTo>
                      <a:pt x="44" y="0"/>
                      <a:pt x="31" y="8"/>
                      <a:pt x="25" y="23"/>
                    </a:cubicBezTo>
                    <a:cubicBezTo>
                      <a:pt x="23" y="27"/>
                      <a:pt x="22" y="36"/>
                      <a:pt x="22" y="36"/>
                    </a:cubicBezTo>
                    <a:cubicBezTo>
                      <a:pt x="22" y="38"/>
                      <a:pt x="22" y="39"/>
                      <a:pt x="22" y="40"/>
                    </a:cubicBezTo>
                    <a:cubicBezTo>
                      <a:pt x="22" y="50"/>
                      <a:pt x="26" y="59"/>
                      <a:pt x="32" y="66"/>
                    </a:cubicBezTo>
                    <a:cubicBezTo>
                      <a:pt x="21" y="66"/>
                      <a:pt x="21" y="66"/>
                      <a:pt x="21" y="66"/>
                    </a:cubicBezTo>
                    <a:cubicBezTo>
                      <a:pt x="9" y="66"/>
                      <a:pt x="0" y="75"/>
                      <a:pt x="0" y="87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116" y="116"/>
                      <a:pt x="116" y="116"/>
                      <a:pt x="116" y="116"/>
                    </a:cubicBezTo>
                    <a:cubicBezTo>
                      <a:pt x="116" y="87"/>
                      <a:pt x="116" y="87"/>
                      <a:pt x="116" y="87"/>
                    </a:cubicBezTo>
                    <a:cubicBezTo>
                      <a:pt x="116" y="75"/>
                      <a:pt x="106" y="66"/>
                      <a:pt x="94" y="66"/>
                    </a:cubicBezTo>
                    <a:close/>
                    <a:moveTo>
                      <a:pt x="29" y="40"/>
                    </a:moveTo>
                    <a:cubicBezTo>
                      <a:pt x="29" y="38"/>
                      <a:pt x="30" y="36"/>
                      <a:pt x="30" y="34"/>
                    </a:cubicBezTo>
                    <a:cubicBezTo>
                      <a:pt x="36" y="31"/>
                      <a:pt x="40" y="26"/>
                      <a:pt x="43" y="19"/>
                    </a:cubicBezTo>
                    <a:cubicBezTo>
                      <a:pt x="49" y="26"/>
                      <a:pt x="63" y="31"/>
                      <a:pt x="78" y="31"/>
                    </a:cubicBezTo>
                    <a:cubicBezTo>
                      <a:pt x="81" y="31"/>
                      <a:pt x="83" y="30"/>
                      <a:pt x="85" y="30"/>
                    </a:cubicBezTo>
                    <a:cubicBezTo>
                      <a:pt x="86" y="33"/>
                      <a:pt x="87" y="36"/>
                      <a:pt x="87" y="40"/>
                    </a:cubicBezTo>
                    <a:cubicBezTo>
                      <a:pt x="87" y="58"/>
                      <a:pt x="69" y="73"/>
                      <a:pt x="58" y="73"/>
                    </a:cubicBezTo>
                    <a:cubicBezTo>
                      <a:pt x="47" y="73"/>
                      <a:pt x="29" y="58"/>
                      <a:pt x="29" y="40"/>
                    </a:cubicBezTo>
                    <a:close/>
                    <a:moveTo>
                      <a:pt x="7" y="109"/>
                    </a:moveTo>
                    <a:cubicBezTo>
                      <a:pt x="7" y="87"/>
                      <a:pt x="7" y="87"/>
                      <a:pt x="7" y="87"/>
                    </a:cubicBezTo>
                    <a:cubicBezTo>
                      <a:pt x="7" y="79"/>
                      <a:pt x="13" y="73"/>
                      <a:pt x="21" y="73"/>
                    </a:cubicBezTo>
                    <a:cubicBezTo>
                      <a:pt x="39" y="73"/>
                      <a:pt x="39" y="73"/>
                      <a:pt x="39" y="73"/>
                    </a:cubicBezTo>
                    <a:cubicBezTo>
                      <a:pt x="45" y="77"/>
                      <a:pt x="52" y="80"/>
                      <a:pt x="58" y="80"/>
                    </a:cubicBezTo>
                    <a:cubicBezTo>
                      <a:pt x="58" y="109"/>
                      <a:pt x="58" y="109"/>
                      <a:pt x="58" y="109"/>
                    </a:cubicBezTo>
                    <a:lnTo>
                      <a:pt x="7" y="109"/>
                    </a:lnTo>
                    <a:close/>
                    <a:moveTo>
                      <a:pt x="108" y="109"/>
                    </a:moveTo>
                    <a:cubicBezTo>
                      <a:pt x="65" y="109"/>
                      <a:pt x="65" y="109"/>
                      <a:pt x="65" y="109"/>
                    </a:cubicBezTo>
                    <a:cubicBezTo>
                      <a:pt x="65" y="79"/>
                      <a:pt x="65" y="79"/>
                      <a:pt x="65" y="79"/>
                    </a:cubicBezTo>
                    <a:cubicBezTo>
                      <a:pt x="69" y="78"/>
                      <a:pt x="73" y="76"/>
                      <a:pt x="77" y="73"/>
                    </a:cubicBezTo>
                    <a:cubicBezTo>
                      <a:pt x="94" y="73"/>
                      <a:pt x="94" y="73"/>
                      <a:pt x="94" y="73"/>
                    </a:cubicBezTo>
                    <a:cubicBezTo>
                      <a:pt x="102" y="73"/>
                      <a:pt x="108" y="79"/>
                      <a:pt x="108" y="87"/>
                    </a:cubicBezTo>
                    <a:lnTo>
                      <a:pt x="108" y="10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99" name="Oval 229"/>
              <p:cNvSpPr>
                <a:spLocks noChangeArrowheads="1"/>
              </p:cNvSpPr>
              <p:nvPr/>
            </p:nvSpPr>
            <p:spPr bwMode="auto">
              <a:xfrm>
                <a:off x="5707063" y="3106738"/>
                <a:ext cx="19050" cy="17463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00" name="Oval 230"/>
              <p:cNvSpPr>
                <a:spLocks noChangeArrowheads="1"/>
              </p:cNvSpPr>
              <p:nvPr/>
            </p:nvSpPr>
            <p:spPr bwMode="auto">
              <a:xfrm>
                <a:off x="5762626" y="3106738"/>
                <a:ext cx="17463" cy="17463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  <p:sp>
            <p:nvSpPr>
              <p:cNvPr id="101" name="Freeform 231"/>
              <p:cNvSpPr>
                <a:spLocks/>
              </p:cNvSpPr>
              <p:nvPr/>
            </p:nvSpPr>
            <p:spPr bwMode="auto">
              <a:xfrm>
                <a:off x="5651501" y="3214688"/>
                <a:ext cx="55563" cy="55563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3" y="0"/>
                  </a:cxn>
                  <a:cxn ang="0">
                    <a:pos x="13" y="11"/>
                  </a:cxn>
                  <a:cxn ang="0">
                    <a:pos x="0" y="11"/>
                  </a:cxn>
                  <a:cxn ang="0">
                    <a:pos x="0" y="24"/>
                  </a:cxn>
                  <a:cxn ang="0">
                    <a:pos x="13" y="24"/>
                  </a:cxn>
                  <a:cxn ang="0">
                    <a:pos x="13" y="35"/>
                  </a:cxn>
                  <a:cxn ang="0">
                    <a:pos x="24" y="35"/>
                  </a:cxn>
                  <a:cxn ang="0">
                    <a:pos x="24" y="24"/>
                  </a:cxn>
                  <a:cxn ang="0">
                    <a:pos x="35" y="24"/>
                  </a:cxn>
                  <a:cxn ang="0">
                    <a:pos x="35" y="11"/>
                  </a:cxn>
                  <a:cxn ang="0">
                    <a:pos x="24" y="11"/>
                  </a:cxn>
                  <a:cxn ang="0">
                    <a:pos x="24" y="0"/>
                  </a:cxn>
                </a:cxnLst>
                <a:rect l="0" t="0" r="r" b="b"/>
                <a:pathLst>
                  <a:path w="35" h="35">
                    <a:moveTo>
                      <a:pt x="24" y="0"/>
                    </a:moveTo>
                    <a:lnTo>
                      <a:pt x="13" y="0"/>
                    </a:lnTo>
                    <a:lnTo>
                      <a:pt x="13" y="11"/>
                    </a:lnTo>
                    <a:lnTo>
                      <a:pt x="0" y="11"/>
                    </a:lnTo>
                    <a:lnTo>
                      <a:pt x="0" y="24"/>
                    </a:lnTo>
                    <a:lnTo>
                      <a:pt x="13" y="24"/>
                    </a:lnTo>
                    <a:lnTo>
                      <a:pt x="13" y="35"/>
                    </a:lnTo>
                    <a:lnTo>
                      <a:pt x="24" y="35"/>
                    </a:lnTo>
                    <a:lnTo>
                      <a:pt x="24" y="24"/>
                    </a:lnTo>
                    <a:lnTo>
                      <a:pt x="35" y="24"/>
                    </a:lnTo>
                    <a:lnTo>
                      <a:pt x="35" y="11"/>
                    </a:lnTo>
                    <a:lnTo>
                      <a:pt x="24" y="11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88" name="Freeform 30"/>
            <p:cNvSpPr>
              <a:spLocks noEditPoints="1"/>
            </p:cNvSpPr>
            <p:nvPr/>
          </p:nvSpPr>
          <p:spPr bwMode="auto">
            <a:xfrm>
              <a:off x="1881389" y="1564541"/>
              <a:ext cx="421181" cy="493827"/>
            </a:xfrm>
            <a:custGeom>
              <a:avLst/>
              <a:gdLst>
                <a:gd name="T0" fmla="*/ 8 w 2151"/>
                <a:gd name="T1" fmla="*/ 2496 h 2519"/>
                <a:gd name="T2" fmla="*/ 36 w 2151"/>
                <a:gd name="T3" fmla="*/ 2406 h 2519"/>
                <a:gd name="T4" fmla="*/ 116 w 2151"/>
                <a:gd name="T5" fmla="*/ 2119 h 2519"/>
                <a:gd name="T6" fmla="*/ 194 w 2151"/>
                <a:gd name="T7" fmla="*/ 1840 h 2519"/>
                <a:gd name="T8" fmla="*/ 435 w 2151"/>
                <a:gd name="T9" fmla="*/ 1726 h 2519"/>
                <a:gd name="T10" fmla="*/ 615 w 2151"/>
                <a:gd name="T11" fmla="*/ 1684 h 2519"/>
                <a:gd name="T12" fmla="*/ 709 w 2151"/>
                <a:gd name="T13" fmla="*/ 1666 h 2519"/>
                <a:gd name="T14" fmla="*/ 782 w 2151"/>
                <a:gd name="T15" fmla="*/ 1613 h 2519"/>
                <a:gd name="T16" fmla="*/ 848 w 2151"/>
                <a:gd name="T17" fmla="*/ 1561 h 2519"/>
                <a:gd name="T18" fmla="*/ 934 w 2151"/>
                <a:gd name="T19" fmla="*/ 1641 h 2519"/>
                <a:gd name="T20" fmla="*/ 1007 w 2151"/>
                <a:gd name="T21" fmla="*/ 1720 h 2519"/>
                <a:gd name="T22" fmla="*/ 984 w 2151"/>
                <a:gd name="T23" fmla="*/ 1910 h 2519"/>
                <a:gd name="T24" fmla="*/ 941 w 2151"/>
                <a:gd name="T25" fmla="*/ 2279 h 2519"/>
                <a:gd name="T26" fmla="*/ 914 w 2151"/>
                <a:gd name="T27" fmla="*/ 2489 h 2519"/>
                <a:gd name="T28" fmla="*/ 908 w 2151"/>
                <a:gd name="T29" fmla="*/ 2519 h 2519"/>
                <a:gd name="T30" fmla="*/ 454 w 2151"/>
                <a:gd name="T31" fmla="*/ 2519 h 2519"/>
                <a:gd name="T32" fmla="*/ 8 w 2151"/>
                <a:gd name="T33" fmla="*/ 2496 h 2519"/>
                <a:gd name="T34" fmla="*/ 1237 w 2151"/>
                <a:gd name="T35" fmla="*/ 2489 h 2519"/>
                <a:gd name="T36" fmla="*/ 1210 w 2151"/>
                <a:gd name="T37" fmla="*/ 2279 h 2519"/>
                <a:gd name="T38" fmla="*/ 1166 w 2151"/>
                <a:gd name="T39" fmla="*/ 1910 h 2519"/>
                <a:gd name="T40" fmla="*/ 1144 w 2151"/>
                <a:gd name="T41" fmla="*/ 1720 h 2519"/>
                <a:gd name="T42" fmla="*/ 1216 w 2151"/>
                <a:gd name="T43" fmla="*/ 1643 h 2519"/>
                <a:gd name="T44" fmla="*/ 1302 w 2151"/>
                <a:gd name="T45" fmla="*/ 1562 h 2519"/>
                <a:gd name="T46" fmla="*/ 1368 w 2151"/>
                <a:gd name="T47" fmla="*/ 1612 h 2519"/>
                <a:gd name="T48" fmla="*/ 1440 w 2151"/>
                <a:gd name="T49" fmla="*/ 1666 h 2519"/>
                <a:gd name="T50" fmla="*/ 1620 w 2151"/>
                <a:gd name="T51" fmla="*/ 1704 h 2519"/>
                <a:gd name="T52" fmla="*/ 1858 w 2151"/>
                <a:gd name="T53" fmla="*/ 1758 h 2519"/>
                <a:gd name="T54" fmla="*/ 1941 w 2151"/>
                <a:gd name="T55" fmla="*/ 1784 h 2519"/>
                <a:gd name="T56" fmla="*/ 1980 w 2151"/>
                <a:gd name="T57" fmla="*/ 1920 h 2519"/>
                <a:gd name="T58" fmla="*/ 2056 w 2151"/>
                <a:gd name="T59" fmla="*/ 2193 h 2519"/>
                <a:gd name="T60" fmla="*/ 2116 w 2151"/>
                <a:gd name="T61" fmla="*/ 2406 h 2519"/>
                <a:gd name="T62" fmla="*/ 2142 w 2151"/>
                <a:gd name="T63" fmla="*/ 2496 h 2519"/>
                <a:gd name="T64" fmla="*/ 1697 w 2151"/>
                <a:gd name="T65" fmla="*/ 2519 h 2519"/>
                <a:gd name="T66" fmla="*/ 1243 w 2151"/>
                <a:gd name="T67" fmla="*/ 2519 h 2519"/>
                <a:gd name="T68" fmla="*/ 1237 w 2151"/>
                <a:gd name="T69" fmla="*/ 2489 h 2519"/>
                <a:gd name="T70" fmla="*/ 925 w 2151"/>
                <a:gd name="T71" fmla="*/ 1488 h 2519"/>
                <a:gd name="T72" fmla="*/ 783 w 2151"/>
                <a:gd name="T73" fmla="*/ 1408 h 2519"/>
                <a:gd name="T74" fmla="*/ 584 w 2151"/>
                <a:gd name="T75" fmla="*/ 1119 h 2519"/>
                <a:gd name="T76" fmla="*/ 547 w 2151"/>
                <a:gd name="T77" fmla="*/ 928 h 2519"/>
                <a:gd name="T78" fmla="*/ 689 w 2151"/>
                <a:gd name="T79" fmla="*/ 940 h 2519"/>
                <a:gd name="T80" fmla="*/ 1467 w 2151"/>
                <a:gd name="T81" fmla="*/ 946 h 2519"/>
                <a:gd name="T82" fmla="*/ 1601 w 2151"/>
                <a:gd name="T83" fmla="*/ 938 h 2519"/>
                <a:gd name="T84" fmla="*/ 1532 w 2151"/>
                <a:gd name="T85" fmla="*/ 1197 h 2519"/>
                <a:gd name="T86" fmla="*/ 925 w 2151"/>
                <a:gd name="T87" fmla="*/ 1488 h 2519"/>
                <a:gd name="T88" fmla="*/ 809 w 2151"/>
                <a:gd name="T89" fmla="*/ 872 h 2519"/>
                <a:gd name="T90" fmla="*/ 662 w 2151"/>
                <a:gd name="T91" fmla="*/ 854 h 2519"/>
                <a:gd name="T92" fmla="*/ 477 w 2151"/>
                <a:gd name="T93" fmla="*/ 826 h 2519"/>
                <a:gd name="T94" fmla="*/ 450 w 2151"/>
                <a:gd name="T95" fmla="*/ 785 h 2519"/>
                <a:gd name="T96" fmla="*/ 483 w 2151"/>
                <a:gd name="T97" fmla="*/ 620 h 2519"/>
                <a:gd name="T98" fmla="*/ 661 w 2151"/>
                <a:gd name="T99" fmla="*/ 163 h 2519"/>
                <a:gd name="T100" fmla="*/ 1397 w 2151"/>
                <a:gd name="T101" fmla="*/ 105 h 2519"/>
                <a:gd name="T102" fmla="*/ 1668 w 2151"/>
                <a:gd name="T103" fmla="*/ 622 h 2519"/>
                <a:gd name="T104" fmla="*/ 1700 w 2151"/>
                <a:gd name="T105" fmla="*/ 780 h 2519"/>
                <a:gd name="T106" fmla="*/ 1462 w 2151"/>
                <a:gd name="T107" fmla="*/ 859 h 2519"/>
                <a:gd name="T108" fmla="*/ 809 w 2151"/>
                <a:gd name="T109" fmla="*/ 872 h 2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51" h="2519">
                  <a:moveTo>
                    <a:pt x="8" y="2496"/>
                  </a:moveTo>
                  <a:cubicBezTo>
                    <a:pt x="13" y="2483"/>
                    <a:pt x="25" y="2443"/>
                    <a:pt x="36" y="2406"/>
                  </a:cubicBezTo>
                  <a:cubicBezTo>
                    <a:pt x="46" y="2369"/>
                    <a:pt x="82" y="2240"/>
                    <a:pt x="116" y="2119"/>
                  </a:cubicBezTo>
                  <a:cubicBezTo>
                    <a:pt x="150" y="1998"/>
                    <a:pt x="185" y="1872"/>
                    <a:pt x="194" y="1840"/>
                  </a:cubicBezTo>
                  <a:cubicBezTo>
                    <a:pt x="212" y="1773"/>
                    <a:pt x="207" y="1775"/>
                    <a:pt x="435" y="1726"/>
                  </a:cubicBezTo>
                  <a:cubicBezTo>
                    <a:pt x="494" y="1713"/>
                    <a:pt x="575" y="1694"/>
                    <a:pt x="615" y="1684"/>
                  </a:cubicBezTo>
                  <a:cubicBezTo>
                    <a:pt x="655" y="1674"/>
                    <a:pt x="697" y="1666"/>
                    <a:pt x="709" y="1666"/>
                  </a:cubicBezTo>
                  <a:cubicBezTo>
                    <a:pt x="720" y="1666"/>
                    <a:pt x="753" y="1642"/>
                    <a:pt x="782" y="1613"/>
                  </a:cubicBezTo>
                  <a:cubicBezTo>
                    <a:pt x="811" y="1583"/>
                    <a:pt x="840" y="1560"/>
                    <a:pt x="848" y="1561"/>
                  </a:cubicBezTo>
                  <a:cubicBezTo>
                    <a:pt x="856" y="1562"/>
                    <a:pt x="895" y="1598"/>
                    <a:pt x="934" y="1641"/>
                  </a:cubicBezTo>
                  <a:lnTo>
                    <a:pt x="1007" y="1720"/>
                  </a:lnTo>
                  <a:lnTo>
                    <a:pt x="984" y="1910"/>
                  </a:lnTo>
                  <a:cubicBezTo>
                    <a:pt x="972" y="2014"/>
                    <a:pt x="952" y="2180"/>
                    <a:pt x="941" y="2279"/>
                  </a:cubicBezTo>
                  <a:cubicBezTo>
                    <a:pt x="929" y="2378"/>
                    <a:pt x="917" y="2473"/>
                    <a:pt x="914" y="2489"/>
                  </a:cubicBezTo>
                  <a:lnTo>
                    <a:pt x="908" y="2519"/>
                  </a:lnTo>
                  <a:lnTo>
                    <a:pt x="454" y="2519"/>
                  </a:lnTo>
                  <a:cubicBezTo>
                    <a:pt x="26" y="2519"/>
                    <a:pt x="0" y="2518"/>
                    <a:pt x="8" y="2496"/>
                  </a:cubicBezTo>
                  <a:close/>
                  <a:moveTo>
                    <a:pt x="1237" y="2489"/>
                  </a:moveTo>
                  <a:cubicBezTo>
                    <a:pt x="1233" y="2473"/>
                    <a:pt x="1221" y="2378"/>
                    <a:pt x="1210" y="2279"/>
                  </a:cubicBezTo>
                  <a:cubicBezTo>
                    <a:pt x="1198" y="2180"/>
                    <a:pt x="1179" y="2014"/>
                    <a:pt x="1166" y="1910"/>
                  </a:cubicBezTo>
                  <a:lnTo>
                    <a:pt x="1144" y="1720"/>
                  </a:lnTo>
                  <a:lnTo>
                    <a:pt x="1216" y="1643"/>
                  </a:lnTo>
                  <a:cubicBezTo>
                    <a:pt x="1256" y="1601"/>
                    <a:pt x="1295" y="1564"/>
                    <a:pt x="1302" y="1562"/>
                  </a:cubicBezTo>
                  <a:cubicBezTo>
                    <a:pt x="1310" y="1560"/>
                    <a:pt x="1339" y="1583"/>
                    <a:pt x="1368" y="1612"/>
                  </a:cubicBezTo>
                  <a:cubicBezTo>
                    <a:pt x="1397" y="1642"/>
                    <a:pt x="1429" y="1666"/>
                    <a:pt x="1440" y="1666"/>
                  </a:cubicBezTo>
                  <a:cubicBezTo>
                    <a:pt x="1450" y="1666"/>
                    <a:pt x="1531" y="1683"/>
                    <a:pt x="1620" y="1704"/>
                  </a:cubicBezTo>
                  <a:cubicBezTo>
                    <a:pt x="1709" y="1725"/>
                    <a:pt x="1816" y="1749"/>
                    <a:pt x="1858" y="1758"/>
                  </a:cubicBezTo>
                  <a:cubicBezTo>
                    <a:pt x="1900" y="1767"/>
                    <a:pt x="1937" y="1779"/>
                    <a:pt x="1941" y="1784"/>
                  </a:cubicBezTo>
                  <a:cubicBezTo>
                    <a:pt x="1944" y="1789"/>
                    <a:pt x="1962" y="1850"/>
                    <a:pt x="1980" y="1920"/>
                  </a:cubicBezTo>
                  <a:cubicBezTo>
                    <a:pt x="1998" y="1989"/>
                    <a:pt x="2032" y="2112"/>
                    <a:pt x="2056" y="2193"/>
                  </a:cubicBezTo>
                  <a:cubicBezTo>
                    <a:pt x="2079" y="2273"/>
                    <a:pt x="2106" y="2369"/>
                    <a:pt x="2116" y="2406"/>
                  </a:cubicBezTo>
                  <a:cubicBezTo>
                    <a:pt x="2125" y="2443"/>
                    <a:pt x="2137" y="2483"/>
                    <a:pt x="2142" y="2496"/>
                  </a:cubicBezTo>
                  <a:cubicBezTo>
                    <a:pt x="2151" y="2518"/>
                    <a:pt x="2124" y="2519"/>
                    <a:pt x="1697" y="2519"/>
                  </a:cubicBezTo>
                  <a:lnTo>
                    <a:pt x="1243" y="2519"/>
                  </a:lnTo>
                  <a:lnTo>
                    <a:pt x="1237" y="2489"/>
                  </a:lnTo>
                  <a:close/>
                  <a:moveTo>
                    <a:pt x="925" y="1488"/>
                  </a:moveTo>
                  <a:cubicBezTo>
                    <a:pt x="880" y="1470"/>
                    <a:pt x="816" y="1434"/>
                    <a:pt x="783" y="1408"/>
                  </a:cubicBezTo>
                  <a:cubicBezTo>
                    <a:pt x="716" y="1353"/>
                    <a:pt x="618" y="1210"/>
                    <a:pt x="584" y="1119"/>
                  </a:cubicBezTo>
                  <a:cubicBezTo>
                    <a:pt x="558" y="1046"/>
                    <a:pt x="536" y="934"/>
                    <a:pt x="547" y="928"/>
                  </a:cubicBezTo>
                  <a:cubicBezTo>
                    <a:pt x="552" y="925"/>
                    <a:pt x="615" y="931"/>
                    <a:pt x="689" y="940"/>
                  </a:cubicBezTo>
                  <a:cubicBezTo>
                    <a:pt x="861" y="961"/>
                    <a:pt x="1311" y="964"/>
                    <a:pt x="1467" y="946"/>
                  </a:cubicBezTo>
                  <a:cubicBezTo>
                    <a:pt x="1533" y="937"/>
                    <a:pt x="1594" y="934"/>
                    <a:pt x="1601" y="938"/>
                  </a:cubicBezTo>
                  <a:cubicBezTo>
                    <a:pt x="1620" y="950"/>
                    <a:pt x="1580" y="1098"/>
                    <a:pt x="1532" y="1197"/>
                  </a:cubicBezTo>
                  <a:cubicBezTo>
                    <a:pt x="1407" y="1451"/>
                    <a:pt x="1151" y="1574"/>
                    <a:pt x="925" y="1488"/>
                  </a:cubicBezTo>
                  <a:close/>
                  <a:moveTo>
                    <a:pt x="809" y="872"/>
                  </a:moveTo>
                  <a:cubicBezTo>
                    <a:pt x="801" y="869"/>
                    <a:pt x="735" y="861"/>
                    <a:pt x="662" y="854"/>
                  </a:cubicBezTo>
                  <a:cubicBezTo>
                    <a:pt x="589" y="847"/>
                    <a:pt x="506" y="834"/>
                    <a:pt x="477" y="826"/>
                  </a:cubicBezTo>
                  <a:cubicBezTo>
                    <a:pt x="428" y="811"/>
                    <a:pt x="427" y="810"/>
                    <a:pt x="450" y="785"/>
                  </a:cubicBezTo>
                  <a:cubicBezTo>
                    <a:pt x="467" y="765"/>
                    <a:pt x="476" y="724"/>
                    <a:pt x="483" y="620"/>
                  </a:cubicBezTo>
                  <a:cubicBezTo>
                    <a:pt x="500" y="388"/>
                    <a:pt x="549" y="262"/>
                    <a:pt x="661" y="163"/>
                  </a:cubicBezTo>
                  <a:cubicBezTo>
                    <a:pt x="814" y="28"/>
                    <a:pt x="1175" y="0"/>
                    <a:pt x="1397" y="105"/>
                  </a:cubicBezTo>
                  <a:cubicBezTo>
                    <a:pt x="1570" y="186"/>
                    <a:pt x="1647" y="335"/>
                    <a:pt x="1668" y="622"/>
                  </a:cubicBezTo>
                  <a:cubicBezTo>
                    <a:pt x="1675" y="730"/>
                    <a:pt x="1683" y="767"/>
                    <a:pt x="1700" y="780"/>
                  </a:cubicBezTo>
                  <a:cubicBezTo>
                    <a:pt x="1746" y="813"/>
                    <a:pt x="1684" y="834"/>
                    <a:pt x="1462" y="859"/>
                  </a:cubicBezTo>
                  <a:cubicBezTo>
                    <a:pt x="1332" y="874"/>
                    <a:pt x="844" y="883"/>
                    <a:pt x="809" y="87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36"/>
            <p:cNvSpPr>
              <a:spLocks noEditPoints="1"/>
            </p:cNvSpPr>
            <p:nvPr/>
          </p:nvSpPr>
          <p:spPr bwMode="auto">
            <a:xfrm>
              <a:off x="2281613" y="1564541"/>
              <a:ext cx="206375" cy="242546"/>
            </a:xfrm>
            <a:custGeom>
              <a:avLst/>
              <a:gdLst>
                <a:gd name="T0" fmla="*/ 0 w 1733"/>
                <a:gd name="T1" fmla="*/ 160 h 2040"/>
                <a:gd name="T2" fmla="*/ 453 w 1733"/>
                <a:gd name="T3" fmla="*/ 61 h 2040"/>
                <a:gd name="T4" fmla="*/ 867 w 1733"/>
                <a:gd name="T5" fmla="*/ 0 h 2040"/>
                <a:gd name="T6" fmla="*/ 1280 w 1733"/>
                <a:gd name="T7" fmla="*/ 60 h 2040"/>
                <a:gd name="T8" fmla="*/ 1733 w 1733"/>
                <a:gd name="T9" fmla="*/ 160 h 2040"/>
                <a:gd name="T10" fmla="*/ 1733 w 1733"/>
                <a:gd name="T11" fmla="*/ 2040 h 2040"/>
                <a:gd name="T12" fmla="*/ 0 w 1733"/>
                <a:gd name="T13" fmla="*/ 2040 h 2040"/>
                <a:gd name="T14" fmla="*/ 1540 w 1733"/>
                <a:gd name="T15" fmla="*/ 1100 h 2040"/>
                <a:gd name="T16" fmla="*/ 1395 w 1733"/>
                <a:gd name="T17" fmla="*/ 350 h 2040"/>
                <a:gd name="T18" fmla="*/ 1185 w 1733"/>
                <a:gd name="T19" fmla="*/ 410 h 2040"/>
                <a:gd name="T20" fmla="*/ 877 w 1733"/>
                <a:gd name="T21" fmla="*/ 474 h 2040"/>
                <a:gd name="T22" fmla="*/ 566 w 1733"/>
                <a:gd name="T23" fmla="*/ 411 h 2040"/>
                <a:gd name="T24" fmla="*/ 346 w 1733"/>
                <a:gd name="T25" fmla="*/ 350 h 2040"/>
                <a:gd name="T26" fmla="*/ 190 w 1733"/>
                <a:gd name="T27" fmla="*/ 1087 h 2040"/>
                <a:gd name="T28" fmla="*/ 870 w 1733"/>
                <a:gd name="T29" fmla="*/ 1850 h 2040"/>
                <a:gd name="T30" fmla="*/ 1540 w 1733"/>
                <a:gd name="T31" fmla="*/ 1100 h 2040"/>
                <a:gd name="T32" fmla="*/ 378 w 1733"/>
                <a:gd name="T33" fmla="*/ 1407 h 2040"/>
                <a:gd name="T34" fmla="*/ 546 w 1733"/>
                <a:gd name="T35" fmla="*/ 1466 h 2040"/>
                <a:gd name="T36" fmla="*/ 857 w 1733"/>
                <a:gd name="T37" fmla="*/ 1200 h 2040"/>
                <a:gd name="T38" fmla="*/ 646 w 1733"/>
                <a:gd name="T39" fmla="*/ 1509 h 2040"/>
                <a:gd name="T40" fmla="*/ 462 w 1733"/>
                <a:gd name="T41" fmla="*/ 1526 h 2040"/>
                <a:gd name="T42" fmla="*/ 1027 w 1733"/>
                <a:gd name="T43" fmla="*/ 1557 h 2040"/>
                <a:gd name="T44" fmla="*/ 1197 w 1733"/>
                <a:gd name="T45" fmla="*/ 1523 h 2040"/>
                <a:gd name="T46" fmla="*/ 1367 w 1733"/>
                <a:gd name="T47" fmla="*/ 1567 h 2040"/>
                <a:gd name="T48" fmla="*/ 1206 w 1733"/>
                <a:gd name="T49" fmla="*/ 1610 h 2040"/>
                <a:gd name="T50" fmla="*/ 1036 w 1733"/>
                <a:gd name="T51" fmla="*/ 1418 h 2040"/>
                <a:gd name="T52" fmla="*/ 1027 w 1733"/>
                <a:gd name="T53" fmla="*/ 1333 h 2040"/>
                <a:gd name="T54" fmla="*/ 1367 w 1733"/>
                <a:gd name="T55" fmla="*/ 1340 h 2040"/>
                <a:gd name="T56" fmla="*/ 1367 w 1733"/>
                <a:gd name="T57" fmla="*/ 1420 h 2040"/>
                <a:gd name="T58" fmla="*/ 1036 w 1733"/>
                <a:gd name="T59" fmla="*/ 1418 h 2040"/>
                <a:gd name="T60" fmla="*/ 378 w 1733"/>
                <a:gd name="T61" fmla="*/ 873 h 2040"/>
                <a:gd name="T62" fmla="*/ 548 w 1733"/>
                <a:gd name="T63" fmla="*/ 934 h 2040"/>
                <a:gd name="T64" fmla="*/ 858 w 1733"/>
                <a:gd name="T65" fmla="*/ 667 h 2040"/>
                <a:gd name="T66" fmla="*/ 614 w 1733"/>
                <a:gd name="T67" fmla="*/ 1030 h 2040"/>
                <a:gd name="T68" fmla="*/ 469 w 1733"/>
                <a:gd name="T69" fmla="*/ 999 h 2040"/>
                <a:gd name="T70" fmla="*/ 1033 w 1733"/>
                <a:gd name="T71" fmla="*/ 940 h 2040"/>
                <a:gd name="T72" fmla="*/ 1367 w 1733"/>
                <a:gd name="T73" fmla="*/ 940 h 2040"/>
                <a:gd name="T74" fmla="*/ 1367 w 1733"/>
                <a:gd name="T75" fmla="*/ 1020 h 2040"/>
                <a:gd name="T76" fmla="*/ 1025 w 1733"/>
                <a:gd name="T77" fmla="*/ 1027 h 2040"/>
                <a:gd name="T78" fmla="*/ 1032 w 1733"/>
                <a:gd name="T79" fmla="*/ 821 h 2040"/>
                <a:gd name="T80" fmla="*/ 1200 w 1733"/>
                <a:gd name="T81" fmla="*/ 753 h 2040"/>
                <a:gd name="T82" fmla="*/ 1367 w 1733"/>
                <a:gd name="T83" fmla="*/ 793 h 2040"/>
                <a:gd name="T84" fmla="*/ 1203 w 1733"/>
                <a:gd name="T85" fmla="*/ 837 h 2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33" h="2040">
                  <a:moveTo>
                    <a:pt x="0" y="1100"/>
                  </a:moveTo>
                  <a:lnTo>
                    <a:pt x="0" y="160"/>
                  </a:lnTo>
                  <a:lnTo>
                    <a:pt x="161" y="160"/>
                  </a:lnTo>
                  <a:cubicBezTo>
                    <a:pt x="344" y="160"/>
                    <a:pt x="363" y="154"/>
                    <a:pt x="453" y="61"/>
                  </a:cubicBezTo>
                  <a:lnTo>
                    <a:pt x="512" y="0"/>
                  </a:lnTo>
                  <a:lnTo>
                    <a:pt x="867" y="0"/>
                  </a:lnTo>
                  <a:lnTo>
                    <a:pt x="1221" y="0"/>
                  </a:lnTo>
                  <a:lnTo>
                    <a:pt x="1280" y="60"/>
                  </a:lnTo>
                  <a:cubicBezTo>
                    <a:pt x="1368" y="149"/>
                    <a:pt x="1400" y="160"/>
                    <a:pt x="1579" y="160"/>
                  </a:cubicBezTo>
                  <a:lnTo>
                    <a:pt x="1733" y="160"/>
                  </a:lnTo>
                  <a:lnTo>
                    <a:pt x="1733" y="1100"/>
                  </a:lnTo>
                  <a:lnTo>
                    <a:pt x="1733" y="2040"/>
                  </a:lnTo>
                  <a:lnTo>
                    <a:pt x="867" y="2040"/>
                  </a:lnTo>
                  <a:lnTo>
                    <a:pt x="0" y="2040"/>
                  </a:lnTo>
                  <a:lnTo>
                    <a:pt x="0" y="1100"/>
                  </a:lnTo>
                  <a:close/>
                  <a:moveTo>
                    <a:pt x="1540" y="1100"/>
                  </a:moveTo>
                  <a:lnTo>
                    <a:pt x="1540" y="353"/>
                  </a:lnTo>
                  <a:lnTo>
                    <a:pt x="1395" y="350"/>
                  </a:lnTo>
                  <a:lnTo>
                    <a:pt x="1250" y="346"/>
                  </a:lnTo>
                  <a:lnTo>
                    <a:pt x="1185" y="410"/>
                  </a:lnTo>
                  <a:lnTo>
                    <a:pt x="1120" y="473"/>
                  </a:lnTo>
                  <a:lnTo>
                    <a:pt x="877" y="474"/>
                  </a:lnTo>
                  <a:lnTo>
                    <a:pt x="633" y="475"/>
                  </a:lnTo>
                  <a:lnTo>
                    <a:pt x="566" y="411"/>
                  </a:lnTo>
                  <a:lnTo>
                    <a:pt x="498" y="346"/>
                  </a:lnTo>
                  <a:lnTo>
                    <a:pt x="346" y="350"/>
                  </a:lnTo>
                  <a:lnTo>
                    <a:pt x="193" y="353"/>
                  </a:lnTo>
                  <a:lnTo>
                    <a:pt x="190" y="1087"/>
                  </a:lnTo>
                  <a:cubicBezTo>
                    <a:pt x="188" y="1490"/>
                    <a:pt x="189" y="1828"/>
                    <a:pt x="193" y="1837"/>
                  </a:cubicBezTo>
                  <a:cubicBezTo>
                    <a:pt x="198" y="1850"/>
                    <a:pt x="340" y="1853"/>
                    <a:pt x="870" y="1850"/>
                  </a:cubicBezTo>
                  <a:lnTo>
                    <a:pt x="1540" y="1847"/>
                  </a:lnTo>
                  <a:lnTo>
                    <a:pt x="1540" y="1100"/>
                  </a:lnTo>
                  <a:close/>
                  <a:moveTo>
                    <a:pt x="462" y="1526"/>
                  </a:moveTo>
                  <a:cubicBezTo>
                    <a:pt x="403" y="1462"/>
                    <a:pt x="373" y="1420"/>
                    <a:pt x="378" y="1407"/>
                  </a:cubicBezTo>
                  <a:cubicBezTo>
                    <a:pt x="389" y="1377"/>
                    <a:pt x="414" y="1382"/>
                    <a:pt x="484" y="1426"/>
                  </a:cubicBezTo>
                  <a:lnTo>
                    <a:pt x="546" y="1466"/>
                  </a:lnTo>
                  <a:lnTo>
                    <a:pt x="610" y="1398"/>
                  </a:lnTo>
                  <a:cubicBezTo>
                    <a:pt x="671" y="1333"/>
                    <a:pt x="836" y="1200"/>
                    <a:pt x="857" y="1200"/>
                  </a:cubicBezTo>
                  <a:cubicBezTo>
                    <a:pt x="881" y="1200"/>
                    <a:pt x="861" y="1235"/>
                    <a:pt x="790" y="1314"/>
                  </a:cubicBezTo>
                  <a:cubicBezTo>
                    <a:pt x="749" y="1361"/>
                    <a:pt x="684" y="1448"/>
                    <a:pt x="646" y="1509"/>
                  </a:cubicBezTo>
                  <a:cubicBezTo>
                    <a:pt x="609" y="1569"/>
                    <a:pt x="573" y="1620"/>
                    <a:pt x="566" y="1621"/>
                  </a:cubicBezTo>
                  <a:cubicBezTo>
                    <a:pt x="559" y="1623"/>
                    <a:pt x="512" y="1580"/>
                    <a:pt x="462" y="1526"/>
                  </a:cubicBezTo>
                  <a:close/>
                  <a:moveTo>
                    <a:pt x="1036" y="1605"/>
                  </a:moveTo>
                  <a:cubicBezTo>
                    <a:pt x="1031" y="1600"/>
                    <a:pt x="1027" y="1578"/>
                    <a:pt x="1027" y="1557"/>
                  </a:cubicBezTo>
                  <a:lnTo>
                    <a:pt x="1027" y="1519"/>
                  </a:lnTo>
                  <a:lnTo>
                    <a:pt x="1197" y="1523"/>
                  </a:lnTo>
                  <a:lnTo>
                    <a:pt x="1367" y="1527"/>
                  </a:lnTo>
                  <a:lnTo>
                    <a:pt x="1367" y="1567"/>
                  </a:lnTo>
                  <a:lnTo>
                    <a:pt x="1367" y="1607"/>
                  </a:lnTo>
                  <a:lnTo>
                    <a:pt x="1206" y="1610"/>
                  </a:lnTo>
                  <a:cubicBezTo>
                    <a:pt x="1118" y="1612"/>
                    <a:pt x="1041" y="1610"/>
                    <a:pt x="1036" y="1605"/>
                  </a:cubicBezTo>
                  <a:close/>
                  <a:moveTo>
                    <a:pt x="1036" y="1418"/>
                  </a:moveTo>
                  <a:cubicBezTo>
                    <a:pt x="1031" y="1413"/>
                    <a:pt x="1027" y="1392"/>
                    <a:pt x="1027" y="1371"/>
                  </a:cubicBezTo>
                  <a:lnTo>
                    <a:pt x="1027" y="1333"/>
                  </a:lnTo>
                  <a:lnTo>
                    <a:pt x="1197" y="1336"/>
                  </a:lnTo>
                  <a:lnTo>
                    <a:pt x="1367" y="1340"/>
                  </a:lnTo>
                  <a:lnTo>
                    <a:pt x="1367" y="1380"/>
                  </a:lnTo>
                  <a:lnTo>
                    <a:pt x="1367" y="1420"/>
                  </a:lnTo>
                  <a:lnTo>
                    <a:pt x="1206" y="1424"/>
                  </a:lnTo>
                  <a:cubicBezTo>
                    <a:pt x="1118" y="1426"/>
                    <a:pt x="1041" y="1423"/>
                    <a:pt x="1036" y="1418"/>
                  </a:cubicBezTo>
                  <a:close/>
                  <a:moveTo>
                    <a:pt x="469" y="999"/>
                  </a:moveTo>
                  <a:cubicBezTo>
                    <a:pt x="406" y="932"/>
                    <a:pt x="373" y="886"/>
                    <a:pt x="378" y="873"/>
                  </a:cubicBezTo>
                  <a:cubicBezTo>
                    <a:pt x="389" y="844"/>
                    <a:pt x="409" y="848"/>
                    <a:pt x="483" y="894"/>
                  </a:cubicBezTo>
                  <a:lnTo>
                    <a:pt x="548" y="934"/>
                  </a:lnTo>
                  <a:lnTo>
                    <a:pt x="608" y="868"/>
                  </a:lnTo>
                  <a:cubicBezTo>
                    <a:pt x="662" y="808"/>
                    <a:pt x="838" y="667"/>
                    <a:pt x="858" y="667"/>
                  </a:cubicBezTo>
                  <a:cubicBezTo>
                    <a:pt x="880" y="667"/>
                    <a:pt x="863" y="705"/>
                    <a:pt x="826" y="741"/>
                  </a:cubicBezTo>
                  <a:cubicBezTo>
                    <a:pt x="771" y="793"/>
                    <a:pt x="667" y="935"/>
                    <a:pt x="614" y="1030"/>
                  </a:cubicBezTo>
                  <a:cubicBezTo>
                    <a:pt x="590" y="1072"/>
                    <a:pt x="570" y="1106"/>
                    <a:pt x="569" y="1106"/>
                  </a:cubicBezTo>
                  <a:cubicBezTo>
                    <a:pt x="568" y="1106"/>
                    <a:pt x="523" y="1057"/>
                    <a:pt x="469" y="999"/>
                  </a:cubicBezTo>
                  <a:close/>
                  <a:moveTo>
                    <a:pt x="1029" y="984"/>
                  </a:moveTo>
                  <a:lnTo>
                    <a:pt x="1033" y="940"/>
                  </a:lnTo>
                  <a:lnTo>
                    <a:pt x="1200" y="940"/>
                  </a:lnTo>
                  <a:lnTo>
                    <a:pt x="1367" y="940"/>
                  </a:lnTo>
                  <a:lnTo>
                    <a:pt x="1367" y="980"/>
                  </a:lnTo>
                  <a:lnTo>
                    <a:pt x="1367" y="1020"/>
                  </a:lnTo>
                  <a:lnTo>
                    <a:pt x="1196" y="1024"/>
                  </a:lnTo>
                  <a:lnTo>
                    <a:pt x="1025" y="1027"/>
                  </a:lnTo>
                  <a:lnTo>
                    <a:pt x="1029" y="984"/>
                  </a:lnTo>
                  <a:close/>
                  <a:moveTo>
                    <a:pt x="1032" y="821"/>
                  </a:moveTo>
                  <a:cubicBezTo>
                    <a:pt x="1028" y="810"/>
                    <a:pt x="1027" y="791"/>
                    <a:pt x="1029" y="777"/>
                  </a:cubicBezTo>
                  <a:cubicBezTo>
                    <a:pt x="1033" y="756"/>
                    <a:pt x="1050" y="753"/>
                    <a:pt x="1200" y="753"/>
                  </a:cubicBezTo>
                  <a:lnTo>
                    <a:pt x="1367" y="753"/>
                  </a:lnTo>
                  <a:lnTo>
                    <a:pt x="1367" y="793"/>
                  </a:lnTo>
                  <a:lnTo>
                    <a:pt x="1367" y="833"/>
                  </a:lnTo>
                  <a:lnTo>
                    <a:pt x="1203" y="837"/>
                  </a:lnTo>
                  <a:cubicBezTo>
                    <a:pt x="1069" y="840"/>
                    <a:pt x="1038" y="837"/>
                    <a:pt x="1032" y="82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2484137" y="5382827"/>
              <a:ext cx="369769" cy="421818"/>
            </a:xfrm>
            <a:custGeom>
              <a:avLst/>
              <a:gdLst/>
              <a:ahLst/>
              <a:cxnLst/>
              <a:rect l="l" t="t" r="r" b="b"/>
              <a:pathLst>
                <a:path w="1962309" h="2238535">
                  <a:moveTo>
                    <a:pt x="1174597" y="424767"/>
                  </a:moveTo>
                  <a:cubicBezTo>
                    <a:pt x="1152157" y="423494"/>
                    <a:pt x="1127882" y="425346"/>
                    <a:pt x="1102217" y="431960"/>
                  </a:cubicBezTo>
                  <a:cubicBezTo>
                    <a:pt x="1111742" y="466885"/>
                    <a:pt x="1153017" y="524035"/>
                    <a:pt x="1273667" y="565310"/>
                  </a:cubicBezTo>
                  <a:cubicBezTo>
                    <a:pt x="1113859" y="603410"/>
                    <a:pt x="877850" y="631985"/>
                    <a:pt x="641842" y="508160"/>
                  </a:cubicBezTo>
                  <a:cubicBezTo>
                    <a:pt x="578342" y="661618"/>
                    <a:pt x="591042" y="942077"/>
                    <a:pt x="746617" y="1101885"/>
                  </a:cubicBezTo>
                  <a:cubicBezTo>
                    <a:pt x="747675" y="1165385"/>
                    <a:pt x="748734" y="1228885"/>
                    <a:pt x="749792" y="1292385"/>
                  </a:cubicBezTo>
                  <a:lnTo>
                    <a:pt x="600567" y="1336835"/>
                  </a:lnTo>
                  <a:cubicBezTo>
                    <a:pt x="655600" y="1482885"/>
                    <a:pt x="672534" y="1578135"/>
                    <a:pt x="698992" y="1755935"/>
                  </a:cubicBezTo>
                  <a:cubicBezTo>
                    <a:pt x="856684" y="1858593"/>
                    <a:pt x="1115975" y="1872352"/>
                    <a:pt x="1276842" y="1740060"/>
                  </a:cubicBezTo>
                  <a:cubicBezTo>
                    <a:pt x="1290600" y="1628935"/>
                    <a:pt x="1320234" y="1473360"/>
                    <a:pt x="1365742" y="1340010"/>
                  </a:cubicBezTo>
                  <a:lnTo>
                    <a:pt x="1216517" y="1295560"/>
                  </a:lnTo>
                  <a:lnTo>
                    <a:pt x="1222867" y="1101885"/>
                  </a:lnTo>
                  <a:cubicBezTo>
                    <a:pt x="1326584" y="979118"/>
                    <a:pt x="1408075" y="751577"/>
                    <a:pt x="1314942" y="476410"/>
                  </a:cubicBezTo>
                  <a:cubicBezTo>
                    <a:pt x="1292717" y="460535"/>
                    <a:pt x="1241917" y="428587"/>
                    <a:pt x="1174597" y="424767"/>
                  </a:cubicBezTo>
                  <a:close/>
                  <a:moveTo>
                    <a:pt x="987917" y="160"/>
                  </a:moveTo>
                  <a:cubicBezTo>
                    <a:pt x="1455700" y="1218"/>
                    <a:pt x="1621859" y="453127"/>
                    <a:pt x="1591167" y="651035"/>
                  </a:cubicBezTo>
                  <a:cubicBezTo>
                    <a:pt x="1580584" y="865877"/>
                    <a:pt x="1474750" y="1185493"/>
                    <a:pt x="1521317" y="1276510"/>
                  </a:cubicBezTo>
                  <a:cubicBezTo>
                    <a:pt x="1599634" y="1414093"/>
                    <a:pt x="1747800" y="1345302"/>
                    <a:pt x="1889617" y="1527335"/>
                  </a:cubicBezTo>
                  <a:cubicBezTo>
                    <a:pt x="2007092" y="1703018"/>
                    <a:pt x="1949942" y="1888227"/>
                    <a:pt x="1937242" y="2235360"/>
                  </a:cubicBezTo>
                  <a:lnTo>
                    <a:pt x="1226042" y="2235360"/>
                  </a:lnTo>
                  <a:cubicBezTo>
                    <a:pt x="1217575" y="2121060"/>
                    <a:pt x="1231334" y="2006760"/>
                    <a:pt x="1248267" y="1892460"/>
                  </a:cubicBezTo>
                  <a:cubicBezTo>
                    <a:pt x="1084225" y="1957018"/>
                    <a:pt x="936059" y="1986652"/>
                    <a:pt x="718042" y="1905160"/>
                  </a:cubicBezTo>
                  <a:cubicBezTo>
                    <a:pt x="728625" y="1984535"/>
                    <a:pt x="755084" y="2111535"/>
                    <a:pt x="730742" y="2238535"/>
                  </a:cubicBezTo>
                  <a:lnTo>
                    <a:pt x="19542" y="2238535"/>
                  </a:lnTo>
                  <a:cubicBezTo>
                    <a:pt x="30125" y="2010993"/>
                    <a:pt x="-48623" y="1760615"/>
                    <a:pt x="51292" y="1555910"/>
                  </a:cubicBezTo>
                  <a:cubicBezTo>
                    <a:pt x="138075" y="1378110"/>
                    <a:pt x="332809" y="1413035"/>
                    <a:pt x="406892" y="1317785"/>
                  </a:cubicBezTo>
                  <a:cubicBezTo>
                    <a:pt x="486267" y="1236293"/>
                    <a:pt x="359267" y="859527"/>
                    <a:pt x="368792" y="597060"/>
                  </a:cubicBezTo>
                  <a:cubicBezTo>
                    <a:pt x="387842" y="242518"/>
                    <a:pt x="629142" y="-7248"/>
                    <a:pt x="987917" y="16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91" name="Freeform 41"/>
            <p:cNvSpPr>
              <a:spLocks noEditPoints="1"/>
            </p:cNvSpPr>
            <p:nvPr/>
          </p:nvSpPr>
          <p:spPr bwMode="auto">
            <a:xfrm>
              <a:off x="2268658" y="5391348"/>
              <a:ext cx="253478" cy="230473"/>
            </a:xfrm>
            <a:custGeom>
              <a:avLst/>
              <a:gdLst>
                <a:gd name="T0" fmla="*/ 1352 w 2479"/>
                <a:gd name="T1" fmla="*/ 2241 h 2255"/>
                <a:gd name="T2" fmla="*/ 1199 w 2479"/>
                <a:gd name="T3" fmla="*/ 2195 h 2255"/>
                <a:gd name="T4" fmla="*/ 1019 w 2479"/>
                <a:gd name="T5" fmla="*/ 2142 h 2255"/>
                <a:gd name="T6" fmla="*/ 792 w 2479"/>
                <a:gd name="T7" fmla="*/ 2075 h 2255"/>
                <a:gd name="T8" fmla="*/ 297 w 2479"/>
                <a:gd name="T9" fmla="*/ 1926 h 2255"/>
                <a:gd name="T10" fmla="*/ 89 w 2479"/>
                <a:gd name="T11" fmla="*/ 1770 h 2255"/>
                <a:gd name="T12" fmla="*/ 9 w 2479"/>
                <a:gd name="T13" fmla="*/ 1478 h 2255"/>
                <a:gd name="T14" fmla="*/ 176 w 2479"/>
                <a:gd name="T15" fmla="*/ 1075 h 2255"/>
                <a:gd name="T16" fmla="*/ 419 w 2479"/>
                <a:gd name="T17" fmla="*/ 808 h 2255"/>
                <a:gd name="T18" fmla="*/ 726 w 2479"/>
                <a:gd name="T19" fmla="*/ 468 h 2255"/>
                <a:gd name="T20" fmla="*/ 979 w 2479"/>
                <a:gd name="T21" fmla="*/ 188 h 2255"/>
                <a:gd name="T22" fmla="*/ 1148 w 2479"/>
                <a:gd name="T23" fmla="*/ 18 h 2255"/>
                <a:gd name="T24" fmla="*/ 1579 w 2479"/>
                <a:gd name="T25" fmla="*/ 87 h 2255"/>
                <a:gd name="T26" fmla="*/ 1972 w 2479"/>
                <a:gd name="T27" fmla="*/ 174 h 2255"/>
                <a:gd name="T28" fmla="*/ 2460 w 2479"/>
                <a:gd name="T29" fmla="*/ 331 h 2255"/>
                <a:gd name="T30" fmla="*/ 2281 w 2479"/>
                <a:gd name="T31" fmla="*/ 615 h 2255"/>
                <a:gd name="T32" fmla="*/ 2146 w 2479"/>
                <a:gd name="T33" fmla="*/ 768 h 2255"/>
                <a:gd name="T34" fmla="*/ 1396 w 2479"/>
                <a:gd name="T35" fmla="*/ 1611 h 2255"/>
                <a:gd name="T36" fmla="*/ 1274 w 2479"/>
                <a:gd name="T37" fmla="*/ 1592 h 2255"/>
                <a:gd name="T38" fmla="*/ 559 w 2479"/>
                <a:gd name="T39" fmla="*/ 1389 h 2255"/>
                <a:gd name="T40" fmla="*/ 282 w 2479"/>
                <a:gd name="T41" fmla="*/ 1334 h 2255"/>
                <a:gd name="T42" fmla="*/ 212 w 2479"/>
                <a:gd name="T43" fmla="*/ 1618 h 2255"/>
                <a:gd name="T44" fmla="*/ 506 w 2479"/>
                <a:gd name="T45" fmla="*/ 1802 h 2255"/>
                <a:gd name="T46" fmla="*/ 706 w 2479"/>
                <a:gd name="T47" fmla="*/ 1861 h 2255"/>
                <a:gd name="T48" fmla="*/ 959 w 2479"/>
                <a:gd name="T49" fmla="*/ 1936 h 2255"/>
                <a:gd name="T50" fmla="*/ 1086 w 2479"/>
                <a:gd name="T51" fmla="*/ 1974 h 2255"/>
                <a:gd name="T52" fmla="*/ 1199 w 2479"/>
                <a:gd name="T53" fmla="*/ 2008 h 2255"/>
                <a:gd name="T54" fmla="*/ 1336 w 2479"/>
                <a:gd name="T55" fmla="*/ 2050 h 2255"/>
                <a:gd name="T56" fmla="*/ 1399 w 2479"/>
                <a:gd name="T57" fmla="*/ 2068 h 2255"/>
                <a:gd name="T58" fmla="*/ 1872 w 2479"/>
                <a:gd name="T59" fmla="*/ 1509 h 2255"/>
                <a:gd name="T60" fmla="*/ 2243 w 2479"/>
                <a:gd name="T61" fmla="*/ 1065 h 2255"/>
                <a:gd name="T62" fmla="*/ 2261 w 2479"/>
                <a:gd name="T63" fmla="*/ 955 h 2255"/>
                <a:gd name="T64" fmla="*/ 2427 w 2479"/>
                <a:gd name="T65" fmla="*/ 739 h 2255"/>
                <a:gd name="T66" fmla="*/ 2450 w 2479"/>
                <a:gd name="T67" fmla="*/ 854 h 2255"/>
                <a:gd name="T68" fmla="*/ 2450 w 2479"/>
                <a:gd name="T69" fmla="*/ 1003 h 2255"/>
                <a:gd name="T70" fmla="*/ 2427 w 2479"/>
                <a:gd name="T71" fmla="*/ 1119 h 2255"/>
                <a:gd name="T72" fmla="*/ 2041 w 2479"/>
                <a:gd name="T73" fmla="*/ 1588 h 2255"/>
                <a:gd name="T74" fmla="*/ 1748 w 2479"/>
                <a:gd name="T75" fmla="*/ 1938 h 2255"/>
                <a:gd name="T76" fmla="*/ 1435 w 2479"/>
                <a:gd name="T77" fmla="*/ 2254 h 2255"/>
                <a:gd name="T78" fmla="*/ 1352 w 2479"/>
                <a:gd name="T79" fmla="*/ 2241 h 2255"/>
                <a:gd name="T80" fmla="*/ 1830 w 2479"/>
                <a:gd name="T81" fmla="*/ 716 h 2255"/>
                <a:gd name="T82" fmla="*/ 1939 w 2479"/>
                <a:gd name="T83" fmla="*/ 583 h 2255"/>
                <a:gd name="T84" fmla="*/ 1925 w 2479"/>
                <a:gd name="T85" fmla="*/ 554 h 2255"/>
                <a:gd name="T86" fmla="*/ 1532 w 2479"/>
                <a:gd name="T87" fmla="*/ 456 h 2255"/>
                <a:gd name="T88" fmla="*/ 1342 w 2479"/>
                <a:gd name="T89" fmla="*/ 409 h 2255"/>
                <a:gd name="T90" fmla="*/ 1041 w 2479"/>
                <a:gd name="T91" fmla="*/ 442 h 2255"/>
                <a:gd name="T92" fmla="*/ 988 w 2479"/>
                <a:gd name="T93" fmla="*/ 529 h 2255"/>
                <a:gd name="T94" fmla="*/ 1359 w 2479"/>
                <a:gd name="T95" fmla="*/ 642 h 2255"/>
                <a:gd name="T96" fmla="*/ 1639 w 2479"/>
                <a:gd name="T97" fmla="*/ 709 h 2255"/>
                <a:gd name="T98" fmla="*/ 1830 w 2479"/>
                <a:gd name="T99" fmla="*/ 716 h 2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79" h="2255">
                  <a:moveTo>
                    <a:pt x="1352" y="2241"/>
                  </a:moveTo>
                  <a:cubicBezTo>
                    <a:pt x="1334" y="2235"/>
                    <a:pt x="1265" y="2214"/>
                    <a:pt x="1199" y="2195"/>
                  </a:cubicBezTo>
                  <a:cubicBezTo>
                    <a:pt x="1133" y="2176"/>
                    <a:pt x="1052" y="2152"/>
                    <a:pt x="1019" y="2142"/>
                  </a:cubicBezTo>
                  <a:cubicBezTo>
                    <a:pt x="986" y="2132"/>
                    <a:pt x="884" y="2102"/>
                    <a:pt x="792" y="2075"/>
                  </a:cubicBezTo>
                  <a:cubicBezTo>
                    <a:pt x="638" y="2031"/>
                    <a:pt x="449" y="1974"/>
                    <a:pt x="297" y="1926"/>
                  </a:cubicBezTo>
                  <a:cubicBezTo>
                    <a:pt x="213" y="1900"/>
                    <a:pt x="139" y="1844"/>
                    <a:pt x="89" y="1770"/>
                  </a:cubicBezTo>
                  <a:cubicBezTo>
                    <a:pt x="43" y="1699"/>
                    <a:pt x="0" y="1542"/>
                    <a:pt x="9" y="1478"/>
                  </a:cubicBezTo>
                  <a:cubicBezTo>
                    <a:pt x="38" y="1285"/>
                    <a:pt x="85" y="1172"/>
                    <a:pt x="176" y="1075"/>
                  </a:cubicBezTo>
                  <a:cubicBezTo>
                    <a:pt x="204" y="1046"/>
                    <a:pt x="313" y="926"/>
                    <a:pt x="419" y="808"/>
                  </a:cubicBezTo>
                  <a:cubicBezTo>
                    <a:pt x="524" y="691"/>
                    <a:pt x="662" y="538"/>
                    <a:pt x="726" y="468"/>
                  </a:cubicBezTo>
                  <a:cubicBezTo>
                    <a:pt x="789" y="399"/>
                    <a:pt x="903" y="273"/>
                    <a:pt x="979" y="188"/>
                  </a:cubicBezTo>
                  <a:cubicBezTo>
                    <a:pt x="1055" y="104"/>
                    <a:pt x="1131" y="27"/>
                    <a:pt x="1148" y="18"/>
                  </a:cubicBezTo>
                  <a:cubicBezTo>
                    <a:pt x="1180" y="0"/>
                    <a:pt x="1235" y="9"/>
                    <a:pt x="1579" y="87"/>
                  </a:cubicBezTo>
                  <a:cubicBezTo>
                    <a:pt x="1627" y="97"/>
                    <a:pt x="1804" y="137"/>
                    <a:pt x="1972" y="174"/>
                  </a:cubicBezTo>
                  <a:cubicBezTo>
                    <a:pt x="2472" y="285"/>
                    <a:pt x="2439" y="274"/>
                    <a:pt x="2460" y="331"/>
                  </a:cubicBezTo>
                  <a:cubicBezTo>
                    <a:pt x="2479" y="382"/>
                    <a:pt x="2451" y="426"/>
                    <a:pt x="2281" y="615"/>
                  </a:cubicBezTo>
                  <a:cubicBezTo>
                    <a:pt x="2257" y="641"/>
                    <a:pt x="2197" y="710"/>
                    <a:pt x="2146" y="768"/>
                  </a:cubicBezTo>
                  <a:cubicBezTo>
                    <a:pt x="1713" y="1267"/>
                    <a:pt x="1414" y="1604"/>
                    <a:pt x="1396" y="1611"/>
                  </a:cubicBezTo>
                  <a:cubicBezTo>
                    <a:pt x="1385" y="1616"/>
                    <a:pt x="1330" y="1607"/>
                    <a:pt x="1274" y="1592"/>
                  </a:cubicBezTo>
                  <a:cubicBezTo>
                    <a:pt x="1134" y="1553"/>
                    <a:pt x="657" y="1418"/>
                    <a:pt x="559" y="1389"/>
                  </a:cubicBezTo>
                  <a:cubicBezTo>
                    <a:pt x="328" y="1321"/>
                    <a:pt x="320" y="1319"/>
                    <a:pt x="282" y="1334"/>
                  </a:cubicBezTo>
                  <a:cubicBezTo>
                    <a:pt x="202" y="1364"/>
                    <a:pt x="166" y="1509"/>
                    <a:pt x="212" y="1618"/>
                  </a:cubicBezTo>
                  <a:cubicBezTo>
                    <a:pt x="252" y="1715"/>
                    <a:pt x="312" y="1752"/>
                    <a:pt x="506" y="1802"/>
                  </a:cubicBezTo>
                  <a:cubicBezTo>
                    <a:pt x="528" y="1808"/>
                    <a:pt x="618" y="1834"/>
                    <a:pt x="706" y="1861"/>
                  </a:cubicBezTo>
                  <a:cubicBezTo>
                    <a:pt x="794" y="1888"/>
                    <a:pt x="908" y="1922"/>
                    <a:pt x="959" y="1936"/>
                  </a:cubicBezTo>
                  <a:cubicBezTo>
                    <a:pt x="1010" y="1951"/>
                    <a:pt x="1067" y="1968"/>
                    <a:pt x="1086" y="1974"/>
                  </a:cubicBezTo>
                  <a:cubicBezTo>
                    <a:pt x="1104" y="1981"/>
                    <a:pt x="1155" y="1996"/>
                    <a:pt x="1199" y="2008"/>
                  </a:cubicBezTo>
                  <a:cubicBezTo>
                    <a:pt x="1243" y="2021"/>
                    <a:pt x="1305" y="2039"/>
                    <a:pt x="1336" y="2050"/>
                  </a:cubicBezTo>
                  <a:cubicBezTo>
                    <a:pt x="1368" y="2060"/>
                    <a:pt x="1396" y="2068"/>
                    <a:pt x="1399" y="2068"/>
                  </a:cubicBezTo>
                  <a:cubicBezTo>
                    <a:pt x="1404" y="2068"/>
                    <a:pt x="1732" y="1681"/>
                    <a:pt x="1872" y="1509"/>
                  </a:cubicBezTo>
                  <a:cubicBezTo>
                    <a:pt x="1934" y="1434"/>
                    <a:pt x="2174" y="1146"/>
                    <a:pt x="2243" y="1065"/>
                  </a:cubicBezTo>
                  <a:cubicBezTo>
                    <a:pt x="2257" y="1048"/>
                    <a:pt x="2262" y="1016"/>
                    <a:pt x="2261" y="955"/>
                  </a:cubicBezTo>
                  <a:cubicBezTo>
                    <a:pt x="2254" y="757"/>
                    <a:pt x="2332" y="657"/>
                    <a:pt x="2427" y="739"/>
                  </a:cubicBezTo>
                  <a:cubicBezTo>
                    <a:pt x="2463" y="770"/>
                    <a:pt x="2463" y="772"/>
                    <a:pt x="2450" y="854"/>
                  </a:cubicBezTo>
                  <a:cubicBezTo>
                    <a:pt x="2441" y="908"/>
                    <a:pt x="2441" y="959"/>
                    <a:pt x="2450" y="1003"/>
                  </a:cubicBezTo>
                  <a:cubicBezTo>
                    <a:pt x="2462" y="1063"/>
                    <a:pt x="2460" y="1072"/>
                    <a:pt x="2427" y="1119"/>
                  </a:cubicBezTo>
                  <a:cubicBezTo>
                    <a:pt x="2399" y="1160"/>
                    <a:pt x="2178" y="1428"/>
                    <a:pt x="2041" y="1588"/>
                  </a:cubicBezTo>
                  <a:cubicBezTo>
                    <a:pt x="2025" y="1607"/>
                    <a:pt x="1894" y="1764"/>
                    <a:pt x="1748" y="1938"/>
                  </a:cubicBezTo>
                  <a:cubicBezTo>
                    <a:pt x="1489" y="2249"/>
                    <a:pt x="1483" y="2255"/>
                    <a:pt x="1435" y="2254"/>
                  </a:cubicBezTo>
                  <a:cubicBezTo>
                    <a:pt x="1408" y="2253"/>
                    <a:pt x="1371" y="2248"/>
                    <a:pt x="1352" y="2241"/>
                  </a:cubicBezTo>
                  <a:close/>
                  <a:moveTo>
                    <a:pt x="1830" y="716"/>
                  </a:moveTo>
                  <a:cubicBezTo>
                    <a:pt x="1872" y="693"/>
                    <a:pt x="1939" y="612"/>
                    <a:pt x="1939" y="583"/>
                  </a:cubicBezTo>
                  <a:cubicBezTo>
                    <a:pt x="1939" y="572"/>
                    <a:pt x="1933" y="559"/>
                    <a:pt x="1925" y="554"/>
                  </a:cubicBezTo>
                  <a:cubicBezTo>
                    <a:pt x="1912" y="547"/>
                    <a:pt x="1685" y="489"/>
                    <a:pt x="1532" y="456"/>
                  </a:cubicBezTo>
                  <a:cubicBezTo>
                    <a:pt x="1503" y="449"/>
                    <a:pt x="1417" y="428"/>
                    <a:pt x="1342" y="409"/>
                  </a:cubicBezTo>
                  <a:cubicBezTo>
                    <a:pt x="1137" y="358"/>
                    <a:pt x="1114" y="361"/>
                    <a:pt x="1041" y="442"/>
                  </a:cubicBezTo>
                  <a:cubicBezTo>
                    <a:pt x="1006" y="481"/>
                    <a:pt x="984" y="518"/>
                    <a:pt x="988" y="529"/>
                  </a:cubicBezTo>
                  <a:cubicBezTo>
                    <a:pt x="996" y="551"/>
                    <a:pt x="1094" y="580"/>
                    <a:pt x="1359" y="642"/>
                  </a:cubicBezTo>
                  <a:cubicBezTo>
                    <a:pt x="1462" y="666"/>
                    <a:pt x="1588" y="696"/>
                    <a:pt x="1639" y="709"/>
                  </a:cubicBezTo>
                  <a:cubicBezTo>
                    <a:pt x="1754" y="739"/>
                    <a:pt x="1784" y="740"/>
                    <a:pt x="1830" y="71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49"/>
            <p:cNvSpPr>
              <a:spLocks noEditPoints="1"/>
            </p:cNvSpPr>
            <p:nvPr/>
          </p:nvSpPr>
          <p:spPr bwMode="auto">
            <a:xfrm rot="20867106">
              <a:off x="2811624" y="5409520"/>
              <a:ext cx="185567" cy="182994"/>
            </a:xfrm>
            <a:custGeom>
              <a:avLst/>
              <a:gdLst>
                <a:gd name="T0" fmla="*/ 30 w 2556"/>
                <a:gd name="T1" fmla="*/ 2481 h 2519"/>
                <a:gd name="T2" fmla="*/ 794 w 2556"/>
                <a:gd name="T3" fmla="*/ 1361 h 2519"/>
                <a:gd name="T4" fmla="*/ 941 w 2556"/>
                <a:gd name="T5" fmla="*/ 1200 h 2519"/>
                <a:gd name="T6" fmla="*/ 1342 w 2556"/>
                <a:gd name="T7" fmla="*/ 1604 h 2519"/>
                <a:gd name="T8" fmla="*/ 1236 w 2556"/>
                <a:gd name="T9" fmla="*/ 1695 h 2519"/>
                <a:gd name="T10" fmla="*/ 194 w 2556"/>
                <a:gd name="T11" fmla="*/ 2462 h 2519"/>
                <a:gd name="T12" fmla="*/ 30 w 2556"/>
                <a:gd name="T13" fmla="*/ 2481 h 2519"/>
                <a:gd name="T14" fmla="*/ 1333 w 2556"/>
                <a:gd name="T15" fmla="*/ 1211 h 2519"/>
                <a:gd name="T16" fmla="*/ 1131 w 2556"/>
                <a:gd name="T17" fmla="*/ 1010 h 2519"/>
                <a:gd name="T18" fmla="*/ 1158 w 2556"/>
                <a:gd name="T19" fmla="*/ 975 h 2519"/>
                <a:gd name="T20" fmla="*/ 1670 w 2556"/>
                <a:gd name="T21" fmla="*/ 443 h 2519"/>
                <a:gd name="T22" fmla="*/ 2144 w 2556"/>
                <a:gd name="T23" fmla="*/ 138 h 2519"/>
                <a:gd name="T24" fmla="*/ 2266 w 2556"/>
                <a:gd name="T25" fmla="*/ 65 h 2519"/>
                <a:gd name="T26" fmla="*/ 2342 w 2556"/>
                <a:gd name="T27" fmla="*/ 0 h 2519"/>
                <a:gd name="T28" fmla="*/ 2453 w 2556"/>
                <a:gd name="T29" fmla="*/ 104 h 2519"/>
                <a:gd name="T30" fmla="*/ 2556 w 2556"/>
                <a:gd name="T31" fmla="*/ 207 h 2519"/>
                <a:gd name="T32" fmla="*/ 2483 w 2556"/>
                <a:gd name="T33" fmla="*/ 280 h 2519"/>
                <a:gd name="T34" fmla="*/ 2410 w 2556"/>
                <a:gd name="T35" fmla="*/ 402 h 2519"/>
                <a:gd name="T36" fmla="*/ 2363 w 2556"/>
                <a:gd name="T37" fmla="*/ 542 h 2519"/>
                <a:gd name="T38" fmla="*/ 2315 w 2556"/>
                <a:gd name="T39" fmla="*/ 633 h 2519"/>
                <a:gd name="T40" fmla="*/ 2423 w 2556"/>
                <a:gd name="T41" fmla="*/ 743 h 2519"/>
                <a:gd name="T42" fmla="*/ 2530 w 2556"/>
                <a:gd name="T43" fmla="*/ 881 h 2519"/>
                <a:gd name="T44" fmla="*/ 2003 w 2556"/>
                <a:gd name="T45" fmla="*/ 1400 h 2519"/>
                <a:gd name="T46" fmla="*/ 1952 w 2556"/>
                <a:gd name="T47" fmla="*/ 1376 h 2519"/>
                <a:gd name="T48" fmla="*/ 2130 w 2556"/>
                <a:gd name="T49" fmla="*/ 1087 h 2519"/>
                <a:gd name="T50" fmla="*/ 2330 w 2556"/>
                <a:gd name="T51" fmla="*/ 877 h 2519"/>
                <a:gd name="T52" fmla="*/ 2273 w 2556"/>
                <a:gd name="T53" fmla="*/ 815 h 2519"/>
                <a:gd name="T54" fmla="*/ 2217 w 2556"/>
                <a:gd name="T55" fmla="*/ 763 h 2519"/>
                <a:gd name="T56" fmla="*/ 2066 w 2556"/>
                <a:gd name="T57" fmla="*/ 921 h 2519"/>
                <a:gd name="T58" fmla="*/ 1556 w 2556"/>
                <a:gd name="T59" fmla="*/ 1396 h 2519"/>
                <a:gd name="T60" fmla="*/ 1333 w 2556"/>
                <a:gd name="T61" fmla="*/ 1211 h 2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56" h="2519">
                  <a:moveTo>
                    <a:pt x="30" y="2481"/>
                  </a:moveTo>
                  <a:cubicBezTo>
                    <a:pt x="0" y="2386"/>
                    <a:pt x="319" y="1919"/>
                    <a:pt x="794" y="1361"/>
                  </a:cubicBezTo>
                  <a:cubicBezTo>
                    <a:pt x="870" y="1273"/>
                    <a:pt x="936" y="1200"/>
                    <a:pt x="941" y="1200"/>
                  </a:cubicBezTo>
                  <a:cubicBezTo>
                    <a:pt x="954" y="1200"/>
                    <a:pt x="1349" y="1598"/>
                    <a:pt x="1342" y="1604"/>
                  </a:cubicBezTo>
                  <a:cubicBezTo>
                    <a:pt x="1339" y="1607"/>
                    <a:pt x="1291" y="1648"/>
                    <a:pt x="1236" y="1695"/>
                  </a:cubicBezTo>
                  <a:cubicBezTo>
                    <a:pt x="821" y="2052"/>
                    <a:pt x="414" y="2352"/>
                    <a:pt x="194" y="2462"/>
                  </a:cubicBezTo>
                  <a:cubicBezTo>
                    <a:pt x="92" y="2513"/>
                    <a:pt x="42" y="2519"/>
                    <a:pt x="30" y="2481"/>
                  </a:cubicBezTo>
                  <a:close/>
                  <a:moveTo>
                    <a:pt x="1333" y="1211"/>
                  </a:moveTo>
                  <a:lnTo>
                    <a:pt x="1131" y="1010"/>
                  </a:lnTo>
                  <a:lnTo>
                    <a:pt x="1158" y="975"/>
                  </a:lnTo>
                  <a:cubicBezTo>
                    <a:pt x="1214" y="902"/>
                    <a:pt x="1542" y="561"/>
                    <a:pt x="1670" y="443"/>
                  </a:cubicBezTo>
                  <a:cubicBezTo>
                    <a:pt x="1872" y="254"/>
                    <a:pt x="2023" y="158"/>
                    <a:pt x="2144" y="138"/>
                  </a:cubicBezTo>
                  <a:cubicBezTo>
                    <a:pt x="2186" y="132"/>
                    <a:pt x="2216" y="113"/>
                    <a:pt x="2266" y="65"/>
                  </a:cubicBezTo>
                  <a:cubicBezTo>
                    <a:pt x="2303" y="29"/>
                    <a:pt x="2337" y="0"/>
                    <a:pt x="2342" y="0"/>
                  </a:cubicBezTo>
                  <a:cubicBezTo>
                    <a:pt x="2346" y="0"/>
                    <a:pt x="2397" y="47"/>
                    <a:pt x="2453" y="104"/>
                  </a:cubicBezTo>
                  <a:lnTo>
                    <a:pt x="2556" y="207"/>
                  </a:lnTo>
                  <a:lnTo>
                    <a:pt x="2483" y="280"/>
                  </a:lnTo>
                  <a:cubicBezTo>
                    <a:pt x="2420" y="342"/>
                    <a:pt x="2410" y="360"/>
                    <a:pt x="2410" y="402"/>
                  </a:cubicBezTo>
                  <a:cubicBezTo>
                    <a:pt x="2410" y="432"/>
                    <a:pt x="2391" y="486"/>
                    <a:pt x="2363" y="542"/>
                  </a:cubicBezTo>
                  <a:lnTo>
                    <a:pt x="2315" y="633"/>
                  </a:lnTo>
                  <a:lnTo>
                    <a:pt x="2423" y="743"/>
                  </a:lnTo>
                  <a:cubicBezTo>
                    <a:pt x="2489" y="811"/>
                    <a:pt x="2530" y="864"/>
                    <a:pt x="2530" y="881"/>
                  </a:cubicBezTo>
                  <a:cubicBezTo>
                    <a:pt x="2530" y="921"/>
                    <a:pt x="2044" y="1400"/>
                    <a:pt x="2003" y="1400"/>
                  </a:cubicBezTo>
                  <a:cubicBezTo>
                    <a:pt x="1987" y="1400"/>
                    <a:pt x="1964" y="1389"/>
                    <a:pt x="1952" y="1376"/>
                  </a:cubicBezTo>
                  <a:cubicBezTo>
                    <a:pt x="1905" y="1324"/>
                    <a:pt x="1921" y="1297"/>
                    <a:pt x="2130" y="1087"/>
                  </a:cubicBezTo>
                  <a:cubicBezTo>
                    <a:pt x="2240" y="976"/>
                    <a:pt x="2330" y="882"/>
                    <a:pt x="2330" y="877"/>
                  </a:cubicBezTo>
                  <a:cubicBezTo>
                    <a:pt x="2330" y="872"/>
                    <a:pt x="2304" y="844"/>
                    <a:pt x="2273" y="815"/>
                  </a:cubicBezTo>
                  <a:lnTo>
                    <a:pt x="2217" y="763"/>
                  </a:lnTo>
                  <a:lnTo>
                    <a:pt x="2066" y="921"/>
                  </a:lnTo>
                  <a:cubicBezTo>
                    <a:pt x="1942" y="1050"/>
                    <a:pt x="1640" y="1332"/>
                    <a:pt x="1556" y="1396"/>
                  </a:cubicBezTo>
                  <a:cubicBezTo>
                    <a:pt x="1539" y="1409"/>
                    <a:pt x="1502" y="1378"/>
                    <a:pt x="1333" y="12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3" name="Group 92"/>
            <p:cNvGrpSpPr/>
            <p:nvPr/>
          </p:nvGrpSpPr>
          <p:grpSpPr>
            <a:xfrm>
              <a:off x="467948" y="2763951"/>
              <a:ext cx="575085" cy="530695"/>
              <a:chOff x="-1617985" y="2804754"/>
              <a:chExt cx="865510" cy="798703"/>
            </a:xfrm>
          </p:grpSpPr>
          <p:sp>
            <p:nvSpPr>
              <p:cNvPr id="94" name="Freeform 88"/>
              <p:cNvSpPr>
                <a:spLocks noEditPoints="1"/>
              </p:cNvSpPr>
              <p:nvPr/>
            </p:nvSpPr>
            <p:spPr bwMode="auto">
              <a:xfrm>
                <a:off x="-1617985" y="2804754"/>
                <a:ext cx="865510" cy="798703"/>
              </a:xfrm>
              <a:custGeom>
                <a:avLst/>
                <a:gdLst>
                  <a:gd name="T0" fmla="*/ 635 w 1129"/>
                  <a:gd name="T1" fmla="*/ 917 h 1129"/>
                  <a:gd name="T2" fmla="*/ 671 w 1129"/>
                  <a:gd name="T3" fmla="*/ 953 h 1129"/>
                  <a:gd name="T4" fmla="*/ 671 w 1129"/>
                  <a:gd name="T5" fmla="*/ 988 h 1129"/>
                  <a:gd name="T6" fmla="*/ 699 w 1129"/>
                  <a:gd name="T7" fmla="*/ 1044 h 1129"/>
                  <a:gd name="T8" fmla="*/ 784 w 1129"/>
                  <a:gd name="T9" fmla="*/ 1108 h 1129"/>
                  <a:gd name="T10" fmla="*/ 777 w 1129"/>
                  <a:gd name="T11" fmla="*/ 1129 h 1129"/>
                  <a:gd name="T12" fmla="*/ 353 w 1129"/>
                  <a:gd name="T13" fmla="*/ 1129 h 1129"/>
                  <a:gd name="T14" fmla="*/ 346 w 1129"/>
                  <a:gd name="T15" fmla="*/ 1108 h 1129"/>
                  <a:gd name="T16" fmla="*/ 431 w 1129"/>
                  <a:gd name="T17" fmla="*/ 1044 h 1129"/>
                  <a:gd name="T18" fmla="*/ 459 w 1129"/>
                  <a:gd name="T19" fmla="*/ 988 h 1129"/>
                  <a:gd name="T20" fmla="*/ 459 w 1129"/>
                  <a:gd name="T21" fmla="*/ 953 h 1129"/>
                  <a:gd name="T22" fmla="*/ 494 w 1129"/>
                  <a:gd name="T23" fmla="*/ 917 h 1129"/>
                  <a:gd name="T24" fmla="*/ 635 w 1129"/>
                  <a:gd name="T25" fmla="*/ 917 h 1129"/>
                  <a:gd name="T26" fmla="*/ 1059 w 1129"/>
                  <a:gd name="T27" fmla="*/ 635 h 1129"/>
                  <a:gd name="T28" fmla="*/ 988 w 1129"/>
                  <a:gd name="T29" fmla="*/ 706 h 1129"/>
                  <a:gd name="T30" fmla="*/ 142 w 1129"/>
                  <a:gd name="T31" fmla="*/ 706 h 1129"/>
                  <a:gd name="T32" fmla="*/ 71 w 1129"/>
                  <a:gd name="T33" fmla="*/ 635 h 1129"/>
                  <a:gd name="T34" fmla="*/ 71 w 1129"/>
                  <a:gd name="T35" fmla="*/ 141 h 1129"/>
                  <a:gd name="T36" fmla="*/ 142 w 1129"/>
                  <a:gd name="T37" fmla="*/ 71 h 1129"/>
                  <a:gd name="T38" fmla="*/ 988 w 1129"/>
                  <a:gd name="T39" fmla="*/ 71 h 1129"/>
                  <a:gd name="T40" fmla="*/ 1059 w 1129"/>
                  <a:gd name="T41" fmla="*/ 141 h 1129"/>
                  <a:gd name="T42" fmla="*/ 1059 w 1129"/>
                  <a:gd name="T43" fmla="*/ 635 h 1129"/>
                  <a:gd name="T44" fmla="*/ 1059 w 1129"/>
                  <a:gd name="T45" fmla="*/ 0 h 1129"/>
                  <a:gd name="T46" fmla="*/ 71 w 1129"/>
                  <a:gd name="T47" fmla="*/ 0 h 1129"/>
                  <a:gd name="T48" fmla="*/ 0 w 1129"/>
                  <a:gd name="T49" fmla="*/ 71 h 1129"/>
                  <a:gd name="T50" fmla="*/ 0 w 1129"/>
                  <a:gd name="T51" fmla="*/ 812 h 1129"/>
                  <a:gd name="T52" fmla="*/ 71 w 1129"/>
                  <a:gd name="T53" fmla="*/ 882 h 1129"/>
                  <a:gd name="T54" fmla="*/ 1059 w 1129"/>
                  <a:gd name="T55" fmla="*/ 882 h 1129"/>
                  <a:gd name="T56" fmla="*/ 1129 w 1129"/>
                  <a:gd name="T57" fmla="*/ 812 h 1129"/>
                  <a:gd name="T58" fmla="*/ 1129 w 1129"/>
                  <a:gd name="T59" fmla="*/ 71 h 1129"/>
                  <a:gd name="T60" fmla="*/ 1059 w 1129"/>
                  <a:gd name="T61" fmla="*/ 0 h 1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129" h="1129">
                    <a:moveTo>
                      <a:pt x="635" y="917"/>
                    </a:moveTo>
                    <a:cubicBezTo>
                      <a:pt x="655" y="917"/>
                      <a:pt x="671" y="933"/>
                      <a:pt x="671" y="953"/>
                    </a:cubicBezTo>
                    <a:lnTo>
                      <a:pt x="671" y="988"/>
                    </a:lnTo>
                    <a:cubicBezTo>
                      <a:pt x="671" y="1007"/>
                      <a:pt x="683" y="1033"/>
                      <a:pt x="699" y="1044"/>
                    </a:cubicBezTo>
                    <a:lnTo>
                      <a:pt x="784" y="1108"/>
                    </a:lnTo>
                    <a:cubicBezTo>
                      <a:pt x="799" y="1120"/>
                      <a:pt x="796" y="1129"/>
                      <a:pt x="777" y="1129"/>
                    </a:cubicBezTo>
                    <a:lnTo>
                      <a:pt x="353" y="1129"/>
                    </a:lnTo>
                    <a:cubicBezTo>
                      <a:pt x="334" y="1129"/>
                      <a:pt x="331" y="1120"/>
                      <a:pt x="346" y="1108"/>
                    </a:cubicBezTo>
                    <a:lnTo>
                      <a:pt x="431" y="1044"/>
                    </a:lnTo>
                    <a:cubicBezTo>
                      <a:pt x="446" y="1033"/>
                      <a:pt x="459" y="1007"/>
                      <a:pt x="459" y="988"/>
                    </a:cubicBezTo>
                    <a:lnTo>
                      <a:pt x="459" y="953"/>
                    </a:lnTo>
                    <a:cubicBezTo>
                      <a:pt x="459" y="933"/>
                      <a:pt x="475" y="917"/>
                      <a:pt x="494" y="917"/>
                    </a:cubicBezTo>
                    <a:lnTo>
                      <a:pt x="635" y="917"/>
                    </a:lnTo>
                    <a:close/>
                    <a:moveTo>
                      <a:pt x="1059" y="635"/>
                    </a:moveTo>
                    <a:cubicBezTo>
                      <a:pt x="1059" y="674"/>
                      <a:pt x="1027" y="706"/>
                      <a:pt x="988" y="706"/>
                    </a:cubicBezTo>
                    <a:lnTo>
                      <a:pt x="142" y="706"/>
                    </a:lnTo>
                    <a:cubicBezTo>
                      <a:pt x="103" y="706"/>
                      <a:pt x="71" y="674"/>
                      <a:pt x="71" y="635"/>
                    </a:cubicBezTo>
                    <a:lnTo>
                      <a:pt x="71" y="141"/>
                    </a:lnTo>
                    <a:cubicBezTo>
                      <a:pt x="71" y="102"/>
                      <a:pt x="103" y="71"/>
                      <a:pt x="142" y="71"/>
                    </a:cubicBezTo>
                    <a:lnTo>
                      <a:pt x="988" y="71"/>
                    </a:lnTo>
                    <a:cubicBezTo>
                      <a:pt x="1027" y="71"/>
                      <a:pt x="1059" y="102"/>
                      <a:pt x="1059" y="141"/>
                    </a:cubicBezTo>
                    <a:lnTo>
                      <a:pt x="1059" y="635"/>
                    </a:lnTo>
                    <a:close/>
                    <a:moveTo>
                      <a:pt x="1059" y="0"/>
                    </a:moveTo>
                    <a:lnTo>
                      <a:pt x="71" y="0"/>
                    </a:lnTo>
                    <a:cubicBezTo>
                      <a:pt x="32" y="0"/>
                      <a:pt x="0" y="32"/>
                      <a:pt x="0" y="71"/>
                    </a:cubicBezTo>
                    <a:lnTo>
                      <a:pt x="0" y="812"/>
                    </a:lnTo>
                    <a:cubicBezTo>
                      <a:pt x="0" y="850"/>
                      <a:pt x="32" y="882"/>
                      <a:pt x="71" y="882"/>
                    </a:cubicBezTo>
                    <a:lnTo>
                      <a:pt x="1059" y="882"/>
                    </a:lnTo>
                    <a:cubicBezTo>
                      <a:pt x="1098" y="882"/>
                      <a:pt x="1129" y="850"/>
                      <a:pt x="1129" y="812"/>
                    </a:cubicBezTo>
                    <a:lnTo>
                      <a:pt x="1129" y="71"/>
                    </a:lnTo>
                    <a:cubicBezTo>
                      <a:pt x="1129" y="32"/>
                      <a:pt x="1098" y="0"/>
                      <a:pt x="1059" y="0"/>
                    </a:cubicBezTo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vert="horz" wrap="square" lIns="100796" tIns="50398" rIns="100796" bIns="50398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00"/>
              </a:p>
            </p:txBody>
          </p:sp>
          <p:grpSp>
            <p:nvGrpSpPr>
              <p:cNvPr id="95" name="Group 94"/>
              <p:cNvGrpSpPr/>
              <p:nvPr/>
            </p:nvGrpSpPr>
            <p:grpSpPr>
              <a:xfrm>
                <a:off x="-1457293" y="2881742"/>
                <a:ext cx="544126" cy="376630"/>
                <a:chOff x="-1496626" y="2870757"/>
                <a:chExt cx="587518" cy="406665"/>
              </a:xfrm>
            </p:grpSpPr>
            <p:sp>
              <p:nvSpPr>
                <p:cNvPr id="96" name="AutoShape 57"/>
                <p:cNvSpPr>
                  <a:spLocks noChangeAspect="1"/>
                </p:cNvSpPr>
                <p:nvPr/>
              </p:nvSpPr>
              <p:spPr bwMode="auto">
                <a:xfrm>
                  <a:off x="-1240063" y="2993187"/>
                  <a:ext cx="330955" cy="284235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1599" y="18851"/>
                      </a:moveTo>
                      <a:lnTo>
                        <a:pt x="0" y="18851"/>
                      </a:lnTo>
                      <a:lnTo>
                        <a:pt x="0" y="21600"/>
                      </a:lnTo>
                      <a:lnTo>
                        <a:pt x="21599" y="21600"/>
                      </a:lnTo>
                      <a:cubicBezTo>
                        <a:pt x="21599" y="21600"/>
                        <a:pt x="21599" y="18851"/>
                        <a:pt x="21599" y="18851"/>
                      </a:cubicBezTo>
                      <a:close/>
                      <a:moveTo>
                        <a:pt x="19950" y="17182"/>
                      </a:moveTo>
                      <a:lnTo>
                        <a:pt x="16427" y="17182"/>
                      </a:lnTo>
                      <a:lnTo>
                        <a:pt x="16427" y="12871"/>
                      </a:lnTo>
                      <a:lnTo>
                        <a:pt x="19950" y="12871"/>
                      </a:lnTo>
                      <a:cubicBezTo>
                        <a:pt x="19950" y="12871"/>
                        <a:pt x="19950" y="17182"/>
                        <a:pt x="19950" y="17182"/>
                      </a:cubicBezTo>
                      <a:close/>
                      <a:moveTo>
                        <a:pt x="15021" y="17182"/>
                      </a:moveTo>
                      <a:lnTo>
                        <a:pt x="11498" y="17182"/>
                      </a:lnTo>
                      <a:lnTo>
                        <a:pt x="11498" y="5221"/>
                      </a:lnTo>
                      <a:lnTo>
                        <a:pt x="15021" y="5221"/>
                      </a:lnTo>
                      <a:cubicBezTo>
                        <a:pt x="15021" y="5221"/>
                        <a:pt x="15021" y="17182"/>
                        <a:pt x="15021" y="17182"/>
                      </a:cubicBezTo>
                      <a:close/>
                      <a:moveTo>
                        <a:pt x="10093" y="17182"/>
                      </a:moveTo>
                      <a:lnTo>
                        <a:pt x="6571" y="17182"/>
                      </a:lnTo>
                      <a:lnTo>
                        <a:pt x="6571" y="0"/>
                      </a:lnTo>
                      <a:lnTo>
                        <a:pt x="10093" y="0"/>
                      </a:lnTo>
                      <a:cubicBezTo>
                        <a:pt x="10093" y="0"/>
                        <a:pt x="10093" y="17182"/>
                        <a:pt x="10093" y="17182"/>
                      </a:cubicBezTo>
                      <a:close/>
                      <a:moveTo>
                        <a:pt x="5165" y="17182"/>
                      </a:moveTo>
                      <a:lnTo>
                        <a:pt x="1643" y="17182"/>
                      </a:lnTo>
                      <a:lnTo>
                        <a:pt x="1643" y="8692"/>
                      </a:lnTo>
                      <a:lnTo>
                        <a:pt x="5165" y="8692"/>
                      </a:lnTo>
                      <a:cubicBezTo>
                        <a:pt x="5165" y="8692"/>
                        <a:pt x="5165" y="17182"/>
                        <a:pt x="5165" y="1718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/>
              </p:spPr>
              <p:txBody>
                <a:bodyPr lIns="38100" tIns="38100" rIns="38100" bIns="38100" anchor="ctr"/>
                <a:lstStyle>
                  <a:lvl1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1pPr>
                  <a:lvl2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2pPr>
                  <a:lvl3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3pPr>
                  <a:lvl4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4pPr>
                  <a:lvl5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5pPr>
                  <a:lvl6pPr marL="18288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6pPr>
                  <a:lvl7pPr marL="22860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7pPr>
                  <a:lvl8pPr marL="27432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8pPr>
                  <a:lvl9pPr marL="32004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9pPr>
                </a:lstStyle>
                <a:p>
                  <a:endParaRPr lang="en-US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endParaRPr>
                </a:p>
              </p:txBody>
            </p:sp>
            <p:sp>
              <p:nvSpPr>
                <p:cNvPr id="97" name="AutoShape 33"/>
                <p:cNvSpPr>
                  <a:spLocks noChangeAspect="1"/>
                </p:cNvSpPr>
                <p:nvPr/>
              </p:nvSpPr>
              <p:spPr bwMode="auto">
                <a:xfrm>
                  <a:off x="-1496626" y="2870757"/>
                  <a:ext cx="238216" cy="254993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1599" y="0"/>
                      </a:moveTo>
                      <a:lnTo>
                        <a:pt x="16712" y="795"/>
                      </a:lnTo>
                      <a:lnTo>
                        <a:pt x="17788" y="1816"/>
                      </a:lnTo>
                      <a:lnTo>
                        <a:pt x="10438" y="8456"/>
                      </a:lnTo>
                      <a:lnTo>
                        <a:pt x="7768" y="6084"/>
                      </a:lnTo>
                      <a:lnTo>
                        <a:pt x="295" y="13084"/>
                      </a:lnTo>
                      <a:lnTo>
                        <a:pt x="2133" y="14784"/>
                      </a:lnTo>
                      <a:lnTo>
                        <a:pt x="7691" y="9559"/>
                      </a:lnTo>
                      <a:lnTo>
                        <a:pt x="10444" y="12008"/>
                      </a:lnTo>
                      <a:lnTo>
                        <a:pt x="19619" y="3587"/>
                      </a:lnTo>
                      <a:lnTo>
                        <a:pt x="20664" y="4578"/>
                      </a:lnTo>
                      <a:cubicBezTo>
                        <a:pt x="20664" y="4578"/>
                        <a:pt x="21599" y="0"/>
                        <a:pt x="21599" y="0"/>
                      </a:cubicBezTo>
                      <a:close/>
                      <a:moveTo>
                        <a:pt x="21487" y="10041"/>
                      </a:moveTo>
                      <a:lnTo>
                        <a:pt x="15456" y="10041"/>
                      </a:lnTo>
                      <a:lnTo>
                        <a:pt x="15456" y="21600"/>
                      </a:lnTo>
                      <a:lnTo>
                        <a:pt x="21487" y="21600"/>
                      </a:lnTo>
                      <a:cubicBezTo>
                        <a:pt x="21487" y="21600"/>
                        <a:pt x="21487" y="10041"/>
                        <a:pt x="21487" y="10041"/>
                      </a:cubicBezTo>
                      <a:close/>
                      <a:moveTo>
                        <a:pt x="13759" y="13564"/>
                      </a:moveTo>
                      <a:lnTo>
                        <a:pt x="7728" y="13564"/>
                      </a:lnTo>
                      <a:lnTo>
                        <a:pt x="7728" y="21600"/>
                      </a:lnTo>
                      <a:lnTo>
                        <a:pt x="13759" y="21600"/>
                      </a:lnTo>
                      <a:cubicBezTo>
                        <a:pt x="13759" y="21600"/>
                        <a:pt x="13759" y="13564"/>
                        <a:pt x="13759" y="13564"/>
                      </a:cubicBezTo>
                      <a:close/>
                      <a:moveTo>
                        <a:pt x="5971" y="21600"/>
                      </a:moveTo>
                      <a:lnTo>
                        <a:pt x="0" y="21600"/>
                      </a:lnTo>
                      <a:lnTo>
                        <a:pt x="0" y="16151"/>
                      </a:lnTo>
                      <a:lnTo>
                        <a:pt x="5971" y="16151"/>
                      </a:lnTo>
                      <a:lnTo>
                        <a:pt x="5971" y="21600"/>
                      </a:lnTo>
                      <a:cubicBezTo>
                        <a:pt x="5971" y="21600"/>
                        <a:pt x="5971" y="21600"/>
                        <a:pt x="5971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/>
              </p:spPr>
              <p:txBody>
                <a:bodyPr lIns="38100" tIns="38100" rIns="38100" bIns="38100" anchor="ctr"/>
                <a:lstStyle>
                  <a:lvl1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1pPr>
                  <a:lvl2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2pPr>
                  <a:lvl3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3pPr>
                  <a:lvl4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4pPr>
                  <a:lvl5pPr defTabSz="457200"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5pPr>
                  <a:lvl6pPr marL="18288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6pPr>
                  <a:lvl7pPr marL="22860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7pPr>
                  <a:lvl8pPr marL="27432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8pPr>
                  <a:lvl9pPr marL="3200400" algn="ctr" defTabSz="45720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600">
                      <a:solidFill>
                        <a:srgbClr val="000000"/>
                      </a:solidFill>
                      <a:latin typeface="Gill Sans" charset="0"/>
                      <a:ea typeface="Gill Sans" charset="0"/>
                      <a:cs typeface="Gill Sans" charset="0"/>
                      <a:sym typeface="Gill Sans" charset="0"/>
                    </a:defRPr>
                  </a:lvl9pPr>
                </a:lstStyle>
                <a:p>
                  <a:endParaRPr lang="en-US" sz="30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endParaRPr>
                </a:p>
              </p:txBody>
            </p:sp>
          </p:grpSp>
        </p:grpSp>
      </p:grpSp>
      <p:sp>
        <p:nvSpPr>
          <p:cNvPr id="145" name="Slide Number Placeholder 9"/>
          <p:cNvSpPr txBox="1">
            <a:spLocks/>
          </p:cNvSpPr>
          <p:nvPr/>
        </p:nvSpPr>
        <p:spPr>
          <a:xfrm>
            <a:off x="685800" y="6629400"/>
            <a:ext cx="228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00" dirty="0" smtClean="0"/>
              <a:t>4</a:t>
            </a:r>
            <a:endParaRPr lang="uk-UA" sz="700" dirty="0"/>
          </a:p>
        </p:txBody>
      </p:sp>
    </p:spTree>
    <p:extLst>
      <p:ext uri="{BB962C8B-B14F-4D97-AF65-F5344CB8AC3E}">
        <p14:creationId xmlns:p14="http://schemas.microsoft.com/office/powerpoint/2010/main" val="326935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3400" y="1069465"/>
            <a:ext cx="8102177" cy="25778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04" y="400501"/>
            <a:ext cx="7911311" cy="831087"/>
          </a:xfrm>
        </p:spPr>
        <p:txBody>
          <a:bodyPr>
            <a:normAutofit/>
          </a:bodyPr>
          <a:lstStyle/>
          <a:p>
            <a:r>
              <a:rPr lang="en-US" sz="2800" dirty="0"/>
              <a:t>RECAP: together we are stronger</a:t>
            </a:r>
            <a:r>
              <a:rPr lang="is-IS" sz="2800" dirty="0"/>
              <a:t>…</a:t>
            </a:r>
            <a:endParaRPr lang="en-US" sz="2000" dirty="0">
              <a:latin typeface="+mn-lt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689413" y="2815794"/>
            <a:ext cx="964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/>
              <a:t>Data </a:t>
            </a:r>
            <a:br>
              <a:rPr lang="en-US"/>
            </a:br>
            <a:r>
              <a:rPr lang="en-US"/>
              <a:t>processing</a:t>
            </a:r>
            <a:endParaRPr lang="en-US" dirty="0"/>
          </a:p>
        </p:txBody>
      </p:sp>
      <p:cxnSp>
        <p:nvCxnSpPr>
          <p:cNvPr id="83" name="Straight Connector 82"/>
          <p:cNvCxnSpPr/>
          <p:nvPr/>
        </p:nvCxnSpPr>
        <p:spPr>
          <a:xfrm>
            <a:off x="1534175" y="2855212"/>
            <a:ext cx="0" cy="208798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2697505" y="2862438"/>
            <a:ext cx="0" cy="208798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11785" y="2814294"/>
            <a:ext cx="9057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 b="1" u="sng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1100" b="0" u="none" dirty="0">
                <a:latin typeface="+mn-lt"/>
              </a:rPr>
              <a:t>DB </a:t>
            </a:r>
            <a:br>
              <a:rPr lang="en-US" sz="1100" b="0" u="none" dirty="0">
                <a:latin typeface="+mn-lt"/>
              </a:rPr>
            </a:br>
            <a:r>
              <a:rPr lang="en-US" sz="1100" b="0" u="none" dirty="0">
                <a:latin typeface="+mn-lt"/>
              </a:rPr>
              <a:t>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1198" y="2807084"/>
            <a:ext cx="1359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Data Integration / transformation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40126" y="1904304"/>
            <a:ext cx="1359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Production of outputs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9762" y="1940013"/>
            <a:ext cx="1359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 dirty="0"/>
              <a:t>Final submission support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126463" y="2855212"/>
            <a:ext cx="0" cy="208798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54655" y="2069853"/>
            <a:ext cx="0" cy="208798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7073562" y="2069853"/>
            <a:ext cx="0" cy="208798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Placeholder 27"/>
          <p:cNvSpPr txBox="1">
            <a:spLocks/>
          </p:cNvSpPr>
          <p:nvPr/>
        </p:nvSpPr>
        <p:spPr>
          <a:xfrm>
            <a:off x="706219" y="1199028"/>
            <a:ext cx="7596708" cy="29832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ts val="1200"/>
              </a:spcBef>
              <a:buClrTx/>
              <a:buSzPct val="120000"/>
              <a:buFont typeface="Arial" pitchFamily="34" charset="0"/>
              <a:buNone/>
              <a:tabLst>
                <a:tab pos="3998913" algn="r"/>
                <a:tab pos="8229600" algn="r"/>
              </a:tabLst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Tx/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Tx/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Tx/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Tx/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Current</a:t>
            </a:r>
            <a:endParaRPr lang="en-US" sz="1400" b="1" dirty="0"/>
          </a:p>
        </p:txBody>
      </p:sp>
      <p:sp>
        <p:nvSpPr>
          <p:cNvPr id="4" name="Right Arrow 3"/>
          <p:cNvSpPr/>
          <p:nvPr/>
        </p:nvSpPr>
        <p:spPr>
          <a:xfrm>
            <a:off x="731333" y="2246752"/>
            <a:ext cx="3840879" cy="653531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Management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637177" y="2243470"/>
            <a:ext cx="3840879" cy="66033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Statistical Programming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97450" y="2807083"/>
            <a:ext cx="964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 dirty="0"/>
              <a:t>Data </a:t>
            </a:r>
            <a:br>
              <a:rPr lang="en-US" dirty="0"/>
            </a:br>
            <a:r>
              <a:rPr lang="en-US" dirty="0"/>
              <a:t>provision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738316" y="2862438"/>
            <a:ext cx="0" cy="208798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own Arrow 49"/>
          <p:cNvSpPr/>
          <p:nvPr/>
        </p:nvSpPr>
        <p:spPr>
          <a:xfrm>
            <a:off x="4471608" y="1798806"/>
            <a:ext cx="144016" cy="568437"/>
          </a:xfrm>
          <a:prstGeom prst="down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4207626" y="1575967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SDTM-</a:t>
            </a:r>
            <a:endParaRPr lang="en-US" sz="1200" dirty="0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4663768" y="1527256"/>
            <a:ext cx="3780943" cy="11691"/>
          </a:xfrm>
          <a:prstGeom prst="straightConnector1">
            <a:avLst/>
          </a:prstGeom>
          <a:ln>
            <a:solidFill>
              <a:schemeClr val="accent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087056" y="1271036"/>
            <a:ext cx="93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oversight</a:t>
            </a:r>
            <a:endParaRPr lang="en-US" sz="1200" dirty="0"/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700826" y="3378296"/>
            <a:ext cx="3780943" cy="11691"/>
          </a:xfrm>
          <a:prstGeom prst="straightConnector1">
            <a:avLst/>
          </a:prstGeom>
          <a:ln>
            <a:solidFill>
              <a:schemeClr val="accent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124114" y="3380601"/>
            <a:ext cx="93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oversight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5869708" y="1906482"/>
            <a:ext cx="11543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 hoc </a:t>
            </a:r>
            <a:br>
              <a:rPr lang="en-US" dirty="0"/>
            </a:br>
            <a:r>
              <a:rPr lang="en-US" dirty="0"/>
              <a:t>project support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3400" y="3720529"/>
            <a:ext cx="8102177" cy="245167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1689413" y="5077773"/>
            <a:ext cx="964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/>
              <a:t>Data </a:t>
            </a:r>
            <a:br>
              <a:rPr lang="en-US"/>
            </a:br>
            <a:r>
              <a:rPr lang="en-US"/>
              <a:t>processing</a:t>
            </a:r>
            <a:endParaRPr lang="en-US" dirty="0"/>
          </a:p>
        </p:txBody>
      </p:sp>
      <p:cxnSp>
        <p:nvCxnSpPr>
          <p:cNvPr id="65" name="Straight Connector 64"/>
          <p:cNvCxnSpPr/>
          <p:nvPr/>
        </p:nvCxnSpPr>
        <p:spPr>
          <a:xfrm>
            <a:off x="1615045" y="5131763"/>
            <a:ext cx="0" cy="2087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697505" y="5124417"/>
            <a:ext cx="0" cy="2087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16288" y="5093690"/>
            <a:ext cx="6733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 b="1" u="sng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1100" b="0" u="none" dirty="0">
                <a:latin typeface="+mn-lt"/>
              </a:rPr>
              <a:t>DB </a:t>
            </a:r>
            <a:br>
              <a:rPr lang="en-US" sz="1100" b="0" u="none" dirty="0">
                <a:latin typeface="+mn-lt"/>
              </a:rPr>
            </a:br>
            <a:r>
              <a:rPr lang="en-US" sz="1100" b="0" u="none" dirty="0">
                <a:latin typeface="+mn-lt"/>
              </a:rPr>
              <a:t>design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1198" y="5069063"/>
            <a:ext cx="1359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Data Integration / transformation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019515" y="5047019"/>
            <a:ext cx="912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/>
              <a:t>Prod</a:t>
            </a:r>
            <a:br>
              <a:rPr lang="en-US"/>
            </a:br>
            <a:r>
              <a:rPr lang="en-US"/>
              <a:t> </a:t>
            </a:r>
            <a:r>
              <a:rPr lang="en-US" dirty="0"/>
              <a:t>of outputs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39762" y="5051287"/>
            <a:ext cx="10302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/>
              <a:t>Final </a:t>
            </a:r>
            <a:br>
              <a:rPr lang="en-US"/>
            </a:br>
            <a:r>
              <a:rPr lang="en-US"/>
              <a:t>submission support</a:t>
            </a:r>
            <a:endParaRPr lang="en-US" dirty="0"/>
          </a:p>
        </p:txBody>
      </p:sp>
      <p:cxnSp>
        <p:nvCxnSpPr>
          <p:cNvPr id="73" name="Straight Connector 72"/>
          <p:cNvCxnSpPr/>
          <p:nvPr/>
        </p:nvCxnSpPr>
        <p:spPr>
          <a:xfrm>
            <a:off x="4126463" y="5130678"/>
            <a:ext cx="0" cy="2087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5062068" y="5130677"/>
            <a:ext cx="0" cy="2087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7092931" y="5121969"/>
            <a:ext cx="0" cy="2087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27"/>
          <p:cNvSpPr txBox="1">
            <a:spLocks/>
          </p:cNvSpPr>
          <p:nvPr/>
        </p:nvSpPr>
        <p:spPr>
          <a:xfrm>
            <a:off x="706219" y="3864544"/>
            <a:ext cx="7596708" cy="29832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ts val="1200"/>
              </a:spcBef>
              <a:buClrTx/>
              <a:buSzPct val="120000"/>
              <a:buFont typeface="Arial" pitchFamily="34" charset="0"/>
              <a:buNone/>
              <a:tabLst>
                <a:tab pos="3998913" algn="r"/>
                <a:tab pos="8229600" algn="r"/>
              </a:tabLst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Tx/>
              <a:buSzPct val="10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Tx/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Tx/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Tx/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Future</a:t>
            </a:r>
            <a:endParaRPr lang="en-US" sz="1400" b="1" dirty="0"/>
          </a:p>
        </p:txBody>
      </p:sp>
      <p:sp>
        <p:nvSpPr>
          <p:cNvPr id="79" name="Right Arrow 78"/>
          <p:cNvSpPr/>
          <p:nvPr/>
        </p:nvSpPr>
        <p:spPr>
          <a:xfrm>
            <a:off x="731333" y="4508731"/>
            <a:ext cx="7713378" cy="6535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Operations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70996" y="5069062"/>
            <a:ext cx="891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 dirty="0"/>
              <a:t>Data </a:t>
            </a:r>
            <a:br>
              <a:rPr lang="en-US" dirty="0"/>
            </a:br>
            <a:r>
              <a:rPr lang="en-US" dirty="0"/>
              <a:t>provision</a:t>
            </a:r>
          </a:p>
        </p:txBody>
      </p:sp>
      <p:cxnSp>
        <p:nvCxnSpPr>
          <p:cNvPr id="86" name="Straight Connector 85"/>
          <p:cNvCxnSpPr/>
          <p:nvPr/>
        </p:nvCxnSpPr>
        <p:spPr>
          <a:xfrm>
            <a:off x="749892" y="5142571"/>
            <a:ext cx="0" cy="2087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V="1">
            <a:off x="711785" y="4492695"/>
            <a:ext cx="7711246" cy="50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080488" y="4220699"/>
            <a:ext cx="93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oversight</a:t>
            </a:r>
            <a:endParaRPr lang="en-US" sz="1200" dirty="0"/>
          </a:p>
        </p:txBody>
      </p:sp>
      <p:sp>
        <p:nvSpPr>
          <p:cNvPr id="97" name="TextBox 96"/>
          <p:cNvSpPr txBox="1"/>
          <p:nvPr/>
        </p:nvSpPr>
        <p:spPr>
          <a:xfrm>
            <a:off x="5931574" y="5069061"/>
            <a:ext cx="11543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0" u="none"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 hoc </a:t>
            </a:r>
            <a:br>
              <a:rPr lang="en-US" dirty="0"/>
            </a:br>
            <a:r>
              <a:rPr lang="en-US" dirty="0"/>
              <a:t>project support</a:t>
            </a:r>
          </a:p>
        </p:txBody>
      </p:sp>
      <p:sp>
        <p:nvSpPr>
          <p:cNvPr id="98" name="Down Arrow 97"/>
          <p:cNvSpPr/>
          <p:nvPr/>
        </p:nvSpPr>
        <p:spPr>
          <a:xfrm rot="10800000">
            <a:off x="8334040" y="2739532"/>
            <a:ext cx="144016" cy="568437"/>
          </a:xfrm>
          <a:prstGeom prst="down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8070058" y="3365272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/>
              <a:t>AdAM</a:t>
            </a:r>
            <a:endParaRPr lang="en-US" sz="1200" dirty="0"/>
          </a:p>
        </p:txBody>
      </p:sp>
      <p:cxnSp>
        <p:nvCxnSpPr>
          <p:cNvPr id="102" name="Straight Connector 101"/>
          <p:cNvCxnSpPr/>
          <p:nvPr/>
        </p:nvCxnSpPr>
        <p:spPr>
          <a:xfrm>
            <a:off x="5934388" y="5131763"/>
            <a:ext cx="0" cy="2087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Down Arrow 104"/>
          <p:cNvSpPr/>
          <p:nvPr/>
        </p:nvSpPr>
        <p:spPr>
          <a:xfrm rot="10800000">
            <a:off x="8278877" y="5084795"/>
            <a:ext cx="144016" cy="56843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/>
          <p:cNvSpPr txBox="1"/>
          <p:nvPr/>
        </p:nvSpPr>
        <p:spPr>
          <a:xfrm>
            <a:off x="7987510" y="5609194"/>
            <a:ext cx="648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 dirty="0"/>
          </a:p>
          <a:p>
            <a:r>
              <a:rPr lang="en-GB" sz="1200" dirty="0" err="1"/>
              <a:t>AdAM</a:t>
            </a:r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4307066" y="5793860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SDTM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7764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72400" cy="720000"/>
          </a:xfrm>
        </p:spPr>
        <p:txBody>
          <a:bodyPr/>
          <a:lstStyle/>
          <a:p>
            <a:r>
              <a:rPr lang="de-CH" dirty="0" smtClean="0"/>
              <a:t>What success looks like..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11" y="1752600"/>
            <a:ext cx="8860177" cy="377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5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smtClean="0"/>
              <a:t>Our achievements (Q3 / Q4)</a:t>
            </a:r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7426017"/>
              </p:ext>
            </p:extLst>
          </p:nvPr>
        </p:nvGraphicFramePr>
        <p:xfrm>
          <a:off x="190500" y="1295400"/>
          <a:ext cx="8763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182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33400" y="422409"/>
            <a:ext cx="7772400" cy="46782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UPDATE : DO transformation</a:t>
            </a:r>
          </a:p>
        </p:txBody>
      </p:sp>
      <p:sp>
        <p:nvSpPr>
          <p:cNvPr id="27" name="Rectangle 8">
            <a:extLst>
              <a:ext uri="{FF2B5EF4-FFF2-40B4-BE49-F238E27FC236}">
                <a16:creationId xmlns="" xmlns:a16="http://schemas.microsoft.com/office/drawing/2014/main" id="{2C98177C-97DD-4AC7-8A32-168C5D219C6B}"/>
              </a:ext>
            </a:extLst>
          </p:cNvPr>
          <p:cNvSpPr/>
          <p:nvPr/>
        </p:nvSpPr>
        <p:spPr bwMode="gray">
          <a:xfrm>
            <a:off x="1869623" y="1320344"/>
            <a:ext cx="3210328" cy="1900132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sp>
        <p:nvSpPr>
          <p:cNvPr id="30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1929917" y="1403469"/>
            <a:ext cx="3009566" cy="173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80000" lvl="1" indent="-180000">
              <a:spcBef>
                <a:spcPts val="600"/>
              </a:spcBef>
              <a:buClrTx/>
              <a:buSzPct val="120000"/>
            </a:pPr>
            <a:r>
              <a:rPr lang="en-US" sz="1400" dirty="0"/>
              <a:t>Moving positions from EH/BS to HYD</a:t>
            </a:r>
          </a:p>
          <a:p>
            <a:pPr marL="360000" lvl="2" indent="-180000">
              <a:spcBef>
                <a:spcPts val="300"/>
              </a:spcBef>
              <a:buClrTx/>
            </a:pPr>
            <a:r>
              <a:rPr lang="en-US" sz="1400" dirty="0"/>
              <a:t>EH, confirmed 18 May</a:t>
            </a:r>
          </a:p>
          <a:p>
            <a:pPr marL="360000" lvl="2" indent="-180000">
              <a:spcBef>
                <a:spcPts val="300"/>
              </a:spcBef>
              <a:buClrTx/>
            </a:pPr>
            <a:r>
              <a:rPr lang="en-GB" sz="1400" dirty="0"/>
              <a:t>BS, confirmed 11 Sep</a:t>
            </a:r>
            <a:endParaRPr lang="en-US" sz="1400" dirty="0"/>
          </a:p>
          <a:p>
            <a:pPr marL="180000" lvl="1" indent="-180000">
              <a:spcBef>
                <a:spcPts val="600"/>
              </a:spcBef>
              <a:buClrTx/>
              <a:buSzPct val="120000"/>
            </a:pPr>
            <a:r>
              <a:rPr lang="en-US" sz="1400" dirty="0"/>
              <a:t>Build up Hyderabad</a:t>
            </a:r>
          </a:p>
          <a:p>
            <a:pPr marL="180000" lvl="1" indent="-180000">
              <a:spcBef>
                <a:spcPts val="600"/>
              </a:spcBef>
              <a:buClrTx/>
              <a:buSzPct val="120000"/>
            </a:pPr>
            <a:r>
              <a:rPr lang="en-GB" sz="1400" dirty="0"/>
              <a:t>Establishing support via 3</a:t>
            </a:r>
            <a:r>
              <a:rPr lang="en-GB" sz="1400" baseline="30000" dirty="0"/>
              <a:t>rd</a:t>
            </a:r>
            <a:r>
              <a:rPr lang="en-GB" sz="1400" dirty="0"/>
              <a:t> party vendor</a:t>
            </a:r>
            <a:endParaRPr lang="en-US" sz="1400" dirty="0"/>
          </a:p>
        </p:txBody>
      </p:sp>
      <p:sp>
        <p:nvSpPr>
          <p:cNvPr id="46" name="Rectangle 8">
            <a:extLst>
              <a:ext uri="{FF2B5EF4-FFF2-40B4-BE49-F238E27FC236}">
                <a16:creationId xmlns="" xmlns:a16="http://schemas.microsoft.com/office/drawing/2014/main" id="{2C98177C-97DD-4AC7-8A32-168C5D219C6B}"/>
              </a:ext>
            </a:extLst>
          </p:cNvPr>
          <p:cNvSpPr/>
          <p:nvPr/>
        </p:nvSpPr>
        <p:spPr bwMode="gray">
          <a:xfrm>
            <a:off x="1869623" y="3278507"/>
            <a:ext cx="3210328" cy="1262279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sp>
        <p:nvSpPr>
          <p:cNvPr id="48" name="Rectangle 8">
            <a:extLst>
              <a:ext uri="{FF2B5EF4-FFF2-40B4-BE49-F238E27FC236}">
                <a16:creationId xmlns="" xmlns:a16="http://schemas.microsoft.com/office/drawing/2014/main" id="{2C98177C-97DD-4AC7-8A32-168C5D219C6B}"/>
              </a:ext>
            </a:extLst>
          </p:cNvPr>
          <p:cNvSpPr/>
          <p:nvPr/>
        </p:nvSpPr>
        <p:spPr bwMode="gray">
          <a:xfrm>
            <a:off x="1869623" y="4587146"/>
            <a:ext cx="3210328" cy="138828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sp>
        <p:nvSpPr>
          <p:cNvPr id="33" name="TextBox 20">
            <a:extLst>
              <a:ext uri="{FF2B5EF4-FFF2-40B4-BE49-F238E27FC236}">
                <a16:creationId xmlns="" xmlns:a16="http://schemas.microsoft.com/office/drawing/2014/main" id="{CDE408F9-1A64-4F98-B8F6-6C0065AC6356}"/>
              </a:ext>
            </a:extLst>
          </p:cNvPr>
          <p:cNvSpPr txBox="1">
            <a:spLocks/>
          </p:cNvSpPr>
          <p:nvPr/>
        </p:nvSpPr>
        <p:spPr bwMode="gray">
          <a:xfrm>
            <a:off x="1916043" y="3327843"/>
            <a:ext cx="3055518" cy="11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80000" lvl="1" indent="-180000">
              <a:spcBef>
                <a:spcPts val="600"/>
              </a:spcBef>
              <a:buClrTx/>
              <a:buSzPct val="120000"/>
            </a:pPr>
            <a:r>
              <a:rPr lang="en-US" sz="1400" dirty="0"/>
              <a:t>Consolidating FSP activities from 11 vendors to 2 vendors: ICON and GCE</a:t>
            </a:r>
          </a:p>
          <a:p>
            <a:pPr marL="180000" lvl="1" indent="-180000">
              <a:spcBef>
                <a:spcPts val="600"/>
              </a:spcBef>
              <a:buClrTx/>
              <a:buSzPct val="120000"/>
            </a:pPr>
            <a:r>
              <a:rPr lang="en-GB" sz="1400" dirty="0"/>
              <a:t>Transition from an FSP pricing model to a unit based pricing model</a:t>
            </a:r>
            <a:endParaRPr lang="en-US" sz="1400" dirty="0"/>
          </a:p>
        </p:txBody>
      </p:sp>
      <p:sp>
        <p:nvSpPr>
          <p:cNvPr id="49" name="TextBox 19">
            <a:extLst>
              <a:ext uri="{FF2B5EF4-FFF2-40B4-BE49-F238E27FC236}">
                <a16:creationId xmlns="" xmlns:a16="http://schemas.microsoft.com/office/drawing/2014/main" id="{10F756A0-A04D-4461-9AF7-69CF7EAB09C8}"/>
              </a:ext>
            </a:extLst>
          </p:cNvPr>
          <p:cNvSpPr txBox="1">
            <a:spLocks/>
          </p:cNvSpPr>
          <p:nvPr/>
        </p:nvSpPr>
        <p:spPr bwMode="gray">
          <a:xfrm>
            <a:off x="1929919" y="4684128"/>
            <a:ext cx="3150032" cy="11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80000" lvl="1" indent="-180000">
              <a:spcBef>
                <a:spcPts val="600"/>
              </a:spcBef>
              <a:buClrTx/>
              <a:buSzPct val="120000"/>
            </a:pPr>
            <a:r>
              <a:rPr lang="en-GB" sz="1400" dirty="0"/>
              <a:t>Continue to combine ONC/ Genmeds/ALCON/ Sandoz into a single org structure</a:t>
            </a:r>
            <a:endParaRPr lang="en-US" sz="1400" dirty="0"/>
          </a:p>
          <a:p>
            <a:pPr marL="180000" lvl="1" indent="-180000">
              <a:spcBef>
                <a:spcPts val="600"/>
              </a:spcBef>
              <a:buClrTx/>
              <a:buSzPct val="120000"/>
            </a:pPr>
            <a:r>
              <a:rPr lang="en-US" sz="1400" dirty="0"/>
              <a:t>Consolidating DM and SP activities under one Data Operations umbrella</a:t>
            </a:r>
          </a:p>
        </p:txBody>
      </p:sp>
      <p:sp>
        <p:nvSpPr>
          <p:cNvPr id="31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5491928" y="1573278"/>
            <a:ext cx="32192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400" b="1" dirty="0"/>
              <a:t>Jul </a:t>
            </a:r>
            <a:r>
              <a:rPr lang="en-US" sz="1400" dirty="0"/>
              <a:t>	</a:t>
            </a:r>
            <a:endParaRPr lang="en-US" sz="1400" b="1" dirty="0"/>
          </a:p>
        </p:txBody>
      </p:sp>
      <p:sp>
        <p:nvSpPr>
          <p:cNvPr id="55" name="Rectangle 54"/>
          <p:cNvSpPr/>
          <p:nvPr/>
        </p:nvSpPr>
        <p:spPr>
          <a:xfrm>
            <a:off x="5410070" y="998084"/>
            <a:ext cx="892661" cy="32225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</a:rPr>
              <a:t>Mid ‘16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312395" y="998084"/>
            <a:ext cx="1556382" cy="32225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</a:rPr>
              <a:t>2017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878566" y="998084"/>
            <a:ext cx="787527" cy="32225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</a:rPr>
              <a:t>Mid ‘18</a:t>
            </a:r>
            <a:endParaRPr lang="en-US" sz="1400" b="1" dirty="0">
              <a:solidFill>
                <a:srgbClr val="FFFFFF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6482774" y="4096119"/>
            <a:ext cx="328254" cy="0"/>
          </a:xfrm>
          <a:prstGeom prst="line">
            <a:avLst/>
          </a:prstGeom>
          <a:ln w="38100">
            <a:solidFill>
              <a:schemeClr val="accent3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6648023" y="3026678"/>
            <a:ext cx="1470000" cy="634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283018" y="3220476"/>
            <a:ext cx="3364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301680" y="4540786"/>
            <a:ext cx="3345751" cy="4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6302730" y="1291558"/>
            <a:ext cx="0" cy="4683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5301680" y="5867400"/>
            <a:ext cx="3364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7844157" y="1291558"/>
            <a:ext cx="0" cy="4683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8655678" y="1291558"/>
            <a:ext cx="0" cy="4672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6489101" y="2102577"/>
            <a:ext cx="32192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400" b="1" dirty="0"/>
              <a:t>Mar</a:t>
            </a:r>
          </a:p>
        </p:txBody>
      </p:sp>
      <p:sp>
        <p:nvSpPr>
          <p:cNvPr id="61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6657159" y="6044876"/>
            <a:ext cx="117220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100" dirty="0"/>
              <a:t>Endorsement</a:t>
            </a:r>
            <a:endParaRPr lang="en-US" sz="1100" b="1" dirty="0"/>
          </a:p>
        </p:txBody>
      </p:sp>
      <p:sp>
        <p:nvSpPr>
          <p:cNvPr id="93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5801573" y="6044876"/>
            <a:ext cx="808817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100" dirty="0"/>
              <a:t>Kick-off</a:t>
            </a:r>
            <a:endParaRPr lang="en-US" sz="1100" b="1" dirty="0"/>
          </a:p>
        </p:txBody>
      </p:sp>
      <p:sp>
        <p:nvSpPr>
          <p:cNvPr id="95" name="Oval 94"/>
          <p:cNvSpPr/>
          <p:nvPr/>
        </p:nvSpPr>
        <p:spPr>
          <a:xfrm>
            <a:off x="6398871" y="6010743"/>
            <a:ext cx="211519" cy="2115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7911943" y="6044876"/>
            <a:ext cx="735488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GB" sz="1100" dirty="0"/>
              <a:t>Completion</a:t>
            </a:r>
            <a:endParaRPr lang="en-US" sz="1100" dirty="0"/>
          </a:p>
        </p:txBody>
      </p:sp>
      <p:sp>
        <p:nvSpPr>
          <p:cNvPr id="105" name="Oval 104"/>
          <p:cNvSpPr/>
          <p:nvPr/>
        </p:nvSpPr>
        <p:spPr>
          <a:xfrm>
            <a:off x="5488509" y="1783789"/>
            <a:ext cx="211519" cy="2115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7981441" y="2692314"/>
            <a:ext cx="51660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400" b="1" dirty="0"/>
              <a:t>May</a:t>
            </a:r>
          </a:p>
        </p:txBody>
      </p:sp>
      <p:sp>
        <p:nvSpPr>
          <p:cNvPr id="112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6386760" y="3391571"/>
            <a:ext cx="40484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400" b="1" dirty="0"/>
              <a:t>Jan </a:t>
            </a:r>
            <a:r>
              <a:rPr lang="en-US" sz="1400" dirty="0"/>
              <a:t>	</a:t>
            </a:r>
            <a:endParaRPr lang="en-US" sz="1400" b="1" dirty="0"/>
          </a:p>
        </p:txBody>
      </p:sp>
      <p:sp>
        <p:nvSpPr>
          <p:cNvPr id="114" name="Oval 113"/>
          <p:cNvSpPr/>
          <p:nvPr/>
        </p:nvSpPr>
        <p:spPr>
          <a:xfrm>
            <a:off x="6437895" y="3637604"/>
            <a:ext cx="211519" cy="2115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6697679" y="3764588"/>
            <a:ext cx="40484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400" b="1" dirty="0"/>
              <a:t>Feb</a:t>
            </a:r>
          </a:p>
        </p:txBody>
      </p:sp>
      <p:cxnSp>
        <p:nvCxnSpPr>
          <p:cNvPr id="119" name="Straight Connector 118"/>
          <p:cNvCxnSpPr/>
          <p:nvPr/>
        </p:nvCxnSpPr>
        <p:spPr>
          <a:xfrm>
            <a:off x="6690709" y="4397464"/>
            <a:ext cx="1807335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507189" y="6010743"/>
            <a:ext cx="211519" cy="211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Oval 122"/>
          <p:cNvSpPr/>
          <p:nvPr/>
        </p:nvSpPr>
        <p:spPr>
          <a:xfrm>
            <a:off x="6726929" y="3987783"/>
            <a:ext cx="211519" cy="2115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4" name="Straight Connector 123"/>
          <p:cNvCxnSpPr/>
          <p:nvPr/>
        </p:nvCxnSpPr>
        <p:spPr>
          <a:xfrm>
            <a:off x="5615455" y="2508503"/>
            <a:ext cx="1027286" cy="0"/>
          </a:xfrm>
          <a:prstGeom prst="line">
            <a:avLst/>
          </a:prstGeom>
          <a:ln w="38100">
            <a:solidFill>
              <a:schemeClr val="accent3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6558642" y="2400167"/>
            <a:ext cx="211519" cy="2115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Oval 129"/>
          <p:cNvSpPr/>
          <p:nvPr/>
        </p:nvSpPr>
        <p:spPr>
          <a:xfrm>
            <a:off x="7617842" y="6002634"/>
            <a:ext cx="211519" cy="2115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Oval 136"/>
          <p:cNvSpPr/>
          <p:nvPr/>
        </p:nvSpPr>
        <p:spPr>
          <a:xfrm>
            <a:off x="8386954" y="4291948"/>
            <a:ext cx="211519" cy="2115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8272329" y="4054247"/>
            <a:ext cx="40484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400" b="1" dirty="0"/>
              <a:t>Mid</a:t>
            </a:r>
          </a:p>
        </p:txBody>
      </p:sp>
      <p:cxnSp>
        <p:nvCxnSpPr>
          <p:cNvPr id="139" name="Straight Connector 138"/>
          <p:cNvCxnSpPr/>
          <p:nvPr/>
        </p:nvCxnSpPr>
        <p:spPr>
          <a:xfrm>
            <a:off x="6697679" y="5431758"/>
            <a:ext cx="717951" cy="0"/>
          </a:xfrm>
          <a:prstGeom prst="line">
            <a:avLst/>
          </a:prstGeom>
          <a:ln w="38100">
            <a:solidFill>
              <a:schemeClr val="accent3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6603542" y="4606890"/>
            <a:ext cx="40484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400" b="1" dirty="0"/>
              <a:t>May</a:t>
            </a:r>
          </a:p>
        </p:txBody>
      </p:sp>
      <p:sp>
        <p:nvSpPr>
          <p:cNvPr id="142" name="Oval 141"/>
          <p:cNvSpPr/>
          <p:nvPr/>
        </p:nvSpPr>
        <p:spPr>
          <a:xfrm>
            <a:off x="6654677" y="4852923"/>
            <a:ext cx="211519" cy="2115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6805955" y="5100227"/>
            <a:ext cx="40484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GB" sz="1400" b="1" dirty="0"/>
              <a:t>Jun</a:t>
            </a:r>
            <a:endParaRPr lang="en-US" sz="1400" b="1" dirty="0"/>
          </a:p>
        </p:txBody>
      </p:sp>
      <p:cxnSp>
        <p:nvCxnSpPr>
          <p:cNvPr id="144" name="Straight Connector 143"/>
          <p:cNvCxnSpPr/>
          <p:nvPr/>
        </p:nvCxnSpPr>
        <p:spPr>
          <a:xfrm>
            <a:off x="7367502" y="5829359"/>
            <a:ext cx="329507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6907397" y="5323422"/>
            <a:ext cx="211519" cy="2115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Oval 145"/>
          <p:cNvSpPr/>
          <p:nvPr/>
        </p:nvSpPr>
        <p:spPr>
          <a:xfrm>
            <a:off x="7615313" y="5723843"/>
            <a:ext cx="211519" cy="2115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7502717" y="5497608"/>
            <a:ext cx="40484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US" sz="1400" b="1" dirty="0"/>
              <a:t>Dec</a:t>
            </a:r>
          </a:p>
        </p:txBody>
      </p:sp>
      <p:sp>
        <p:nvSpPr>
          <p:cNvPr id="149" name="Oval 148"/>
          <p:cNvSpPr/>
          <p:nvPr/>
        </p:nvSpPr>
        <p:spPr>
          <a:xfrm>
            <a:off x="7315078" y="5323422"/>
            <a:ext cx="211519" cy="2115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TextBox 18">
            <a:extLst>
              <a:ext uri="{FF2B5EF4-FFF2-40B4-BE49-F238E27FC236}">
                <a16:creationId xmlns="" xmlns:a16="http://schemas.microsoft.com/office/drawing/2014/main" id="{5BFE1968-30F3-44C7-9D2B-B6EB5DF41D86}"/>
              </a:ext>
            </a:extLst>
          </p:cNvPr>
          <p:cNvSpPr txBox="1">
            <a:spLocks/>
          </p:cNvSpPr>
          <p:nvPr/>
        </p:nvSpPr>
        <p:spPr bwMode="gray">
          <a:xfrm>
            <a:off x="7241201" y="5100227"/>
            <a:ext cx="40484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200"/>
              </a:spcBef>
              <a:buClrTx/>
              <a:buSzPct val="120000"/>
              <a:buNone/>
              <a:tabLst>
                <a:tab pos="2066925" algn="r"/>
                <a:tab pos="2419350" algn="r"/>
              </a:tabLst>
            </a:pPr>
            <a:r>
              <a:rPr lang="en-GB" sz="1400" b="1" dirty="0"/>
              <a:t>Sep</a:t>
            </a:r>
            <a:endParaRPr lang="en-US" sz="1400" b="1" dirty="0"/>
          </a:p>
        </p:txBody>
      </p:sp>
      <p:sp>
        <p:nvSpPr>
          <p:cNvPr id="63" name="Oval 62"/>
          <p:cNvSpPr/>
          <p:nvPr/>
        </p:nvSpPr>
        <p:spPr>
          <a:xfrm>
            <a:off x="8029588" y="2917385"/>
            <a:ext cx="211519" cy="2115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8</a:t>
            </a:fld>
            <a:endParaRPr lang="uk-UA" dirty="0"/>
          </a:p>
        </p:txBody>
      </p:sp>
      <p:sp>
        <p:nvSpPr>
          <p:cNvPr id="59" name="Right Arrow 58"/>
          <p:cNvSpPr/>
          <p:nvPr/>
        </p:nvSpPr>
        <p:spPr>
          <a:xfrm>
            <a:off x="5110923" y="1768715"/>
            <a:ext cx="340100" cy="97448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Arrow 63"/>
          <p:cNvSpPr/>
          <p:nvPr/>
        </p:nvSpPr>
        <p:spPr>
          <a:xfrm>
            <a:off x="5120333" y="3326994"/>
            <a:ext cx="340100" cy="97448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ight Arrow 64"/>
          <p:cNvSpPr/>
          <p:nvPr/>
        </p:nvSpPr>
        <p:spPr>
          <a:xfrm>
            <a:off x="5110923" y="4821848"/>
            <a:ext cx="340100" cy="97448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8">
            <a:extLst>
              <a:ext uri="{FF2B5EF4-FFF2-40B4-BE49-F238E27FC236}">
                <a16:creationId xmlns="" xmlns:a16="http://schemas.microsoft.com/office/drawing/2014/main" id="{2C98177C-97DD-4AC7-8A32-168C5D219C6B}"/>
              </a:ext>
            </a:extLst>
          </p:cNvPr>
          <p:cNvSpPr/>
          <p:nvPr/>
        </p:nvSpPr>
        <p:spPr bwMode="gray">
          <a:xfrm>
            <a:off x="548255" y="3278506"/>
            <a:ext cx="1332368" cy="126909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Vendor</a:t>
            </a:r>
            <a:br>
              <a:rPr lang="en-US" sz="1400" b="1" dirty="0"/>
            </a:br>
            <a:r>
              <a:rPr lang="en-US" sz="1400" b="1" dirty="0"/>
              <a:t>consolidation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="" xmlns:a16="http://schemas.microsoft.com/office/drawing/2014/main" id="{2C98177C-97DD-4AC7-8A32-168C5D219C6B}"/>
              </a:ext>
            </a:extLst>
          </p:cNvPr>
          <p:cNvSpPr/>
          <p:nvPr/>
        </p:nvSpPr>
        <p:spPr bwMode="gray">
          <a:xfrm>
            <a:off x="548255" y="1320344"/>
            <a:ext cx="1332368" cy="190013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Footprint</a:t>
            </a:r>
            <a:br>
              <a:rPr lang="en-US" sz="1400" b="1" dirty="0"/>
            </a:br>
            <a:r>
              <a:rPr lang="en-US" sz="1400" b="1" dirty="0"/>
              <a:t>shift to HYD</a:t>
            </a:r>
          </a:p>
        </p:txBody>
      </p:sp>
      <p:sp>
        <p:nvSpPr>
          <p:cNvPr id="47" name="Rectangle 8">
            <a:extLst>
              <a:ext uri="{FF2B5EF4-FFF2-40B4-BE49-F238E27FC236}">
                <a16:creationId xmlns="" xmlns:a16="http://schemas.microsoft.com/office/drawing/2014/main" id="{2C98177C-97DD-4AC7-8A32-168C5D219C6B}"/>
              </a:ext>
            </a:extLst>
          </p:cNvPr>
          <p:cNvSpPr/>
          <p:nvPr/>
        </p:nvSpPr>
        <p:spPr bwMode="gray">
          <a:xfrm>
            <a:off x="548255" y="4593359"/>
            <a:ext cx="1332368" cy="138207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Single DO org design</a:t>
            </a:r>
          </a:p>
        </p:txBody>
      </p:sp>
      <p:sp>
        <p:nvSpPr>
          <p:cNvPr id="14" name="Oval 13"/>
          <p:cNvSpPr/>
          <p:nvPr/>
        </p:nvSpPr>
        <p:spPr>
          <a:xfrm>
            <a:off x="614936" y="1536055"/>
            <a:ext cx="276726" cy="276726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1</a:t>
            </a:r>
            <a:endParaRPr lang="en-US" b="1" dirty="0"/>
          </a:p>
        </p:txBody>
      </p:sp>
      <p:sp>
        <p:nvSpPr>
          <p:cNvPr id="52" name="Oval 51"/>
          <p:cNvSpPr/>
          <p:nvPr/>
        </p:nvSpPr>
        <p:spPr>
          <a:xfrm>
            <a:off x="614936" y="3384920"/>
            <a:ext cx="276726" cy="276726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2</a:t>
            </a:r>
            <a:endParaRPr lang="en-US" b="1" dirty="0"/>
          </a:p>
        </p:txBody>
      </p:sp>
      <p:sp>
        <p:nvSpPr>
          <p:cNvPr id="53" name="Oval 52"/>
          <p:cNvSpPr/>
          <p:nvPr/>
        </p:nvSpPr>
        <p:spPr>
          <a:xfrm>
            <a:off x="604180" y="4735999"/>
            <a:ext cx="276726" cy="276726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7334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think-cell Slide" r:id="rId35" imgW="524" imgH="526" progId="TCLayout.ActiveDocument.1">
                  <p:embed/>
                </p:oleObj>
              </mc:Choice>
              <mc:Fallback>
                <p:oleObj name="think-cell Slide" r:id="rId35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533400" y="406444"/>
            <a:ext cx="6486952" cy="960120"/>
          </a:xfrm>
        </p:spPr>
        <p:txBody>
          <a:bodyPr/>
          <a:lstStyle/>
          <a:p>
            <a:r>
              <a:rPr lang="en-GB" dirty="0"/>
              <a:t>Global</a:t>
            </a:r>
            <a:r>
              <a:rPr lang="de-CH" dirty="0"/>
              <a:t> DO organi</a:t>
            </a:r>
            <a:r>
              <a:rPr lang="en-GB" dirty="0"/>
              <a:t>z</a:t>
            </a:r>
            <a:r>
              <a:rPr lang="de-CH" dirty="0"/>
              <a:t>ation</a:t>
            </a:r>
          </a:p>
        </p:txBody>
      </p:sp>
      <p:cxnSp>
        <p:nvCxnSpPr>
          <p:cNvPr id="55" name="Elbow Connector 178"/>
          <p:cNvCxnSpPr>
            <a:stCxn id="36" idx="0"/>
            <a:endCxn id="12" idx="0"/>
          </p:cNvCxnSpPr>
          <p:nvPr/>
        </p:nvCxnSpPr>
        <p:spPr bwMode="gray">
          <a:xfrm rot="16200000" flipV="1">
            <a:off x="4573077" y="-473038"/>
            <a:ext cx="12700" cy="6334550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55"/>
          <p:cNvCxnSpPr>
            <a:stCxn id="8" idx="2"/>
            <a:endCxn id="30" idx="0"/>
          </p:cNvCxnSpPr>
          <p:nvPr/>
        </p:nvCxnSpPr>
        <p:spPr bwMode="gray">
          <a:xfrm>
            <a:off x="4572000" y="2034089"/>
            <a:ext cx="1077" cy="66014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178"/>
          <p:cNvCxnSpPr>
            <a:stCxn id="33" idx="0"/>
            <a:endCxn id="27" idx="0"/>
          </p:cNvCxnSpPr>
          <p:nvPr/>
        </p:nvCxnSpPr>
        <p:spPr bwMode="gray">
          <a:xfrm rot="16200000" flipV="1">
            <a:off x="4573077" y="1110599"/>
            <a:ext cx="12700" cy="3167276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178"/>
          <p:cNvCxnSpPr>
            <a:stCxn id="51" idx="0"/>
            <a:endCxn id="39" idx="0"/>
          </p:cNvCxnSpPr>
          <p:nvPr/>
        </p:nvCxnSpPr>
        <p:spPr bwMode="gray">
          <a:xfrm rot="16200000" flipV="1">
            <a:off x="4573077" y="946187"/>
            <a:ext cx="12700" cy="6334550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178"/>
          <p:cNvCxnSpPr>
            <a:stCxn id="48" idx="0"/>
            <a:endCxn id="42" idx="0"/>
          </p:cNvCxnSpPr>
          <p:nvPr/>
        </p:nvCxnSpPr>
        <p:spPr bwMode="gray">
          <a:xfrm rot="16200000" flipV="1">
            <a:off x="4573077" y="2529824"/>
            <a:ext cx="12700" cy="3167276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178"/>
          <p:cNvCxnSpPr>
            <a:stCxn id="45" idx="0"/>
            <a:endCxn id="42" idx="0"/>
          </p:cNvCxnSpPr>
          <p:nvPr/>
        </p:nvCxnSpPr>
        <p:spPr bwMode="gray">
          <a:xfrm rot="16200000" flipV="1">
            <a:off x="3781258" y="3321643"/>
            <a:ext cx="12700" cy="1583638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73"/>
          <p:cNvCxnSpPr/>
          <p:nvPr/>
        </p:nvCxnSpPr>
        <p:spPr bwMode="gray">
          <a:xfrm>
            <a:off x="3780719" y="2472239"/>
            <a:ext cx="0" cy="1424702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ieren 6"/>
          <p:cNvGrpSpPr/>
          <p:nvPr/>
        </p:nvGrpSpPr>
        <p:grpSpPr bwMode="gray">
          <a:xfrm>
            <a:off x="3312000" y="1494089"/>
            <a:ext cx="2520000" cy="540000"/>
            <a:chOff x="3653928" y="1020573"/>
            <a:chExt cx="2520000" cy="540000"/>
          </a:xfrm>
        </p:grpSpPr>
        <p:sp>
          <p:nvSpPr>
            <p:cNvPr id="8" name="Rectangle 230"/>
            <p:cNvSpPr txBox="1"/>
            <p:nvPr>
              <p:custDataLst>
                <p:tags r:id="rId31"/>
              </p:custDataLst>
            </p:nvPr>
          </p:nvSpPr>
          <p:spPr bwMode="gray">
            <a:xfrm>
              <a:off x="3653928" y="1020573"/>
              <a:ext cx="2520000" cy="540000"/>
            </a:xfrm>
            <a:prstGeom prst="rect">
              <a:avLst/>
            </a:prstGeom>
            <a:solidFill>
              <a:srgbClr val="0460A9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  <a:extLst/>
          </p:spPr>
          <p:txBody>
            <a:bodyPr vert="horz" wrap="square" lIns="36000" tIns="72000" rIns="36000" bIns="72000" numCol="1" anchor="t" anchorCtr="0" compatLnSpc="1">
              <a:prstTxWarp prst="textNoShape">
                <a:avLst/>
              </a:prstTxWarp>
              <a:noAutofit/>
            </a:bodyPr>
            <a:lstStyle>
              <a:lvl1pPr marL="0" lvl="0" indent="0" defTabSz="913429" eaLnBrk="1" hangingPunct="1">
                <a:buClr>
                  <a:schemeClr val="tx2"/>
                </a:buClr>
                <a:defRPr baseline="0">
                  <a:latin typeface="+mn-lt"/>
                </a:defRPr>
              </a:lvl1pPr>
              <a:lvl2pPr marL="197586" lvl="1" indent="-195966" defTabSz="913429" eaLnBrk="1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•"/>
                <a:defRPr baseline="0">
                  <a:latin typeface="+mn-lt"/>
                </a:defRPr>
              </a:lvl2pPr>
              <a:lvl3pPr marL="466431" lvl="2" indent="-267227" defTabSz="913429" eaLnBrk="1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baseline="0">
                  <a:latin typeface="+mn-lt"/>
                </a:defRPr>
              </a:lvl3pPr>
              <a:lvl4pPr marL="626768" lvl="3" indent="-158716" defTabSz="913429" eaLnBrk="1" hangingPunct="1"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baseline="0">
                  <a:latin typeface="+mn-lt"/>
                </a:defRPr>
              </a:lvl4pPr>
              <a:lvl5pPr marL="764947" lvl="4" indent="-132804" defTabSz="913429" eaLnBrk="1" hangingPunct="1"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5pPr>
              <a:lvl6pPr marL="764947" indent="-132804" defTabSz="913429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6pPr>
              <a:lvl7pPr marL="764947" indent="-132804" defTabSz="913429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7pPr>
              <a:lvl8pPr marL="764947" indent="-132804" defTabSz="913429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8pPr>
              <a:lvl9pPr marL="764947" indent="-132804" defTabSz="913429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9pPr>
            </a:lstStyle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Data Operations</a:t>
              </a:r>
            </a:p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Dermot Kenny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190"/>
            <p:cNvSpPr txBox="1"/>
            <p:nvPr>
              <p:custDataLst>
                <p:tags r:id="rId32"/>
              </p:custDataLst>
            </p:nvPr>
          </p:nvSpPr>
          <p:spPr bwMode="gray">
            <a:xfrm>
              <a:off x="5597928" y="1344573"/>
              <a:ext cx="576000" cy="21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vert="horz" wrap="none" lIns="45720" tIns="45720" rIns="45720" bIns="45720" numCol="1" anchor="ctr" anchorCtr="0" compatLnSpc="1">
              <a:prstTxWarp prst="textNoShape">
                <a:avLst/>
              </a:prstTxWarp>
              <a:noAutofit/>
            </a:bodyPr>
            <a:lstStyle>
              <a:lvl1pPr marL="0" lvl="0" indent="0" defTabSz="913429" eaLnBrk="1" hangingPunct="1">
                <a:buClr>
                  <a:schemeClr val="tx2"/>
                </a:buClr>
                <a:defRPr baseline="0">
                  <a:latin typeface="+mn-lt"/>
                </a:defRPr>
              </a:lvl1pPr>
              <a:lvl2pPr marL="197586" lvl="1" indent="-195966" defTabSz="913429" eaLnBrk="1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•"/>
                <a:defRPr baseline="0">
                  <a:latin typeface="+mn-lt"/>
                </a:defRPr>
              </a:lvl2pPr>
              <a:lvl3pPr marL="466431" lvl="2" indent="-267227" defTabSz="913429" eaLnBrk="1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baseline="0">
                  <a:latin typeface="+mn-lt"/>
                </a:defRPr>
              </a:lvl3pPr>
              <a:lvl4pPr marL="626768" lvl="3" indent="-158716" defTabSz="913429" eaLnBrk="1" hangingPunct="1"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baseline="0">
                  <a:latin typeface="+mn-lt"/>
                </a:defRPr>
              </a:lvl4pPr>
              <a:lvl5pPr marL="764947" lvl="4" indent="-132804" defTabSz="913429" eaLnBrk="1" hangingPunct="1"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5pPr>
              <a:lvl6pPr marL="764947" indent="-132804" defTabSz="913429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6pPr>
              <a:lvl7pPr marL="764947" indent="-132804" defTabSz="913429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7pPr>
              <a:lvl8pPr marL="764947" indent="-132804" defTabSz="913429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8pPr>
              <a:lvl9pPr marL="764947" indent="-132804" defTabSz="913429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9pPr>
            </a:lstStyle>
            <a:p>
              <a:pPr algn="ctr"/>
              <a:r>
                <a:rPr lang="en-US" sz="1000" dirty="0"/>
                <a:t>821</a:t>
              </a:r>
            </a:p>
          </p:txBody>
        </p:sp>
      </p:grpSp>
      <p:sp>
        <p:nvSpPr>
          <p:cNvPr id="12" name="Rectangle 230"/>
          <p:cNvSpPr txBox="1"/>
          <p:nvPr>
            <p:custDataLst>
              <p:tags r:id="rId3"/>
            </p:custDataLst>
          </p:nvPr>
        </p:nvSpPr>
        <p:spPr bwMode="gray">
          <a:xfrm>
            <a:off x="685802" y="2694237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Dev</a:t>
            </a:r>
            <a:br>
              <a:rPr lang="en-US" sz="1200" b="1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Units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Olivier Leconte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Rectangle 190"/>
          <p:cNvSpPr txBox="1"/>
          <p:nvPr>
            <p:custDataLst>
              <p:tags r:id="rId4"/>
            </p:custDataLst>
          </p:nvPr>
        </p:nvSpPr>
        <p:spPr bwMode="gray">
          <a:xfrm>
            <a:off x="1549802" y="3378237"/>
            <a:ext cx="57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00" dirty="0"/>
              <a:t>22</a:t>
            </a:r>
          </a:p>
        </p:txBody>
      </p:sp>
      <p:sp>
        <p:nvSpPr>
          <p:cNvPr id="27" name="Rectangle 230"/>
          <p:cNvSpPr txBox="1"/>
          <p:nvPr>
            <p:custDataLst>
              <p:tags r:id="rId5"/>
            </p:custDataLst>
          </p:nvPr>
        </p:nvSpPr>
        <p:spPr bwMode="gray">
          <a:xfrm>
            <a:off x="2269439" y="2694237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Data management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Sarah Clark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8" name="Rectangle 190"/>
          <p:cNvSpPr txBox="1"/>
          <p:nvPr>
            <p:custDataLst>
              <p:tags r:id="rId6"/>
            </p:custDataLst>
          </p:nvPr>
        </p:nvSpPr>
        <p:spPr bwMode="gray">
          <a:xfrm>
            <a:off x="3133439" y="3378237"/>
            <a:ext cx="57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00" dirty="0"/>
              <a:t>303</a:t>
            </a:r>
          </a:p>
        </p:txBody>
      </p:sp>
      <p:sp>
        <p:nvSpPr>
          <p:cNvPr id="30" name="Rectangle 230"/>
          <p:cNvSpPr txBox="1"/>
          <p:nvPr>
            <p:custDataLst>
              <p:tags r:id="rId7"/>
            </p:custDataLst>
          </p:nvPr>
        </p:nvSpPr>
        <p:spPr bwMode="gray">
          <a:xfrm>
            <a:off x="3853077" y="2694237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Statistical Programming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James Gallagher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Rectangle 190"/>
          <p:cNvSpPr txBox="1"/>
          <p:nvPr>
            <p:custDataLst>
              <p:tags r:id="rId8"/>
            </p:custDataLst>
          </p:nvPr>
        </p:nvSpPr>
        <p:spPr bwMode="gray">
          <a:xfrm>
            <a:off x="4717077" y="3378237"/>
            <a:ext cx="57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GB" sz="1000" dirty="0"/>
              <a:t>296</a:t>
            </a:r>
            <a:endParaRPr lang="en-US" sz="1000" dirty="0"/>
          </a:p>
        </p:txBody>
      </p:sp>
      <p:sp>
        <p:nvSpPr>
          <p:cNvPr id="33" name="Rectangle 230"/>
          <p:cNvSpPr txBox="1"/>
          <p:nvPr>
            <p:custDataLst>
              <p:tags r:id="rId9"/>
            </p:custDataLst>
          </p:nvPr>
        </p:nvSpPr>
        <p:spPr bwMode="gray">
          <a:xfrm>
            <a:off x="5436715" y="2694237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Clinical database </a:t>
            </a:r>
            <a:br>
              <a:rPr lang="en-US" sz="1200" b="1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delivery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Raghu Thata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Rectangle 190"/>
          <p:cNvSpPr txBox="1"/>
          <p:nvPr>
            <p:custDataLst>
              <p:tags r:id="rId10"/>
            </p:custDataLst>
          </p:nvPr>
        </p:nvSpPr>
        <p:spPr bwMode="gray">
          <a:xfrm>
            <a:off x="6300715" y="3378237"/>
            <a:ext cx="57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00" dirty="0"/>
              <a:t>74</a:t>
            </a:r>
          </a:p>
        </p:txBody>
      </p:sp>
      <p:sp>
        <p:nvSpPr>
          <p:cNvPr id="36" name="Rectangle 230"/>
          <p:cNvSpPr txBox="1"/>
          <p:nvPr>
            <p:custDataLst>
              <p:tags r:id="rId11"/>
            </p:custDataLst>
          </p:nvPr>
        </p:nvSpPr>
        <p:spPr bwMode="gray">
          <a:xfrm>
            <a:off x="7020352" y="2694237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Data provisioning and analytics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Ramesh </a:t>
            </a:r>
            <a:r>
              <a:rPr lang="en-GB" sz="1200" dirty="0" smtClean="0">
                <a:solidFill>
                  <a:schemeClr val="bg1"/>
                </a:solidFill>
              </a:rPr>
              <a:t>V </a:t>
            </a:r>
          </a:p>
          <a:p>
            <a:pPr algn="ctr"/>
            <a:r>
              <a:rPr lang="en-GB" sz="1200" i="1" dirty="0" err="1" smtClean="0">
                <a:solidFill>
                  <a:schemeClr val="bg1"/>
                </a:solidFill>
              </a:rPr>
              <a:t>a.i</a:t>
            </a:r>
            <a:r>
              <a:rPr lang="en-GB" sz="1200" i="1" dirty="0" smtClean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Rectangle 190"/>
          <p:cNvSpPr txBox="1"/>
          <p:nvPr>
            <p:custDataLst>
              <p:tags r:id="rId12"/>
            </p:custDataLst>
          </p:nvPr>
        </p:nvSpPr>
        <p:spPr bwMode="gray">
          <a:xfrm>
            <a:off x="7884352" y="3376652"/>
            <a:ext cx="576000" cy="21758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00" dirty="0"/>
              <a:t>54</a:t>
            </a:r>
          </a:p>
        </p:txBody>
      </p:sp>
      <p:sp>
        <p:nvSpPr>
          <p:cNvPr id="39" name="Rectangle 230"/>
          <p:cNvSpPr txBox="1"/>
          <p:nvPr>
            <p:custDataLst>
              <p:tags r:id="rId13"/>
            </p:custDataLst>
          </p:nvPr>
        </p:nvSpPr>
        <p:spPr bwMode="gray">
          <a:xfrm>
            <a:off x="685802" y="4113462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Training, Operations and Process </a:t>
            </a:r>
            <a:r>
              <a:rPr lang="en-US" sz="1200" b="1" dirty="0" err="1">
                <a:solidFill>
                  <a:schemeClr val="bg1"/>
                </a:solidFill>
              </a:rPr>
              <a:t>Improv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Leianne 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0" name="Rectangle 190"/>
          <p:cNvSpPr txBox="1"/>
          <p:nvPr>
            <p:custDataLst>
              <p:tags r:id="rId14"/>
            </p:custDataLst>
          </p:nvPr>
        </p:nvSpPr>
        <p:spPr bwMode="gray">
          <a:xfrm>
            <a:off x="1828800" y="4797461"/>
            <a:ext cx="297002" cy="22235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00" dirty="0"/>
              <a:t>31</a:t>
            </a:r>
          </a:p>
        </p:txBody>
      </p:sp>
      <p:sp>
        <p:nvSpPr>
          <p:cNvPr id="42" name="Rectangle 230"/>
          <p:cNvSpPr txBox="1"/>
          <p:nvPr>
            <p:custDataLst>
              <p:tags r:id="rId15"/>
            </p:custDataLst>
          </p:nvPr>
        </p:nvSpPr>
        <p:spPr bwMode="gray">
          <a:xfrm>
            <a:off x="2269439" y="4113462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Japan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Shinji Nishida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3" name="Rectangle 190"/>
          <p:cNvSpPr txBox="1"/>
          <p:nvPr>
            <p:custDataLst>
              <p:tags r:id="rId16"/>
            </p:custDataLst>
          </p:nvPr>
        </p:nvSpPr>
        <p:spPr bwMode="gray">
          <a:xfrm>
            <a:off x="3133439" y="4797462"/>
            <a:ext cx="57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00" dirty="0"/>
              <a:t>1 (32)*</a:t>
            </a:r>
          </a:p>
        </p:txBody>
      </p:sp>
      <p:sp>
        <p:nvSpPr>
          <p:cNvPr id="45" name="Rectangle 230"/>
          <p:cNvSpPr txBox="1"/>
          <p:nvPr>
            <p:custDataLst>
              <p:tags r:id="rId17"/>
            </p:custDataLst>
          </p:nvPr>
        </p:nvSpPr>
        <p:spPr bwMode="gray">
          <a:xfrm>
            <a:off x="3853077" y="4113462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China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Wei J Chen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6" name="Rectangle 190"/>
          <p:cNvSpPr txBox="1"/>
          <p:nvPr>
            <p:custDataLst>
              <p:tags r:id="rId18"/>
            </p:custDataLst>
          </p:nvPr>
        </p:nvSpPr>
        <p:spPr bwMode="gray">
          <a:xfrm>
            <a:off x="4717077" y="4797462"/>
            <a:ext cx="57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00" dirty="0"/>
              <a:t>1** (29)*</a:t>
            </a:r>
          </a:p>
        </p:txBody>
      </p:sp>
      <p:sp>
        <p:nvSpPr>
          <p:cNvPr id="48" name="Rectangle 230"/>
          <p:cNvSpPr txBox="1"/>
          <p:nvPr>
            <p:custDataLst>
              <p:tags r:id="rId19"/>
            </p:custDataLst>
          </p:nvPr>
        </p:nvSpPr>
        <p:spPr bwMode="gray">
          <a:xfrm>
            <a:off x="5436715" y="4113462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Clinical data</a:t>
            </a:r>
            <a:br>
              <a:rPr lang="en-US" sz="1200" b="1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standards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Simon Walsh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Rectangle 190"/>
          <p:cNvSpPr txBox="1"/>
          <p:nvPr>
            <p:custDataLst>
              <p:tags r:id="rId20"/>
            </p:custDataLst>
          </p:nvPr>
        </p:nvSpPr>
        <p:spPr bwMode="gray">
          <a:xfrm>
            <a:off x="6300715" y="4797462"/>
            <a:ext cx="57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00" dirty="0"/>
              <a:t>33</a:t>
            </a:r>
          </a:p>
        </p:txBody>
      </p:sp>
      <p:sp>
        <p:nvSpPr>
          <p:cNvPr id="51" name="Rectangle 230"/>
          <p:cNvSpPr txBox="1"/>
          <p:nvPr>
            <p:custDataLst>
              <p:tags r:id="rId21"/>
            </p:custDataLst>
          </p:nvPr>
        </p:nvSpPr>
        <p:spPr bwMode="gray">
          <a:xfrm>
            <a:off x="7020352" y="4113462"/>
            <a:ext cx="1440000" cy="90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Innovation and Technical Implementation</a:t>
            </a:r>
            <a:endParaRPr lang="en-GB" sz="1200" b="1" dirty="0">
              <a:solidFill>
                <a:schemeClr val="bg1"/>
              </a:solidFill>
            </a:endParaRP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TBD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2" name="Rectangle 190"/>
          <p:cNvSpPr txBox="1"/>
          <p:nvPr>
            <p:custDataLst>
              <p:tags r:id="rId22"/>
            </p:custDataLst>
          </p:nvPr>
        </p:nvSpPr>
        <p:spPr bwMode="gray">
          <a:xfrm>
            <a:off x="7884352" y="4797462"/>
            <a:ext cx="57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00" dirty="0"/>
              <a:t>6</a:t>
            </a:r>
          </a:p>
        </p:txBody>
      </p:sp>
      <p:sp>
        <p:nvSpPr>
          <p:cNvPr id="77" name="Rectangle 230"/>
          <p:cNvSpPr txBox="1"/>
          <p:nvPr>
            <p:custDataLst>
              <p:tags r:id="rId23"/>
            </p:custDataLst>
          </p:nvPr>
        </p:nvSpPr>
        <p:spPr bwMode="gray">
          <a:xfrm>
            <a:off x="7162800" y="533400"/>
            <a:ext cx="926559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US/CH</a:t>
            </a:r>
            <a:endParaRPr lang="en-US" sz="1000" b="0" dirty="0"/>
          </a:p>
        </p:txBody>
      </p:sp>
      <p:sp>
        <p:nvSpPr>
          <p:cNvPr id="78" name="Rectangle 230"/>
          <p:cNvSpPr txBox="1"/>
          <p:nvPr>
            <p:custDataLst>
              <p:tags r:id="rId24"/>
            </p:custDataLst>
          </p:nvPr>
        </p:nvSpPr>
        <p:spPr bwMode="gray">
          <a:xfrm>
            <a:off x="7162800" y="749737"/>
            <a:ext cx="926559" cy="179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 err="1"/>
              <a:t>Ind</a:t>
            </a:r>
            <a:r>
              <a:rPr lang="en-GB" sz="1000" b="0" dirty="0"/>
              <a:t> / Others</a:t>
            </a:r>
            <a:endParaRPr lang="en-US" sz="1000" b="0" baseline="30000" dirty="0"/>
          </a:p>
        </p:txBody>
      </p:sp>
      <p:sp>
        <p:nvSpPr>
          <p:cNvPr id="80" name="Rectangle 230"/>
          <p:cNvSpPr txBox="1"/>
          <p:nvPr>
            <p:custDataLst>
              <p:tags r:id="rId25"/>
            </p:custDataLst>
          </p:nvPr>
        </p:nvSpPr>
        <p:spPr bwMode="gray">
          <a:xfrm>
            <a:off x="8134662" y="533400"/>
            <a:ext cx="468000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18</a:t>
            </a:r>
            <a:endParaRPr lang="en-US" sz="1000" b="0" dirty="0"/>
          </a:p>
        </p:txBody>
      </p:sp>
      <p:sp>
        <p:nvSpPr>
          <p:cNvPr id="81" name="Rectangle 230"/>
          <p:cNvSpPr txBox="1"/>
          <p:nvPr>
            <p:custDataLst>
              <p:tags r:id="rId26"/>
            </p:custDataLst>
          </p:nvPr>
        </p:nvSpPr>
        <p:spPr bwMode="gray">
          <a:xfrm>
            <a:off x="8134662" y="749737"/>
            <a:ext cx="468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803</a:t>
            </a:r>
            <a:endParaRPr lang="en-US" sz="1000" b="0" dirty="0"/>
          </a:p>
        </p:txBody>
      </p:sp>
      <p:sp>
        <p:nvSpPr>
          <p:cNvPr id="84" name="Rectangle 230"/>
          <p:cNvSpPr txBox="1"/>
          <p:nvPr>
            <p:custDataLst>
              <p:tags r:id="rId27"/>
            </p:custDataLst>
          </p:nvPr>
        </p:nvSpPr>
        <p:spPr bwMode="gray">
          <a:xfrm>
            <a:off x="7162800" y="975816"/>
            <a:ext cx="926559" cy="16956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Total</a:t>
            </a:r>
            <a:endParaRPr lang="en-US" sz="1000" dirty="0"/>
          </a:p>
        </p:txBody>
      </p:sp>
      <p:sp>
        <p:nvSpPr>
          <p:cNvPr id="85" name="Rectangle 230"/>
          <p:cNvSpPr txBox="1"/>
          <p:nvPr>
            <p:custDataLst>
              <p:tags r:id="rId28"/>
            </p:custDataLst>
          </p:nvPr>
        </p:nvSpPr>
        <p:spPr bwMode="gray">
          <a:xfrm>
            <a:off x="8136250" y="975816"/>
            <a:ext cx="468000" cy="1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821</a:t>
            </a:r>
            <a:endParaRPr lang="en-US" sz="1000" dirty="0"/>
          </a:p>
        </p:txBody>
      </p:sp>
      <p:sp>
        <p:nvSpPr>
          <p:cNvPr id="92" name="Rectangle 230"/>
          <p:cNvSpPr txBox="1"/>
          <p:nvPr>
            <p:custDataLst>
              <p:tags r:id="rId29"/>
            </p:custDataLst>
          </p:nvPr>
        </p:nvSpPr>
        <p:spPr bwMode="gray">
          <a:xfrm>
            <a:off x="7162800" y="1215814"/>
            <a:ext cx="926559" cy="1815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dirty="0"/>
              <a:t>Externals (tbc)</a:t>
            </a:r>
            <a:endParaRPr lang="en-US" dirty="0"/>
          </a:p>
        </p:txBody>
      </p:sp>
      <p:sp>
        <p:nvSpPr>
          <p:cNvPr id="93" name="Rectangle 230"/>
          <p:cNvSpPr txBox="1"/>
          <p:nvPr>
            <p:custDataLst>
              <p:tags r:id="rId30"/>
            </p:custDataLst>
          </p:nvPr>
        </p:nvSpPr>
        <p:spPr bwMode="gray">
          <a:xfrm>
            <a:off x="8134662" y="1215815"/>
            <a:ext cx="468000" cy="18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dirty="0"/>
              <a:t>641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9</a:t>
            </a:fld>
            <a:endParaRPr lang="uk-UA" dirty="0"/>
          </a:p>
        </p:txBody>
      </p:sp>
      <p:sp>
        <p:nvSpPr>
          <p:cNvPr id="47" name="TextBox 63">
            <a:extLst>
              <a:ext uri="{FF2B5EF4-FFF2-40B4-BE49-F238E27FC236}">
                <a16:creationId xmlns="" xmlns:a16="http://schemas.microsoft.com/office/drawing/2014/main" id="{50EA19AD-DABD-49A2-AD93-96C4F98234B5}"/>
              </a:ext>
            </a:extLst>
          </p:cNvPr>
          <p:cNvSpPr txBox="1">
            <a:spLocks/>
          </p:cNvSpPr>
          <p:nvPr/>
        </p:nvSpPr>
        <p:spPr bwMode="gray">
          <a:xfrm>
            <a:off x="685802" y="5690381"/>
            <a:ext cx="77723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lvl="1" indent="0">
              <a:buNone/>
            </a:pPr>
            <a:r>
              <a:rPr lang="en-US" sz="1000" dirty="0"/>
              <a:t>*   Other FTEs in JP and CN included in the DM and SP organization numbers</a:t>
            </a:r>
          </a:p>
          <a:p>
            <a:pPr marL="0" lvl="1" indent="0">
              <a:buNone/>
            </a:pPr>
            <a:r>
              <a:rPr lang="en-US" sz="1000" dirty="0"/>
              <a:t>**  China head double counted in SP organization figure</a:t>
            </a:r>
          </a:p>
        </p:txBody>
      </p:sp>
    </p:spTree>
    <p:extLst>
      <p:ext uri="{BB962C8B-B14F-4D97-AF65-F5344CB8AC3E}">
        <p14:creationId xmlns:p14="http://schemas.microsoft.com/office/powerpoint/2010/main" val="90685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="" xmlns:a16="http://schemas.microsoft.com/office/drawing/2014/main" id="{2C98177C-97DD-4AC7-8A32-168C5D219C6B}"/>
              </a:ext>
            </a:extLst>
          </p:cNvPr>
          <p:cNvSpPr/>
          <p:nvPr/>
        </p:nvSpPr>
        <p:spPr bwMode="gray">
          <a:xfrm>
            <a:off x="1223325" y="3236256"/>
            <a:ext cx="5955799" cy="100626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think-cell Slide" r:id="rId5" imgW="524" imgH="526" progId="TCLayout.ActiveDocument.1">
                  <p:embed/>
                </p:oleObj>
              </mc:Choice>
              <mc:Fallback>
                <p:oleObj name="think-cell Slide" r:id="rId5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457200" y="403214"/>
            <a:ext cx="7772400" cy="960120"/>
          </a:xfrm>
        </p:spPr>
        <p:txBody>
          <a:bodyPr/>
          <a:lstStyle/>
          <a:p>
            <a:r>
              <a:rPr lang="en-US" dirty="0"/>
              <a:t>Objectives for this webcast</a:t>
            </a:r>
            <a:endParaRPr lang="de-CH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gray" r:id="rId7">
            <p14:nvContentPartPr>
              <p14:cNvPr id="7" name="Ink 14"/>
              <p14:cNvContentPartPr/>
              <p14:nvPr/>
            </p14:nvContentPartPr>
            <p14:xfrm>
              <a:off x="7220687" y="4726821"/>
              <a:ext cx="410" cy="322"/>
            </p14:xfrm>
          </p:contentPart>
        </mc:Choice>
        <mc:Fallback xmlns="">
          <p:pic>
            <p:nvPicPr>
              <p:cNvPr id="7" name="Ink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08797" y="4717483"/>
                <a:ext cx="23780" cy="18676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13"/>
          <p:cNvSpPr txBox="1">
            <a:spLocks/>
          </p:cNvSpPr>
          <p:nvPr/>
        </p:nvSpPr>
        <p:spPr bwMode="gray">
          <a:xfrm>
            <a:off x="1450410" y="2585225"/>
            <a:ext cx="608616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288000" lvl="1" indent="-288000">
              <a:spcAft>
                <a:spcPts val="3000"/>
              </a:spcAft>
              <a:buClrTx/>
              <a:buSzPct val="120000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Share progress on the ongoing Data Operations transformation effort</a:t>
            </a:r>
            <a:endParaRPr lang="en-US" sz="2000" dirty="0">
              <a:solidFill>
                <a:schemeClr val="bg1"/>
              </a:solidFill>
            </a:endParaRPr>
          </a:p>
          <a:p>
            <a:pPr marL="288000" lvl="1" indent="-288000">
              <a:spcAft>
                <a:spcPts val="3000"/>
              </a:spcAft>
              <a:buClrTx/>
              <a:buSzPct val="120000"/>
            </a:pPr>
            <a:r>
              <a:rPr lang="en-GB" sz="2000" b="1" dirty="0">
                <a:solidFill>
                  <a:schemeClr val="bg1"/>
                </a:solidFill>
              </a:rPr>
              <a:t>Update on the n-4 </a:t>
            </a:r>
            <a:r>
              <a:rPr lang="en-GB" sz="2000" b="1" dirty="0" err="1">
                <a:solidFill>
                  <a:schemeClr val="bg1"/>
                </a:solidFill>
              </a:rPr>
              <a:t>organizational</a:t>
            </a:r>
            <a:r>
              <a:rPr lang="en-GB" sz="2000" b="1" dirty="0">
                <a:solidFill>
                  <a:schemeClr val="bg1"/>
                </a:solidFill>
              </a:rPr>
              <a:t> design</a:t>
            </a:r>
          </a:p>
          <a:p>
            <a:pPr marL="288000" lvl="1" indent="-288000">
              <a:spcAft>
                <a:spcPts val="3000"/>
              </a:spcAft>
              <a:buClrTx/>
              <a:buSzPct val="120000"/>
            </a:pPr>
            <a:r>
              <a:rPr lang="en-GB" sz="2000" dirty="0"/>
              <a:t>Outline the recruitment process for the remainder of DO </a:t>
            </a:r>
            <a:r>
              <a:rPr lang="en-GB" sz="2000" dirty="0" err="1"/>
              <a:t>organization</a:t>
            </a:r>
            <a:endParaRPr lang="en-US" sz="20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10</a:t>
            </a:fld>
            <a:endParaRPr lang="uk-UA" dirty="0"/>
          </a:p>
        </p:txBody>
      </p:sp>
      <p:sp>
        <p:nvSpPr>
          <p:cNvPr id="14" name="Rectangle 13"/>
          <p:cNvSpPr/>
          <p:nvPr/>
        </p:nvSpPr>
        <p:spPr>
          <a:xfrm>
            <a:off x="1690255" y="5742801"/>
            <a:ext cx="7453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 lvl="1" indent="-288000">
              <a:spcAft>
                <a:spcPts val="2200"/>
              </a:spcAft>
              <a:buClrTx/>
              <a:buSzPct val="120000"/>
            </a:pPr>
            <a:r>
              <a:rPr lang="en-GB" sz="1200" dirty="0"/>
              <a:t>*  n: Vas </a:t>
            </a:r>
            <a:r>
              <a:rPr lang="en-GB" sz="1200" dirty="0" err="1"/>
              <a:t>Narasimhan</a:t>
            </a:r>
            <a:r>
              <a:rPr lang="en-GB" sz="1200" dirty="0"/>
              <a:t>, n-4s are the direct reports of the Data Operations LT </a:t>
            </a:r>
          </a:p>
        </p:txBody>
      </p:sp>
    </p:spTree>
    <p:extLst>
      <p:ext uri="{BB962C8B-B14F-4D97-AF65-F5344CB8AC3E}">
        <p14:creationId xmlns:p14="http://schemas.microsoft.com/office/powerpoint/2010/main" val="306012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38" y="475211"/>
            <a:ext cx="7772400" cy="960120"/>
          </a:xfrm>
        </p:spPr>
        <p:txBody>
          <a:bodyPr/>
          <a:lstStyle/>
          <a:p>
            <a:r>
              <a:rPr lang="en-GB" dirty="0"/>
              <a:t>RECAP : Talent selection objectives for 41 n-4 roles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11</a:t>
            </a:fld>
            <a:endParaRPr lang="uk-UA" dirty="0"/>
          </a:p>
        </p:txBody>
      </p:sp>
      <p:sp>
        <p:nvSpPr>
          <p:cNvPr id="6" name="Rectangle 5"/>
          <p:cNvSpPr/>
          <p:nvPr/>
        </p:nvSpPr>
        <p:spPr>
          <a:xfrm>
            <a:off x="838200" y="1752600"/>
            <a:ext cx="7551174" cy="40761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15000"/>
              </a:lnSpc>
              <a:spcAft>
                <a:spcPts val="2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Ensuring an inclusive pool of candidates (relevant profiles from all legacy functions will be considered)</a:t>
            </a:r>
            <a:endParaRPr lang="en-US" sz="22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2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Implementing with no disruption to the business: only new roles or those undergoing substantial change will be in scope for selection to preserve business continuity and knowledge transfer.  Unchanged roles will be mapped directly</a:t>
            </a:r>
          </a:p>
          <a:p>
            <a:pPr marL="342900" lvl="0" indent="-342900">
              <a:lnSpc>
                <a:spcPct val="115000"/>
              </a:lnSpc>
              <a:spcAft>
                <a:spcPts val="2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Providing transparent, fair, robust, rigorous and objective processes</a:t>
            </a:r>
            <a:endParaRPr lang="en-US" sz="2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661220" y="1807195"/>
            <a:ext cx="501445" cy="5014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/>
              <a:t>1</a:t>
            </a:r>
            <a:endParaRPr lang="en-US" b="1" dirty="0"/>
          </a:p>
        </p:txBody>
      </p:sp>
      <p:sp>
        <p:nvSpPr>
          <p:cNvPr id="8" name="Oval 7"/>
          <p:cNvSpPr/>
          <p:nvPr/>
        </p:nvSpPr>
        <p:spPr>
          <a:xfrm>
            <a:off x="655074" y="2819400"/>
            <a:ext cx="501445" cy="5014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/>
              <a:t>2</a:t>
            </a:r>
            <a:endParaRPr lang="en-US" b="1" dirty="0"/>
          </a:p>
        </p:txBody>
      </p:sp>
      <p:sp>
        <p:nvSpPr>
          <p:cNvPr id="9" name="Oval 8"/>
          <p:cNvSpPr/>
          <p:nvPr/>
        </p:nvSpPr>
        <p:spPr>
          <a:xfrm>
            <a:off x="655074" y="5061155"/>
            <a:ext cx="501445" cy="5014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4700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466" y="265236"/>
          <a:ext cx="1465" cy="1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5" name="think-cell Slide" r:id="rId5" imgW="501" imgH="501" progId="TCLayout.ActiveDocument.1">
                  <p:embed/>
                </p:oleObj>
              </mc:Choice>
              <mc:Fallback>
                <p:oleObj name="think-cell Slide" r:id="rId5" imgW="501" imgH="501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66" y="265236"/>
                        <a:ext cx="1465" cy="1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6681" y="465987"/>
            <a:ext cx="8351632" cy="490373"/>
          </a:xfrm>
        </p:spPr>
        <p:txBody>
          <a:bodyPr>
            <a:noAutofit/>
          </a:bodyPr>
          <a:lstStyle/>
          <a:p>
            <a:r>
              <a:rPr lang="en-GB" dirty="0"/>
              <a:t>3 differentiated selection processes, 41 n-4 positions, 37 confirmed</a:t>
            </a:r>
            <a:endParaRPr lang="de-CH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12</a:t>
            </a:fld>
            <a:endParaRPr lang="uk-UA" dirty="0"/>
          </a:p>
        </p:txBody>
      </p:sp>
      <p:sp>
        <p:nvSpPr>
          <p:cNvPr id="152" name="Rectangle 151"/>
          <p:cNvSpPr/>
          <p:nvPr/>
        </p:nvSpPr>
        <p:spPr>
          <a:xfrm>
            <a:off x="1342138" y="1585397"/>
            <a:ext cx="1322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Rationale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7506" y="1585397"/>
            <a:ext cx="102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Positions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7200" y="1895855"/>
            <a:ext cx="914400" cy="1094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2203" rIns="42203"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Mapping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3169128"/>
            <a:ext cx="914400" cy="16473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2203" rIns="42203"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Closed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989212"/>
            <a:ext cx="914400" cy="10530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2203" rIns="42203"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Open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295400" y="1895685"/>
            <a:ext cx="7499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96681" y="1939693"/>
            <a:ext cx="265471" cy="26547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1</a:t>
            </a:r>
            <a:endParaRPr lang="en-US" sz="1200" b="1" dirty="0"/>
          </a:p>
        </p:txBody>
      </p:sp>
      <p:sp>
        <p:nvSpPr>
          <p:cNvPr id="24" name="Oval 23"/>
          <p:cNvSpPr/>
          <p:nvPr/>
        </p:nvSpPr>
        <p:spPr>
          <a:xfrm>
            <a:off x="496681" y="3226506"/>
            <a:ext cx="265471" cy="26547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2</a:t>
            </a:r>
            <a:endParaRPr lang="en-US" sz="1200" b="1" dirty="0"/>
          </a:p>
        </p:txBody>
      </p:sp>
      <p:sp>
        <p:nvSpPr>
          <p:cNvPr id="25" name="Oval 24"/>
          <p:cNvSpPr/>
          <p:nvPr/>
        </p:nvSpPr>
        <p:spPr>
          <a:xfrm>
            <a:off x="496681" y="5062501"/>
            <a:ext cx="265471" cy="26547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3</a:t>
            </a:r>
            <a:endParaRPr lang="en-US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1342137" y="1871095"/>
            <a:ext cx="19614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Unchanged or slightly changed roles where there is one incumbent</a:t>
            </a:r>
            <a:endParaRPr lang="en-US" sz="1400" dirty="0"/>
          </a:p>
        </p:txBody>
      </p:sp>
      <p:sp>
        <p:nvSpPr>
          <p:cNvPr id="28" name="Rectangle 27"/>
          <p:cNvSpPr/>
          <p:nvPr/>
        </p:nvSpPr>
        <p:spPr>
          <a:xfrm>
            <a:off x="1342139" y="4931165"/>
            <a:ext cx="202028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New or significantly changed roles where there are no incumbents </a:t>
            </a:r>
            <a:r>
              <a:rPr lang="en-US" sz="1400" i="1" dirty="0"/>
              <a:t>or</a:t>
            </a:r>
            <a:r>
              <a:rPr lang="en-US" sz="1400" dirty="0"/>
              <a:t> many potential incumbents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2137" y="3079974"/>
            <a:ext cx="196966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1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New or significantly changed roles where there is a discrete population of suitably qualified / experienced incumbents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3760" y="1585397"/>
            <a:ext cx="1543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Process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2179" y="1872783"/>
            <a:ext cx="2641045" cy="1436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Direct appointment of an incumbent into the new role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Mapping does not preclude candidates to apply to other roles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2" name="Rectangle 31"/>
          <p:cNvSpPr/>
          <p:nvPr/>
        </p:nvSpPr>
        <p:spPr>
          <a:xfrm>
            <a:off x="3522180" y="4931165"/>
            <a:ext cx="2954820" cy="1195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Selection process initially internally via </a:t>
            </a:r>
            <a:r>
              <a:rPr lang="en-US" sz="1400" dirty="0" err="1"/>
              <a:t>Brassring</a:t>
            </a:r>
            <a:r>
              <a:rPr lang="en-US" sz="1400" dirty="0"/>
              <a:t> 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Externally only if we fail to identify a suitable internal candidate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2180" y="3079974"/>
            <a:ext cx="2845326" cy="184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1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Direct contact with the relevant associates and conduct a closed recruitment process,  standard interview process (no internal/external advertisement</a:t>
            </a:r>
          </a:p>
          <a:p>
            <a:pPr marL="171450" lvl="1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Identified candidates will be invited to a follow up meeting in the coming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4448" y="1960478"/>
            <a:ext cx="530941" cy="3285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12</a:t>
            </a:r>
            <a:endParaRPr lang="en-US" sz="1400" dirty="0"/>
          </a:p>
        </p:txBody>
      </p:sp>
      <p:sp>
        <p:nvSpPr>
          <p:cNvPr id="43" name="Rounded Rectangle 42"/>
          <p:cNvSpPr/>
          <p:nvPr/>
        </p:nvSpPr>
        <p:spPr>
          <a:xfrm>
            <a:off x="6604448" y="3185506"/>
            <a:ext cx="530941" cy="3285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12</a:t>
            </a:r>
            <a:endParaRPr lang="en-US" sz="1400" dirty="0"/>
          </a:p>
        </p:txBody>
      </p:sp>
      <p:sp>
        <p:nvSpPr>
          <p:cNvPr id="44" name="Rounded Rectangle 43"/>
          <p:cNvSpPr/>
          <p:nvPr/>
        </p:nvSpPr>
        <p:spPr>
          <a:xfrm>
            <a:off x="6604448" y="5005451"/>
            <a:ext cx="530941" cy="3285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17</a:t>
            </a:r>
            <a:endParaRPr lang="en-US" sz="1400" dirty="0"/>
          </a:p>
        </p:txBody>
      </p:sp>
      <p:cxnSp>
        <p:nvCxnSpPr>
          <p:cNvPr id="47" name="Straight Connector 46"/>
          <p:cNvCxnSpPr/>
          <p:nvPr/>
        </p:nvCxnSpPr>
        <p:spPr>
          <a:xfrm>
            <a:off x="457200" y="3079974"/>
            <a:ext cx="8338187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57200" y="4905675"/>
            <a:ext cx="8338187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648503" y="1585397"/>
            <a:ext cx="102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Selected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2405" y="1960478"/>
            <a:ext cx="530941" cy="32854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11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6371283" y="2404646"/>
            <a:ext cx="24241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i="1" dirty="0"/>
              <a:t>1 position to be opened (DM) </a:t>
            </a:r>
            <a:endParaRPr lang="en-US" sz="1200" i="1" dirty="0"/>
          </a:p>
        </p:txBody>
      </p:sp>
      <p:sp>
        <p:nvSpPr>
          <p:cNvPr id="38" name="Rounded Rectangle 37"/>
          <p:cNvSpPr/>
          <p:nvPr/>
        </p:nvSpPr>
        <p:spPr>
          <a:xfrm>
            <a:off x="7792405" y="3182523"/>
            <a:ext cx="530941" cy="32854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11</a:t>
            </a:r>
            <a:endParaRPr lang="en-US" sz="1400" dirty="0"/>
          </a:p>
        </p:txBody>
      </p:sp>
      <p:sp>
        <p:nvSpPr>
          <p:cNvPr id="39" name="Rectangle 38"/>
          <p:cNvSpPr/>
          <p:nvPr/>
        </p:nvSpPr>
        <p:spPr>
          <a:xfrm>
            <a:off x="6371283" y="3855465"/>
            <a:ext cx="26203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i="1" dirty="0"/>
              <a:t>1 position to be confirmed by the Workers Council in Germany (DODU)</a:t>
            </a:r>
            <a:endParaRPr lang="en-US" sz="1200" i="1" dirty="0"/>
          </a:p>
        </p:txBody>
      </p:sp>
      <p:sp>
        <p:nvSpPr>
          <p:cNvPr id="40" name="Rounded Rectangle 39"/>
          <p:cNvSpPr/>
          <p:nvPr/>
        </p:nvSpPr>
        <p:spPr>
          <a:xfrm>
            <a:off x="7851059" y="5005451"/>
            <a:ext cx="530941" cy="32854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15</a:t>
            </a:r>
            <a:endParaRPr lang="en-US" sz="1400" dirty="0"/>
          </a:p>
        </p:txBody>
      </p:sp>
      <p:sp>
        <p:nvSpPr>
          <p:cNvPr id="41" name="Rectangle 40"/>
          <p:cNvSpPr/>
          <p:nvPr/>
        </p:nvSpPr>
        <p:spPr>
          <a:xfrm>
            <a:off x="6367506" y="5346468"/>
            <a:ext cx="2620317" cy="882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i="1" dirty="0"/>
              <a:t>  1 position to be opened (CDP&amp;A)</a:t>
            </a:r>
          </a:p>
          <a:p>
            <a:pPr marL="182563" indent="-18256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i="1" dirty="0"/>
              <a:t>1 US position to close </a:t>
            </a:r>
            <a:r>
              <a:rPr lang="en-GB" sz="1200" i="1" dirty="0" smtClean="0"/>
              <a:t>(</a:t>
            </a:r>
            <a:r>
              <a:rPr lang="en-GB" sz="1200" i="1" dirty="0"/>
              <a:t>CDS)</a:t>
            </a:r>
            <a:endParaRPr lang="en-US" sz="1200" i="1" dirty="0"/>
          </a:p>
          <a:p>
            <a:pPr marL="182563" indent="-182563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01724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think-cell Slide" r:id="rId12" imgW="524" imgH="526" progId="TCLayout.ActiveDocument.1">
                  <p:embed/>
                </p:oleObj>
              </mc:Choice>
              <mc:Fallback>
                <p:oleObj name="think-cell Slide" r:id="rId12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487680" y="417691"/>
            <a:ext cx="7772400" cy="960120"/>
          </a:xfrm>
        </p:spPr>
        <p:txBody>
          <a:bodyPr>
            <a:normAutofit/>
          </a:bodyPr>
          <a:lstStyle/>
          <a:p>
            <a:r>
              <a:rPr lang="de-CH" dirty="0"/>
              <a:t>DO Development Units</a:t>
            </a:r>
            <a:br>
              <a:rPr lang="de-CH" dirty="0"/>
            </a:br>
            <a:endParaRPr lang="de-CH" sz="2900" dirty="0"/>
          </a:p>
        </p:txBody>
      </p:sp>
      <p:sp>
        <p:nvSpPr>
          <p:cNvPr id="153" name="Rectangle 156"/>
          <p:cNvSpPr/>
          <p:nvPr/>
        </p:nvSpPr>
        <p:spPr bwMode="gray">
          <a:xfrm>
            <a:off x="549444" y="5705484"/>
            <a:ext cx="8061156" cy="46600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72000" rtlCol="0" anchor="t">
            <a:spAutoFit/>
          </a:bodyPr>
          <a:lstStyle/>
          <a:p>
            <a:pPr>
              <a:spcBef>
                <a:spcPts val="100"/>
              </a:spcBef>
            </a:pPr>
            <a:r>
              <a:rPr lang="en-GB" sz="1000" b="1" dirty="0">
                <a:solidFill>
                  <a:schemeClr val="tx1"/>
                </a:solidFill>
              </a:rPr>
              <a:t>Sizing criteria</a:t>
            </a:r>
          </a:p>
          <a:p>
            <a:pPr marL="144000" indent="-144000">
              <a:spcBef>
                <a:spcPts val="100"/>
              </a:spcBef>
              <a:buSzPct val="120000"/>
              <a:buFont typeface="Arial" panose="020B0604020202020204" pitchFamily="34" charset="0"/>
              <a:buChar char="•"/>
            </a:pPr>
            <a:r>
              <a:rPr lang="en-GB" sz="1000" spc="-20" dirty="0">
                <a:solidFill>
                  <a:srgbClr val="000000"/>
                </a:solidFill>
                <a:ea typeface="Roboto Light" panose="02000000000000000000" pitchFamily="2" charset="0"/>
                <a:cs typeface="Arial" pitchFamily="34" charset="0"/>
              </a:rPr>
              <a:t>DO Directors (n-4 and n-5) will handle an average of 3-5 projects in/post submission + Phase II / III projects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13</a:t>
            </a:fld>
            <a:endParaRPr lang="uk-UA" dirty="0"/>
          </a:p>
        </p:txBody>
      </p:sp>
      <p:sp>
        <p:nvSpPr>
          <p:cNvPr id="119" name="Rechteck 118"/>
          <p:cNvSpPr/>
          <p:nvPr/>
        </p:nvSpPr>
        <p:spPr bwMode="gray">
          <a:xfrm>
            <a:off x="2370600" y="2599280"/>
            <a:ext cx="108000" cy="169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050" dirty="0"/>
          </a:p>
        </p:txBody>
      </p:sp>
      <p:sp>
        <p:nvSpPr>
          <p:cNvPr id="129" name="Rechteck 128"/>
          <p:cNvSpPr/>
          <p:nvPr/>
        </p:nvSpPr>
        <p:spPr bwMode="gray">
          <a:xfrm>
            <a:off x="4916274" y="2599280"/>
            <a:ext cx="108000" cy="169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050" dirty="0"/>
          </a:p>
        </p:txBody>
      </p:sp>
      <p:sp>
        <p:nvSpPr>
          <p:cNvPr id="130" name="Rechteck 129"/>
          <p:cNvSpPr/>
          <p:nvPr/>
        </p:nvSpPr>
        <p:spPr bwMode="gray">
          <a:xfrm>
            <a:off x="6189111" y="2599280"/>
            <a:ext cx="108000" cy="169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050" dirty="0"/>
          </a:p>
        </p:txBody>
      </p:sp>
      <p:sp>
        <p:nvSpPr>
          <p:cNvPr id="131" name="Rechteck 130"/>
          <p:cNvSpPr/>
          <p:nvPr/>
        </p:nvSpPr>
        <p:spPr bwMode="gray">
          <a:xfrm>
            <a:off x="7665140" y="2599280"/>
            <a:ext cx="108000" cy="169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050" dirty="0"/>
          </a:p>
        </p:txBody>
      </p:sp>
      <p:cxnSp>
        <p:nvCxnSpPr>
          <p:cNvPr id="8" name="Elbow Connector 21"/>
          <p:cNvCxnSpPr>
            <a:stCxn id="6" idx="2"/>
            <a:endCxn id="9" idx="1"/>
          </p:cNvCxnSpPr>
          <p:nvPr/>
        </p:nvCxnSpPr>
        <p:spPr bwMode="gray">
          <a:xfrm rot="5400000">
            <a:off x="2412762" y="223583"/>
            <a:ext cx="568970" cy="3842902"/>
          </a:xfrm>
          <a:prstGeom prst="bentConnector4">
            <a:avLst>
              <a:gd name="adj1" fmla="val 20163"/>
              <a:gd name="adj2" fmla="val 105949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160"/>
          <p:cNvCxnSpPr>
            <a:stCxn id="9" idx="1"/>
            <a:endCxn id="10" idx="1"/>
          </p:cNvCxnSpPr>
          <p:nvPr/>
        </p:nvCxnSpPr>
        <p:spPr bwMode="gray">
          <a:xfrm rot="10800000" flipV="1">
            <a:off x="775796" y="2429518"/>
            <a:ext cx="12700" cy="925911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170"/>
          <p:cNvCxnSpPr>
            <a:stCxn id="10" idx="1"/>
            <a:endCxn id="12" idx="1"/>
          </p:cNvCxnSpPr>
          <p:nvPr/>
        </p:nvCxnSpPr>
        <p:spPr bwMode="gray">
          <a:xfrm rot="10800000" flipV="1">
            <a:off x="775796" y="3355430"/>
            <a:ext cx="12700" cy="925912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176"/>
          <p:cNvCxnSpPr>
            <a:stCxn id="12" idx="1"/>
            <a:endCxn id="13" idx="1"/>
          </p:cNvCxnSpPr>
          <p:nvPr/>
        </p:nvCxnSpPr>
        <p:spPr bwMode="gray">
          <a:xfrm rot="10800000" flipV="1">
            <a:off x="775796" y="4281342"/>
            <a:ext cx="12700" cy="925912"/>
          </a:xfrm>
          <a:prstGeom prst="bentConnector3">
            <a:avLst>
              <a:gd name="adj1" fmla="val 180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178"/>
          <p:cNvCxnSpPr>
            <a:endCxn id="15" idx="0"/>
          </p:cNvCxnSpPr>
          <p:nvPr/>
        </p:nvCxnSpPr>
        <p:spPr bwMode="gray">
          <a:xfrm rot="5400000">
            <a:off x="3828908" y="978241"/>
            <a:ext cx="229449" cy="199406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184"/>
          <p:cNvCxnSpPr>
            <a:endCxn id="17" idx="0"/>
          </p:cNvCxnSpPr>
          <p:nvPr/>
        </p:nvCxnSpPr>
        <p:spPr bwMode="gray">
          <a:xfrm rot="5400000">
            <a:off x="4465327" y="1614660"/>
            <a:ext cx="229449" cy="721227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185"/>
          <p:cNvCxnSpPr>
            <a:endCxn id="18" idx="0"/>
          </p:cNvCxnSpPr>
          <p:nvPr/>
        </p:nvCxnSpPr>
        <p:spPr bwMode="gray">
          <a:xfrm rot="16200000" flipH="1">
            <a:off x="5101745" y="1699468"/>
            <a:ext cx="229449" cy="551610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190"/>
          <p:cNvCxnSpPr>
            <a:endCxn id="20" idx="0"/>
          </p:cNvCxnSpPr>
          <p:nvPr/>
        </p:nvCxnSpPr>
        <p:spPr bwMode="gray">
          <a:xfrm rot="16200000" flipH="1">
            <a:off x="5738163" y="1063049"/>
            <a:ext cx="229449" cy="1824447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191"/>
          <p:cNvCxnSpPr>
            <a:stCxn id="6" idx="2"/>
            <a:endCxn id="21" idx="0"/>
          </p:cNvCxnSpPr>
          <p:nvPr/>
        </p:nvCxnSpPr>
        <p:spPr bwMode="gray">
          <a:xfrm rot="16200000" flipH="1">
            <a:off x="6315195" y="164052"/>
            <a:ext cx="229449" cy="3622442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68"/>
          <p:cNvCxnSpPr>
            <a:stCxn id="119" idx="2"/>
            <a:endCxn id="14" idx="1"/>
          </p:cNvCxnSpPr>
          <p:nvPr/>
        </p:nvCxnSpPr>
        <p:spPr bwMode="gray">
          <a:xfrm rot="16200000" flipH="1">
            <a:off x="2197625" y="2996015"/>
            <a:ext cx="543951" cy="90000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215"/>
          <p:cNvCxnSpPr>
            <a:stCxn id="119" idx="2"/>
            <a:endCxn id="22" idx="1"/>
          </p:cNvCxnSpPr>
          <p:nvPr/>
        </p:nvCxnSpPr>
        <p:spPr bwMode="gray">
          <a:xfrm rot="16200000" flipH="1">
            <a:off x="1809729" y="3383911"/>
            <a:ext cx="1319742" cy="90000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220"/>
          <p:cNvCxnSpPr>
            <a:stCxn id="119" idx="2"/>
            <a:endCxn id="23" idx="1"/>
          </p:cNvCxnSpPr>
          <p:nvPr/>
        </p:nvCxnSpPr>
        <p:spPr bwMode="gray">
          <a:xfrm rot="16200000" flipH="1">
            <a:off x="1421833" y="3771807"/>
            <a:ext cx="2095534" cy="90000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249"/>
          <p:cNvCxnSpPr>
            <a:cxnSpLocks/>
            <a:stCxn id="129" idx="2"/>
          </p:cNvCxnSpPr>
          <p:nvPr/>
        </p:nvCxnSpPr>
        <p:spPr bwMode="gray">
          <a:xfrm rot="16200000" flipH="1">
            <a:off x="4743299" y="2996015"/>
            <a:ext cx="543951" cy="90000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252"/>
          <p:cNvCxnSpPr>
            <a:stCxn id="130" idx="2"/>
            <a:endCxn id="40" idx="1"/>
          </p:cNvCxnSpPr>
          <p:nvPr/>
        </p:nvCxnSpPr>
        <p:spPr bwMode="gray">
          <a:xfrm rot="16200000" flipH="1">
            <a:off x="6016136" y="2996015"/>
            <a:ext cx="543951" cy="90000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14"/>
          <p:cNvCxnSpPr>
            <a:stCxn id="131" idx="2"/>
            <a:endCxn id="63" idx="1"/>
          </p:cNvCxnSpPr>
          <p:nvPr/>
        </p:nvCxnSpPr>
        <p:spPr bwMode="gray">
          <a:xfrm rot="16200000" flipH="1">
            <a:off x="7492165" y="2996015"/>
            <a:ext cx="543951" cy="90000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17"/>
          <p:cNvCxnSpPr>
            <a:stCxn id="131" idx="2"/>
            <a:endCxn id="65" idx="1"/>
          </p:cNvCxnSpPr>
          <p:nvPr/>
        </p:nvCxnSpPr>
        <p:spPr bwMode="gray">
          <a:xfrm rot="16200000" flipH="1">
            <a:off x="7104269" y="3383911"/>
            <a:ext cx="1319742" cy="90000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19"/>
          <p:cNvCxnSpPr>
            <a:stCxn id="131" idx="2"/>
            <a:endCxn id="67" idx="1"/>
          </p:cNvCxnSpPr>
          <p:nvPr/>
        </p:nvCxnSpPr>
        <p:spPr bwMode="gray">
          <a:xfrm rot="16200000" flipH="1">
            <a:off x="6716373" y="3771807"/>
            <a:ext cx="2095534" cy="90000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30"/>
          <p:cNvSpPr txBox="1"/>
          <p:nvPr>
            <p:custDataLst>
              <p:tags r:id="rId3"/>
            </p:custDataLst>
          </p:nvPr>
        </p:nvSpPr>
        <p:spPr bwMode="gray">
          <a:xfrm>
            <a:off x="3276600" y="1066800"/>
            <a:ext cx="2684195" cy="793749"/>
          </a:xfrm>
          <a:prstGeom prst="rect">
            <a:avLst/>
          </a:prstGeom>
          <a:solidFill>
            <a:srgbClr val="0460A9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144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100" b="1" baseline="0">
                <a:solidFill>
                  <a:schemeClr val="bg1"/>
                </a:solidFill>
              </a:defRPr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200" dirty="0"/>
              <a:t>DO Portfolio </a:t>
            </a:r>
          </a:p>
          <a:p>
            <a:r>
              <a:rPr lang="en-GB" sz="1200" dirty="0"/>
              <a:t>Management Head</a:t>
            </a:r>
          </a:p>
          <a:p>
            <a:endParaRPr lang="en-GB" sz="1200" b="0" dirty="0"/>
          </a:p>
          <a:p>
            <a:r>
              <a:rPr lang="en-GB" sz="1200" b="0" dirty="0"/>
              <a:t>Olivier Leconte</a:t>
            </a:r>
            <a:endParaRPr lang="en-US" sz="1200" b="0" dirty="0"/>
          </a:p>
        </p:txBody>
      </p:sp>
      <p:sp>
        <p:nvSpPr>
          <p:cNvPr id="40" name="TextBox 250"/>
          <p:cNvSpPr txBox="1">
            <a:spLocks/>
          </p:cNvSpPr>
          <p:nvPr/>
        </p:nvSpPr>
        <p:spPr bwMode="gray">
          <a:xfrm>
            <a:off x="6333111" y="3015909"/>
            <a:ext cx="1008000" cy="594162"/>
          </a:xfrm>
          <a:prstGeom prst="rect">
            <a:avLst/>
          </a:prstGeom>
          <a:solidFill>
            <a:srgbClr val="E6F4FE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50" dirty="0"/>
              <a:t>GMA Pharma </a:t>
            </a:r>
            <a:br>
              <a:rPr lang="en-US" sz="1050" dirty="0"/>
            </a:br>
            <a:r>
              <a:rPr lang="en-US" sz="1050" dirty="0"/>
              <a:t>&amp; Others</a:t>
            </a:r>
            <a:endParaRPr lang="en-US" sz="1050" baseline="30000" dirty="0"/>
          </a:p>
        </p:txBody>
      </p:sp>
      <p:sp>
        <p:nvSpPr>
          <p:cNvPr id="60" name="TextBox 71"/>
          <p:cNvSpPr txBox="1">
            <a:spLocks/>
          </p:cNvSpPr>
          <p:nvPr/>
        </p:nvSpPr>
        <p:spPr bwMode="gray">
          <a:xfrm>
            <a:off x="5060274" y="3021065"/>
            <a:ext cx="1008000" cy="594162"/>
          </a:xfrm>
          <a:prstGeom prst="rect">
            <a:avLst/>
          </a:prstGeom>
          <a:solidFill>
            <a:srgbClr val="E6F4FE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50" dirty="0"/>
              <a:t>NIBR TCO</a:t>
            </a:r>
            <a:endParaRPr lang="en-US" sz="1050" baseline="30000" dirty="0"/>
          </a:p>
        </p:txBody>
      </p:sp>
      <p:sp>
        <p:nvSpPr>
          <p:cNvPr id="63" name="TextBox 87"/>
          <p:cNvSpPr txBox="1">
            <a:spLocks/>
          </p:cNvSpPr>
          <p:nvPr/>
        </p:nvSpPr>
        <p:spPr bwMode="gray">
          <a:xfrm>
            <a:off x="7809140" y="3015909"/>
            <a:ext cx="1008000" cy="594162"/>
          </a:xfrm>
          <a:prstGeom prst="rect">
            <a:avLst/>
          </a:prstGeom>
          <a:solidFill>
            <a:srgbClr val="E6F4FE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50" dirty="0"/>
              <a:t>PBX Analysts</a:t>
            </a:r>
            <a:endParaRPr lang="en-US" sz="1050" dirty="0"/>
          </a:p>
        </p:txBody>
      </p:sp>
      <p:sp>
        <p:nvSpPr>
          <p:cNvPr id="65" name="TextBox 89"/>
          <p:cNvSpPr txBox="1">
            <a:spLocks/>
          </p:cNvSpPr>
          <p:nvPr/>
        </p:nvSpPr>
        <p:spPr bwMode="gray">
          <a:xfrm>
            <a:off x="7809140" y="3791701"/>
            <a:ext cx="1008000" cy="594162"/>
          </a:xfrm>
          <a:prstGeom prst="rect">
            <a:avLst/>
          </a:prstGeom>
          <a:solidFill>
            <a:srgbClr val="E6F4FE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50" dirty="0">
                <a:solidFill>
                  <a:schemeClr val="tx1"/>
                </a:solidFill>
              </a:rPr>
              <a:t>PBX Analysts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67" name="TextBox 91"/>
          <p:cNvSpPr txBox="1">
            <a:spLocks/>
          </p:cNvSpPr>
          <p:nvPr/>
        </p:nvSpPr>
        <p:spPr bwMode="gray">
          <a:xfrm>
            <a:off x="7809140" y="4567492"/>
            <a:ext cx="1008000" cy="5941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none" lIns="45720" tIns="45720" rIns="45720" bIns="4572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800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50" dirty="0"/>
              <a:t>PBX Analysts</a:t>
            </a:r>
          </a:p>
          <a:p>
            <a:r>
              <a:rPr lang="en-GB" sz="1050" dirty="0"/>
              <a:t> (external)</a:t>
            </a:r>
            <a:endParaRPr lang="en-US" sz="1050" dirty="0"/>
          </a:p>
        </p:txBody>
      </p:sp>
      <p:sp>
        <p:nvSpPr>
          <p:cNvPr id="14" name="TextBox 123"/>
          <p:cNvSpPr txBox="1">
            <a:spLocks/>
          </p:cNvSpPr>
          <p:nvPr/>
        </p:nvSpPr>
        <p:spPr bwMode="gray">
          <a:xfrm>
            <a:off x="2514600" y="3015909"/>
            <a:ext cx="1008000" cy="594162"/>
          </a:xfrm>
          <a:prstGeom prst="rect">
            <a:avLst/>
          </a:prstGeom>
          <a:solidFill>
            <a:srgbClr val="E6F4FE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050" dirty="0"/>
              <a:t>Solid Tumors</a:t>
            </a:r>
          </a:p>
          <a:p>
            <a:endParaRPr lang="en-US" sz="1050" dirty="0"/>
          </a:p>
        </p:txBody>
      </p:sp>
      <p:sp>
        <p:nvSpPr>
          <p:cNvPr id="22" name="TextBox 153"/>
          <p:cNvSpPr txBox="1">
            <a:spLocks/>
          </p:cNvSpPr>
          <p:nvPr/>
        </p:nvSpPr>
        <p:spPr bwMode="gray">
          <a:xfrm>
            <a:off x="2514600" y="3791701"/>
            <a:ext cx="1008000" cy="594162"/>
          </a:xfrm>
          <a:prstGeom prst="rect">
            <a:avLst/>
          </a:prstGeom>
          <a:solidFill>
            <a:srgbClr val="E6F4FE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GB" sz="1050" dirty="0"/>
              <a:t>Haematology</a:t>
            </a:r>
            <a:endParaRPr lang="en-US" sz="1050" baseline="30000" dirty="0"/>
          </a:p>
        </p:txBody>
      </p:sp>
      <p:sp>
        <p:nvSpPr>
          <p:cNvPr id="23" name="TextBox 154"/>
          <p:cNvSpPr txBox="1">
            <a:spLocks/>
          </p:cNvSpPr>
          <p:nvPr/>
        </p:nvSpPr>
        <p:spPr bwMode="gray">
          <a:xfrm>
            <a:off x="2514600" y="4567492"/>
            <a:ext cx="1008000" cy="594162"/>
          </a:xfrm>
          <a:prstGeom prst="rect">
            <a:avLst/>
          </a:prstGeom>
          <a:solidFill>
            <a:srgbClr val="E6F4FE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GB" sz="1050" dirty="0"/>
              <a:t>Rare and Other diseases </a:t>
            </a:r>
            <a:endParaRPr lang="en-US" sz="1050" baseline="30000" dirty="0"/>
          </a:p>
        </p:txBody>
      </p:sp>
      <p:sp>
        <p:nvSpPr>
          <p:cNvPr id="15" name="TextBox 133"/>
          <p:cNvSpPr txBox="1">
            <a:spLocks/>
          </p:cNvSpPr>
          <p:nvPr/>
        </p:nvSpPr>
        <p:spPr bwMode="gray">
          <a:xfrm>
            <a:off x="2370600" y="2089998"/>
            <a:ext cx="1152000" cy="67904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0" rIns="0" bIns="72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US" sz="1050" b="1" dirty="0">
                <a:solidFill>
                  <a:schemeClr val="tx1"/>
                </a:solidFill>
              </a:rPr>
              <a:t>DO Oncology Head</a:t>
            </a:r>
          </a:p>
          <a:p>
            <a:endParaRPr lang="en-US" sz="1050" dirty="0">
              <a:solidFill>
                <a:schemeClr val="tx1"/>
              </a:solidFill>
              <a:latin typeface="Arial Body"/>
            </a:endParaRPr>
          </a:p>
          <a:p>
            <a:r>
              <a:rPr lang="en-US" sz="1050" dirty="0">
                <a:solidFill>
                  <a:schemeClr val="tx1"/>
                </a:solidFill>
                <a:latin typeface="Arial Body"/>
              </a:rPr>
              <a:t>Guillaume Breton</a:t>
            </a:r>
          </a:p>
          <a:p>
            <a:endParaRPr lang="en-US" sz="1050" b="1" baseline="30000" dirty="0">
              <a:latin typeface="Arial Body"/>
            </a:endParaRPr>
          </a:p>
        </p:txBody>
      </p:sp>
      <p:sp>
        <p:nvSpPr>
          <p:cNvPr id="9" name="TextBox 180"/>
          <p:cNvSpPr txBox="1">
            <a:spLocks/>
          </p:cNvSpPr>
          <p:nvPr/>
        </p:nvSpPr>
        <p:spPr bwMode="gray">
          <a:xfrm>
            <a:off x="775796" y="2089998"/>
            <a:ext cx="1281603" cy="67904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0" rIns="0" bIns="72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dirty="0"/>
              <a:t>DO Cardio Metabolic Director</a:t>
            </a:r>
          </a:p>
          <a:p>
            <a:r>
              <a:rPr lang="en-US" b="0" dirty="0" err="1"/>
              <a:t>Sangeeta</a:t>
            </a:r>
            <a:r>
              <a:rPr lang="en-US" b="0" dirty="0"/>
              <a:t> </a:t>
            </a:r>
            <a:r>
              <a:rPr lang="en-US" b="0" dirty="0" err="1"/>
              <a:t>Bhattarcharya</a:t>
            </a:r>
            <a:endParaRPr lang="en-US" b="0" dirty="0"/>
          </a:p>
          <a:p>
            <a:endParaRPr lang="en-US" dirty="0"/>
          </a:p>
        </p:txBody>
      </p:sp>
      <p:sp>
        <p:nvSpPr>
          <p:cNvPr id="18" name="TextBox 141"/>
          <p:cNvSpPr txBox="1">
            <a:spLocks/>
          </p:cNvSpPr>
          <p:nvPr/>
        </p:nvSpPr>
        <p:spPr bwMode="gray">
          <a:xfrm>
            <a:off x="4916274" y="2089998"/>
            <a:ext cx="1152000" cy="67904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US" sz="1050" b="1" dirty="0">
                <a:solidFill>
                  <a:schemeClr val="tx1"/>
                </a:solidFill>
              </a:rPr>
              <a:t>DO NIBR</a:t>
            </a:r>
          </a:p>
          <a:p>
            <a:r>
              <a:rPr lang="en-GB" sz="1050" b="1" dirty="0">
                <a:solidFill>
                  <a:schemeClr val="tx1"/>
                </a:solidFill>
              </a:rPr>
              <a:t> Director</a:t>
            </a:r>
          </a:p>
          <a:p>
            <a:endParaRPr lang="en-GB" sz="1050" b="1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tx1"/>
                </a:solidFill>
              </a:rPr>
              <a:t>Francois </a:t>
            </a:r>
            <a:r>
              <a:rPr lang="en-US" sz="1050" dirty="0" err="1">
                <a:solidFill>
                  <a:schemeClr val="tx1"/>
                </a:solidFill>
              </a:rPr>
              <a:t>Langlo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0" name="TextBox 143"/>
          <p:cNvSpPr txBox="1">
            <a:spLocks/>
          </p:cNvSpPr>
          <p:nvPr/>
        </p:nvSpPr>
        <p:spPr bwMode="gray">
          <a:xfrm>
            <a:off x="6189111" y="2089998"/>
            <a:ext cx="1152000" cy="6790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50" b="1" dirty="0"/>
              <a:t>DO GMA </a:t>
            </a:r>
          </a:p>
          <a:p>
            <a:pPr algn="ctr"/>
            <a:r>
              <a:rPr lang="en-US" sz="1050" b="1" dirty="0"/>
              <a:t>Director</a:t>
            </a:r>
          </a:p>
          <a:p>
            <a:pPr algn="ctr"/>
            <a:endParaRPr lang="en-US" sz="1050" b="1" dirty="0"/>
          </a:p>
          <a:p>
            <a:pPr algn="ctr"/>
            <a:r>
              <a:rPr lang="en-US" sz="1050" dirty="0"/>
              <a:t>Sri </a:t>
            </a:r>
            <a:r>
              <a:rPr lang="en-US" sz="1050" dirty="0" err="1"/>
              <a:t>Vithala</a:t>
            </a:r>
            <a:r>
              <a:rPr lang="en-US" sz="1050" dirty="0"/>
              <a:t> </a:t>
            </a:r>
          </a:p>
          <a:p>
            <a:pPr algn="ctr"/>
            <a:endParaRPr lang="en-GB" sz="1050" b="1" baseline="30000" dirty="0"/>
          </a:p>
          <a:p>
            <a:pPr algn="ctr"/>
            <a:endParaRPr lang="en-GB" sz="1050" b="1" baseline="30000" dirty="0"/>
          </a:p>
          <a:p>
            <a:pPr algn="ctr"/>
            <a:endParaRPr lang="en-US" sz="1050" baseline="30000" dirty="0"/>
          </a:p>
        </p:txBody>
      </p:sp>
      <p:sp>
        <p:nvSpPr>
          <p:cNvPr id="21" name="TextBox 144"/>
          <p:cNvSpPr txBox="1">
            <a:spLocks/>
          </p:cNvSpPr>
          <p:nvPr/>
        </p:nvSpPr>
        <p:spPr bwMode="gray">
          <a:xfrm>
            <a:off x="7665140" y="2089998"/>
            <a:ext cx="1152000" cy="67904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="1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US" sz="1050" dirty="0">
                <a:solidFill>
                  <a:schemeClr val="tx1"/>
                </a:solidFill>
              </a:rPr>
              <a:t> Data Integration &amp; PMX Director</a:t>
            </a:r>
          </a:p>
          <a:p>
            <a:endParaRPr lang="en-GB" sz="1050" b="0" dirty="0">
              <a:solidFill>
                <a:schemeClr val="tx1"/>
              </a:solidFill>
            </a:endParaRPr>
          </a:p>
          <a:p>
            <a:r>
              <a:rPr lang="en-GB" sz="1050" b="0" dirty="0">
                <a:solidFill>
                  <a:schemeClr val="tx1"/>
                </a:solidFill>
              </a:rPr>
              <a:t>Gregory Pinault</a:t>
            </a:r>
            <a:endParaRPr lang="en-US" sz="1050" b="0" dirty="0">
              <a:solidFill>
                <a:schemeClr val="tx1"/>
              </a:solidFill>
            </a:endParaRPr>
          </a:p>
        </p:txBody>
      </p:sp>
      <p:sp>
        <p:nvSpPr>
          <p:cNvPr id="17" name="TextBox 138"/>
          <p:cNvSpPr txBox="1">
            <a:spLocks/>
          </p:cNvSpPr>
          <p:nvPr/>
        </p:nvSpPr>
        <p:spPr bwMode="gray">
          <a:xfrm>
            <a:off x="3643437" y="2089998"/>
            <a:ext cx="1152000" cy="6790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50" b="1" dirty="0"/>
              <a:t>DO Sandoz/ Alcon Director</a:t>
            </a:r>
          </a:p>
          <a:p>
            <a:pPr algn="ctr"/>
            <a:endParaRPr lang="en-GB" sz="1050" b="1" dirty="0"/>
          </a:p>
          <a:p>
            <a:pPr algn="ctr"/>
            <a:r>
              <a:rPr lang="en-GB" sz="1050" dirty="0" smtClean="0"/>
              <a:t>TBA (Germany)</a:t>
            </a:r>
            <a:endParaRPr lang="en-US" sz="1050" dirty="0"/>
          </a:p>
        </p:txBody>
      </p:sp>
      <p:sp>
        <p:nvSpPr>
          <p:cNvPr id="10" name="TextBox 186"/>
          <p:cNvSpPr txBox="1">
            <a:spLocks/>
          </p:cNvSpPr>
          <p:nvPr/>
        </p:nvSpPr>
        <p:spPr bwMode="gray">
          <a:xfrm>
            <a:off x="775796" y="3015909"/>
            <a:ext cx="1281603" cy="6790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1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050" dirty="0"/>
              <a:t>DO </a:t>
            </a:r>
            <a:r>
              <a:rPr lang="en-US" sz="1050" dirty="0" err="1"/>
              <a:t>Resp</a:t>
            </a:r>
            <a:r>
              <a:rPr lang="en-US" sz="1050" dirty="0"/>
              <a:t> &amp; Established Meds Director</a:t>
            </a:r>
          </a:p>
          <a:p>
            <a:r>
              <a:rPr lang="en-US" sz="1050" b="0" dirty="0" err="1" smtClean="0"/>
              <a:t>Sreesha</a:t>
            </a:r>
            <a:r>
              <a:rPr lang="en-US" sz="1050" b="0" dirty="0" smtClean="0"/>
              <a:t> </a:t>
            </a:r>
            <a:r>
              <a:rPr lang="en-US" sz="1050" b="0" dirty="0"/>
              <a:t>Nair </a:t>
            </a:r>
          </a:p>
        </p:txBody>
      </p:sp>
      <p:sp>
        <p:nvSpPr>
          <p:cNvPr id="12" name="TextBox 192"/>
          <p:cNvSpPr txBox="1">
            <a:spLocks/>
          </p:cNvSpPr>
          <p:nvPr/>
        </p:nvSpPr>
        <p:spPr bwMode="gray">
          <a:xfrm>
            <a:off x="775796" y="3941821"/>
            <a:ext cx="1281603" cy="6790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1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050" dirty="0"/>
              <a:t>DO Immunology &amp; Dermatology Director</a:t>
            </a:r>
          </a:p>
          <a:p>
            <a:r>
              <a:rPr lang="en-US" sz="1050" b="0" dirty="0" err="1"/>
              <a:t>Gargi</a:t>
            </a:r>
            <a:r>
              <a:rPr lang="en-US" sz="1050" b="0" dirty="0"/>
              <a:t> </a:t>
            </a:r>
            <a:r>
              <a:rPr lang="en-US" sz="1050" b="0" dirty="0" err="1"/>
              <a:t>Paigaonkar</a:t>
            </a:r>
            <a:r>
              <a:rPr lang="en-US" sz="1050" b="0" dirty="0"/>
              <a:t> </a:t>
            </a:r>
          </a:p>
        </p:txBody>
      </p:sp>
      <p:sp>
        <p:nvSpPr>
          <p:cNvPr id="13" name="TextBox 198"/>
          <p:cNvSpPr txBox="1">
            <a:spLocks/>
          </p:cNvSpPr>
          <p:nvPr/>
        </p:nvSpPr>
        <p:spPr bwMode="gray">
          <a:xfrm>
            <a:off x="775796" y="4867733"/>
            <a:ext cx="1281603" cy="67904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0" rIns="0" bIns="72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050" dirty="0"/>
              <a:t>DO Neuroscience &amp; </a:t>
            </a:r>
            <a:r>
              <a:rPr lang="en-US" sz="1050" dirty="0" err="1"/>
              <a:t>Ophtha</a:t>
            </a:r>
            <a:r>
              <a:rPr lang="en-US" sz="1050" dirty="0"/>
              <a:t> Director</a:t>
            </a:r>
          </a:p>
          <a:p>
            <a:endParaRPr lang="en-GB" sz="1050" b="0" dirty="0"/>
          </a:p>
          <a:p>
            <a:r>
              <a:rPr lang="en-GB" sz="1050" b="0" dirty="0"/>
              <a:t>Michael Ball</a:t>
            </a:r>
            <a:endParaRPr lang="en-US" sz="1050" b="0" dirty="0"/>
          </a:p>
        </p:txBody>
      </p:sp>
      <p:sp>
        <p:nvSpPr>
          <p:cNvPr id="123" name="TextBox 247"/>
          <p:cNvSpPr txBox="1">
            <a:spLocks/>
          </p:cNvSpPr>
          <p:nvPr/>
        </p:nvSpPr>
        <p:spPr bwMode="gray">
          <a:xfrm>
            <a:off x="3788813" y="3015909"/>
            <a:ext cx="1008000" cy="594162"/>
          </a:xfrm>
          <a:prstGeom prst="rect">
            <a:avLst/>
          </a:prstGeom>
          <a:solidFill>
            <a:srgbClr val="E6F4FE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050" dirty="0"/>
              <a:t>Alcon</a:t>
            </a:r>
            <a:endParaRPr lang="en-US" sz="1050" baseline="30000" dirty="0"/>
          </a:p>
        </p:txBody>
      </p:sp>
      <p:cxnSp>
        <p:nvCxnSpPr>
          <p:cNvPr id="125" name="Elbow Connector 10"/>
          <p:cNvCxnSpPr>
            <a:stCxn id="123" idx="1"/>
          </p:cNvCxnSpPr>
          <p:nvPr/>
        </p:nvCxnSpPr>
        <p:spPr bwMode="gray">
          <a:xfrm rot="10800000">
            <a:off x="3698813" y="2769040"/>
            <a:ext cx="90000" cy="543951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56D99B5-06B0-4C16-8CD1-2BB9F987A987}"/>
              </a:ext>
            </a:extLst>
          </p:cNvPr>
          <p:cNvSpPr/>
          <p:nvPr/>
        </p:nvSpPr>
        <p:spPr>
          <a:xfrm>
            <a:off x="7577374" y="1862728"/>
            <a:ext cx="1355192" cy="348055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01" name="Rectangle 230"/>
          <p:cNvSpPr txBox="1"/>
          <p:nvPr>
            <p:custDataLst>
              <p:tags r:id="rId4"/>
            </p:custDataLst>
          </p:nvPr>
        </p:nvSpPr>
        <p:spPr bwMode="gray">
          <a:xfrm>
            <a:off x="7162800" y="742750"/>
            <a:ext cx="926559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Basel / EH</a:t>
            </a:r>
            <a:endParaRPr lang="en-US" sz="1000" b="0" dirty="0"/>
          </a:p>
        </p:txBody>
      </p:sp>
      <p:sp>
        <p:nvSpPr>
          <p:cNvPr id="102" name="Rectangle 230"/>
          <p:cNvSpPr txBox="1"/>
          <p:nvPr>
            <p:custDataLst>
              <p:tags r:id="rId5"/>
            </p:custDataLst>
          </p:nvPr>
        </p:nvSpPr>
        <p:spPr bwMode="gray">
          <a:xfrm>
            <a:off x="7162800" y="959087"/>
            <a:ext cx="926559" cy="179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HYD / Others</a:t>
            </a:r>
            <a:endParaRPr lang="en-US" sz="1000" b="0" baseline="30000" dirty="0"/>
          </a:p>
        </p:txBody>
      </p:sp>
      <p:sp>
        <p:nvSpPr>
          <p:cNvPr id="103" name="Rectangle 230"/>
          <p:cNvSpPr txBox="1"/>
          <p:nvPr>
            <p:custDataLst>
              <p:tags r:id="rId6"/>
            </p:custDataLst>
          </p:nvPr>
        </p:nvSpPr>
        <p:spPr bwMode="gray">
          <a:xfrm>
            <a:off x="8134662" y="742750"/>
            <a:ext cx="468000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4</a:t>
            </a:r>
            <a:endParaRPr lang="en-US" sz="1000" b="0" dirty="0"/>
          </a:p>
        </p:txBody>
      </p:sp>
      <p:sp>
        <p:nvSpPr>
          <p:cNvPr id="104" name="Rectangle 230"/>
          <p:cNvSpPr txBox="1"/>
          <p:nvPr>
            <p:custDataLst>
              <p:tags r:id="rId7"/>
            </p:custDataLst>
          </p:nvPr>
        </p:nvSpPr>
        <p:spPr bwMode="gray">
          <a:xfrm>
            <a:off x="8134662" y="959087"/>
            <a:ext cx="468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5</a:t>
            </a:r>
            <a:endParaRPr lang="en-US" sz="1000" b="0" dirty="0"/>
          </a:p>
        </p:txBody>
      </p:sp>
      <p:sp>
        <p:nvSpPr>
          <p:cNvPr id="105" name="Rectangle 230"/>
          <p:cNvSpPr txBox="1"/>
          <p:nvPr>
            <p:custDataLst>
              <p:tags r:id="rId8"/>
            </p:custDataLst>
          </p:nvPr>
        </p:nvSpPr>
        <p:spPr bwMode="gray">
          <a:xfrm>
            <a:off x="7162800" y="1185166"/>
            <a:ext cx="926559" cy="16956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Total</a:t>
            </a:r>
            <a:endParaRPr lang="en-US" sz="1000" dirty="0"/>
          </a:p>
        </p:txBody>
      </p:sp>
      <p:sp>
        <p:nvSpPr>
          <p:cNvPr id="106" name="Rectangle 230"/>
          <p:cNvSpPr txBox="1"/>
          <p:nvPr>
            <p:custDataLst>
              <p:tags r:id="rId9"/>
            </p:custDataLst>
          </p:nvPr>
        </p:nvSpPr>
        <p:spPr bwMode="gray">
          <a:xfrm>
            <a:off x="8136250" y="1185166"/>
            <a:ext cx="468000" cy="1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9</a:t>
            </a:r>
            <a:endParaRPr lang="en-US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7256756" y="457200"/>
            <a:ext cx="1409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n-4 distribution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21259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think-cell Slide" r:id="rId12" imgW="524" imgH="526" progId="TCLayout.ActiveDocument.1">
                  <p:embed/>
                </p:oleObj>
              </mc:Choice>
              <mc:Fallback>
                <p:oleObj name="think-cell Slide" r:id="rId12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533400" y="449945"/>
            <a:ext cx="7772400" cy="960120"/>
          </a:xfrm>
        </p:spPr>
        <p:txBody>
          <a:bodyPr/>
          <a:lstStyle/>
          <a:p>
            <a:r>
              <a:rPr lang="en-GB" dirty="0"/>
              <a:t>Data Management</a:t>
            </a:r>
            <a:endParaRPr lang="de-CH" sz="2900" dirty="0"/>
          </a:p>
        </p:txBody>
      </p:sp>
      <p:sp>
        <p:nvSpPr>
          <p:cNvPr id="7" name="Rechteck 6"/>
          <p:cNvSpPr/>
          <p:nvPr/>
        </p:nvSpPr>
        <p:spPr bwMode="gray">
          <a:xfrm>
            <a:off x="461761" y="3394056"/>
            <a:ext cx="188815" cy="1480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3" name="Rechteck 72"/>
          <p:cNvSpPr/>
          <p:nvPr/>
        </p:nvSpPr>
        <p:spPr bwMode="gray">
          <a:xfrm>
            <a:off x="2121340" y="3394056"/>
            <a:ext cx="188815" cy="1480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4" name="Rechteck 73"/>
          <p:cNvSpPr/>
          <p:nvPr/>
        </p:nvSpPr>
        <p:spPr bwMode="gray">
          <a:xfrm>
            <a:off x="3780921" y="3394056"/>
            <a:ext cx="188815" cy="1480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5" name="Rechteck 74"/>
          <p:cNvSpPr/>
          <p:nvPr/>
        </p:nvSpPr>
        <p:spPr bwMode="gray">
          <a:xfrm>
            <a:off x="5440500" y="3394056"/>
            <a:ext cx="188815" cy="1480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6" name="Rechteck 75"/>
          <p:cNvSpPr/>
          <p:nvPr/>
        </p:nvSpPr>
        <p:spPr bwMode="gray">
          <a:xfrm>
            <a:off x="7100079" y="3394056"/>
            <a:ext cx="188815" cy="1480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cxnSp>
        <p:nvCxnSpPr>
          <p:cNvPr id="80" name="Gerade Verbindung 79"/>
          <p:cNvCxnSpPr>
            <a:stCxn id="27" idx="2"/>
            <a:endCxn id="60" idx="0"/>
          </p:cNvCxnSpPr>
          <p:nvPr/>
        </p:nvCxnSpPr>
        <p:spPr bwMode="gray">
          <a:xfrm flipH="1">
            <a:off x="4536182" y="2454275"/>
            <a:ext cx="2098" cy="347527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33"/>
          <p:cNvSpPr txBox="1">
            <a:spLocks/>
          </p:cNvSpPr>
          <p:nvPr/>
        </p:nvSpPr>
        <p:spPr bwMode="gray">
          <a:xfrm>
            <a:off x="5440500" y="2801802"/>
            <a:ext cx="1510521" cy="12988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D</a:t>
            </a:r>
          </a:p>
          <a:p>
            <a:r>
              <a:rPr lang="en-US" sz="1100" dirty="0"/>
              <a:t>Sr Group Head,</a:t>
            </a:r>
          </a:p>
          <a:p>
            <a:r>
              <a:rPr lang="en-US" sz="1100" dirty="0"/>
              <a:t> ED, NS, </a:t>
            </a:r>
            <a:r>
              <a:rPr lang="en-US" sz="1100" dirty="0" err="1"/>
              <a:t>Ophtha</a:t>
            </a:r>
            <a:r>
              <a:rPr lang="en-US" sz="1100" dirty="0"/>
              <a:t>, Alcon</a:t>
            </a:r>
          </a:p>
          <a:p>
            <a:endParaRPr lang="en-US" sz="1100" dirty="0"/>
          </a:p>
          <a:p>
            <a:r>
              <a:rPr lang="en-US" sz="1100" b="0" dirty="0" err="1"/>
              <a:t>Srikrishnan</a:t>
            </a:r>
            <a:r>
              <a:rPr lang="en-US" sz="1100" b="0" dirty="0"/>
              <a:t> </a:t>
            </a:r>
            <a:r>
              <a:rPr lang="en-US" sz="1100" b="0" dirty="0" err="1"/>
              <a:t>Talluri</a:t>
            </a:r>
            <a:endParaRPr lang="en-US" sz="11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1100" dirty="0"/>
          </a:p>
        </p:txBody>
      </p:sp>
      <p:sp>
        <p:nvSpPr>
          <p:cNvPr id="66" name="TextBox 133"/>
          <p:cNvSpPr txBox="1">
            <a:spLocks/>
          </p:cNvSpPr>
          <p:nvPr/>
        </p:nvSpPr>
        <p:spPr bwMode="gray">
          <a:xfrm>
            <a:off x="7100079" y="2801802"/>
            <a:ext cx="1510521" cy="12988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CoE</a:t>
            </a:r>
            <a:br>
              <a:rPr lang="en-US" sz="1100" dirty="0"/>
            </a:br>
            <a:r>
              <a:rPr lang="en-US" sz="1100" dirty="0"/>
              <a:t>Sr Group Head,</a:t>
            </a:r>
          </a:p>
          <a:p>
            <a:r>
              <a:rPr lang="en-US" sz="1100" dirty="0"/>
              <a:t>Specialized Services*</a:t>
            </a:r>
          </a:p>
          <a:p>
            <a:endParaRPr lang="en-GB" sz="1100" dirty="0"/>
          </a:p>
          <a:p>
            <a:endParaRPr lang="en-GB" sz="1100" b="0" dirty="0"/>
          </a:p>
          <a:p>
            <a:r>
              <a:rPr lang="en-GB" sz="1100" b="0" dirty="0" smtClean="0"/>
              <a:t>TBA (Hyderabad)</a:t>
            </a:r>
            <a:endParaRPr lang="en-US" sz="1100" b="0" dirty="0"/>
          </a:p>
        </p:txBody>
      </p:sp>
      <p:sp>
        <p:nvSpPr>
          <p:cNvPr id="27" name="Rectangle 230"/>
          <p:cNvSpPr txBox="1"/>
          <p:nvPr>
            <p:custDataLst>
              <p:tags r:id="rId3"/>
            </p:custDataLst>
          </p:nvPr>
        </p:nvSpPr>
        <p:spPr bwMode="gray">
          <a:xfrm>
            <a:off x="3216573" y="1676400"/>
            <a:ext cx="2643411" cy="777875"/>
          </a:xfrm>
          <a:prstGeom prst="rect">
            <a:avLst/>
          </a:prstGeom>
          <a:solidFill>
            <a:srgbClr val="0460A9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Global Head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Data Management</a:t>
            </a:r>
          </a:p>
          <a:p>
            <a:pPr algn="ctr"/>
            <a:endParaRPr lang="en-GB" sz="1200" b="1" dirty="0">
              <a:solidFill>
                <a:schemeClr val="bg1"/>
              </a:solidFill>
            </a:endParaRP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Sarah Clark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0" name="TextBox 133"/>
          <p:cNvSpPr txBox="1">
            <a:spLocks/>
          </p:cNvSpPr>
          <p:nvPr/>
        </p:nvSpPr>
        <p:spPr bwMode="gray">
          <a:xfrm>
            <a:off x="3780921" y="2801802"/>
            <a:ext cx="1510521" cy="12988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C</a:t>
            </a:r>
          </a:p>
          <a:p>
            <a:r>
              <a:rPr lang="en-US" sz="1100" dirty="0"/>
              <a:t>Sr Group Head, Rare and other diseases (</a:t>
            </a:r>
            <a:r>
              <a:rPr lang="en-US" sz="1100" dirty="0" err="1"/>
              <a:t>Onc</a:t>
            </a:r>
            <a:r>
              <a:rPr lang="en-US" sz="1100" dirty="0"/>
              <a:t>), I&amp;D</a:t>
            </a:r>
          </a:p>
          <a:p>
            <a:endParaRPr lang="en-US" sz="1100" dirty="0"/>
          </a:p>
          <a:p>
            <a:r>
              <a:rPr lang="en-US" sz="1100" b="0" dirty="0" err="1"/>
              <a:t>Jagadeesh</a:t>
            </a:r>
            <a:r>
              <a:rPr lang="en-US" sz="1100" b="0" dirty="0"/>
              <a:t> </a:t>
            </a:r>
            <a:r>
              <a:rPr lang="en-US" sz="1100" b="0" dirty="0" err="1"/>
              <a:t>Rudraswamymath</a:t>
            </a:r>
            <a:endParaRPr lang="en-US" sz="11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57" name="TextBox 133"/>
          <p:cNvSpPr txBox="1">
            <a:spLocks/>
          </p:cNvSpPr>
          <p:nvPr/>
        </p:nvSpPr>
        <p:spPr bwMode="gray">
          <a:xfrm>
            <a:off x="2121340" y="2801802"/>
            <a:ext cx="1510521" cy="12988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B</a:t>
            </a:r>
          </a:p>
          <a:p>
            <a:r>
              <a:rPr lang="en-US" sz="1100" dirty="0"/>
              <a:t>Sr Group Head,</a:t>
            </a:r>
          </a:p>
          <a:p>
            <a:r>
              <a:rPr lang="en-US" sz="1100" dirty="0"/>
              <a:t> Hematology, CM</a:t>
            </a:r>
          </a:p>
          <a:p>
            <a:endParaRPr lang="en-GB" sz="1100" dirty="0"/>
          </a:p>
          <a:p>
            <a:endParaRPr lang="en-GB" sz="1100" dirty="0"/>
          </a:p>
          <a:p>
            <a:r>
              <a:rPr lang="en-GB" sz="1100" b="0" dirty="0"/>
              <a:t>Srinivas </a:t>
            </a:r>
            <a:r>
              <a:rPr lang="en-GB" sz="1100" b="0" dirty="0" err="1"/>
              <a:t>Hiriyanna</a:t>
            </a:r>
            <a:endParaRPr lang="en-US" sz="1100" b="0" dirty="0"/>
          </a:p>
        </p:txBody>
      </p:sp>
      <p:sp>
        <p:nvSpPr>
          <p:cNvPr id="45" name="TextBox 133"/>
          <p:cNvSpPr txBox="1">
            <a:spLocks/>
          </p:cNvSpPr>
          <p:nvPr/>
        </p:nvSpPr>
        <p:spPr bwMode="gray">
          <a:xfrm>
            <a:off x="461761" y="2801802"/>
            <a:ext cx="1510521" cy="12988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A</a:t>
            </a:r>
          </a:p>
          <a:p>
            <a:r>
              <a:rPr lang="en-US" sz="1100" dirty="0"/>
              <a:t>Sr Group Head,</a:t>
            </a:r>
          </a:p>
          <a:p>
            <a:r>
              <a:rPr lang="en-US" sz="1100" dirty="0"/>
              <a:t>S. Tumors, </a:t>
            </a:r>
            <a:r>
              <a:rPr lang="en-US" sz="1100" dirty="0" err="1"/>
              <a:t>Resp</a:t>
            </a:r>
            <a:r>
              <a:rPr lang="en-US" sz="1100" dirty="0"/>
              <a:t>, EM</a:t>
            </a:r>
          </a:p>
          <a:p>
            <a:endParaRPr lang="en-GB" sz="1100" dirty="0"/>
          </a:p>
          <a:p>
            <a:endParaRPr lang="en-GB" sz="1100" dirty="0"/>
          </a:p>
          <a:p>
            <a:r>
              <a:rPr lang="en-GB" sz="1100" b="0" dirty="0" err="1"/>
              <a:t>Arun</a:t>
            </a:r>
            <a:r>
              <a:rPr lang="en-GB" sz="1100" b="0" dirty="0"/>
              <a:t> Patnaik</a:t>
            </a:r>
            <a:endParaRPr lang="en-US" sz="1100" b="0" dirty="0"/>
          </a:p>
        </p:txBody>
      </p:sp>
      <p:sp>
        <p:nvSpPr>
          <p:cNvPr id="21" name="Rectangle 230"/>
          <p:cNvSpPr txBox="1"/>
          <p:nvPr>
            <p:custDataLst>
              <p:tags r:id="rId4"/>
            </p:custDataLst>
          </p:nvPr>
        </p:nvSpPr>
        <p:spPr bwMode="gray">
          <a:xfrm>
            <a:off x="7167151" y="743584"/>
            <a:ext cx="926559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Basel / EH</a:t>
            </a:r>
            <a:endParaRPr lang="en-US" sz="1000" b="0" dirty="0"/>
          </a:p>
        </p:txBody>
      </p:sp>
      <p:sp>
        <p:nvSpPr>
          <p:cNvPr id="22" name="Rectangle 230"/>
          <p:cNvSpPr txBox="1"/>
          <p:nvPr>
            <p:custDataLst>
              <p:tags r:id="rId5"/>
            </p:custDataLst>
          </p:nvPr>
        </p:nvSpPr>
        <p:spPr bwMode="gray">
          <a:xfrm>
            <a:off x="7167151" y="959921"/>
            <a:ext cx="926559" cy="179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HYD / Others</a:t>
            </a:r>
            <a:endParaRPr lang="en-US" sz="1000" b="0" baseline="30000" dirty="0"/>
          </a:p>
        </p:txBody>
      </p:sp>
      <p:sp>
        <p:nvSpPr>
          <p:cNvPr id="23" name="Rectangle 230"/>
          <p:cNvSpPr txBox="1"/>
          <p:nvPr>
            <p:custDataLst>
              <p:tags r:id="rId6"/>
            </p:custDataLst>
          </p:nvPr>
        </p:nvSpPr>
        <p:spPr bwMode="gray">
          <a:xfrm>
            <a:off x="8139013" y="743584"/>
            <a:ext cx="468000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0</a:t>
            </a:r>
            <a:endParaRPr lang="en-US" sz="1000" b="0" dirty="0"/>
          </a:p>
        </p:txBody>
      </p:sp>
      <p:sp>
        <p:nvSpPr>
          <p:cNvPr id="24" name="Rectangle 230"/>
          <p:cNvSpPr txBox="1"/>
          <p:nvPr>
            <p:custDataLst>
              <p:tags r:id="rId7"/>
            </p:custDataLst>
          </p:nvPr>
        </p:nvSpPr>
        <p:spPr bwMode="gray">
          <a:xfrm>
            <a:off x="8139013" y="959921"/>
            <a:ext cx="468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5</a:t>
            </a:r>
            <a:endParaRPr lang="en-US" sz="1000" b="0" dirty="0"/>
          </a:p>
        </p:txBody>
      </p:sp>
      <p:sp>
        <p:nvSpPr>
          <p:cNvPr id="25" name="Rectangle 230"/>
          <p:cNvSpPr txBox="1"/>
          <p:nvPr>
            <p:custDataLst>
              <p:tags r:id="rId8"/>
            </p:custDataLst>
          </p:nvPr>
        </p:nvSpPr>
        <p:spPr bwMode="gray">
          <a:xfrm>
            <a:off x="7167151" y="1186000"/>
            <a:ext cx="926559" cy="203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Total</a:t>
            </a:r>
            <a:endParaRPr lang="en-US" sz="1000" dirty="0"/>
          </a:p>
        </p:txBody>
      </p:sp>
      <p:sp>
        <p:nvSpPr>
          <p:cNvPr id="26" name="Rectangle 230"/>
          <p:cNvSpPr txBox="1"/>
          <p:nvPr>
            <p:custDataLst>
              <p:tags r:id="rId9"/>
            </p:custDataLst>
          </p:nvPr>
        </p:nvSpPr>
        <p:spPr bwMode="gray">
          <a:xfrm>
            <a:off x="8140601" y="1186000"/>
            <a:ext cx="468000" cy="2015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5</a:t>
            </a:r>
            <a:endParaRPr 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7267586" y="448692"/>
            <a:ext cx="1409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n-4 distribution</a:t>
            </a:r>
            <a:endParaRPr lang="en-US" sz="1200" b="1" dirty="0"/>
          </a:p>
        </p:txBody>
      </p:sp>
      <p:sp>
        <p:nvSpPr>
          <p:cNvPr id="37" name="TextBox 13"/>
          <p:cNvSpPr txBox="1">
            <a:spLocks/>
          </p:cNvSpPr>
          <p:nvPr/>
        </p:nvSpPr>
        <p:spPr bwMode="gray">
          <a:xfrm>
            <a:off x="1062195" y="5794198"/>
            <a:ext cx="608616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lvl="1" indent="0">
              <a:spcBef>
                <a:spcPts val="1800"/>
              </a:spcBef>
              <a:buClrTx/>
              <a:buSzPct val="120000"/>
              <a:buNone/>
            </a:pPr>
            <a:r>
              <a:rPr lang="en-US" sz="1200" i="1" dirty="0"/>
              <a:t>* Includes responsibility for Sandoz</a:t>
            </a:r>
          </a:p>
        </p:txBody>
      </p:sp>
      <p:sp>
        <p:nvSpPr>
          <p:cNvPr id="38" name="Rectangle 12"/>
          <p:cNvSpPr>
            <a:spLocks/>
          </p:cNvSpPr>
          <p:nvPr/>
        </p:nvSpPr>
        <p:spPr bwMode="gray">
          <a:xfrm>
            <a:off x="1008810" y="4444743"/>
            <a:ext cx="6928658" cy="12451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Cluster : </a:t>
            </a:r>
            <a:r>
              <a:rPr lang="en-GB" sz="1400" dirty="0">
                <a:solidFill>
                  <a:schemeClr val="tx1"/>
                </a:solidFill>
              </a:rPr>
              <a:t>A cluster is a collection of associates working on a specific set of TAs / franchises aiming to provide further flexibility and across franchise exchange</a:t>
            </a:r>
            <a:endParaRPr lang="en-GB" sz="14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 err="1">
                <a:solidFill>
                  <a:schemeClr val="tx1"/>
                </a:solidFill>
              </a:rPr>
              <a:t>CoE</a:t>
            </a:r>
            <a:r>
              <a:rPr lang="en-GB" sz="1400" b="1" dirty="0">
                <a:solidFill>
                  <a:schemeClr val="tx1"/>
                </a:solidFill>
              </a:rPr>
              <a:t>  : </a:t>
            </a:r>
            <a:r>
              <a:rPr lang="en-GB" sz="1400" dirty="0">
                <a:solidFill>
                  <a:schemeClr val="tx1"/>
                </a:solidFill>
              </a:rPr>
              <a:t>A </a:t>
            </a:r>
            <a:r>
              <a:rPr lang="en-GB" sz="1400" dirty="0" err="1">
                <a:solidFill>
                  <a:schemeClr val="tx1"/>
                </a:solidFill>
              </a:rPr>
              <a:t>center</a:t>
            </a:r>
            <a:r>
              <a:rPr lang="en-GB" sz="1400" dirty="0">
                <a:solidFill>
                  <a:schemeClr val="tx1"/>
                </a:solidFill>
              </a:rPr>
              <a:t> of excellence is created to support central activities (</a:t>
            </a:r>
            <a:r>
              <a:rPr lang="en-GB" sz="1400" dirty="0" err="1">
                <a:solidFill>
                  <a:schemeClr val="tx1"/>
                </a:solidFill>
              </a:rPr>
              <a:t>eg</a:t>
            </a:r>
            <a:r>
              <a:rPr lang="en-GB" sz="1400" dirty="0">
                <a:solidFill>
                  <a:schemeClr val="tx1"/>
                </a:solidFill>
              </a:rPr>
              <a:t>. DB Testing, Data Coding..)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39" name="Elbow Connector 38"/>
          <p:cNvCxnSpPr>
            <a:stCxn id="27" idx="2"/>
            <a:endCxn id="45" idx="0"/>
          </p:cNvCxnSpPr>
          <p:nvPr/>
        </p:nvCxnSpPr>
        <p:spPr>
          <a:xfrm rot="5400000">
            <a:off x="2703888" y="967410"/>
            <a:ext cx="347527" cy="3321257"/>
          </a:xfrm>
          <a:prstGeom prst="bentConnector3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27" idx="2"/>
            <a:endCxn id="57" idx="0"/>
          </p:cNvCxnSpPr>
          <p:nvPr/>
        </p:nvCxnSpPr>
        <p:spPr>
          <a:xfrm rot="5400000">
            <a:off x="3533677" y="1797199"/>
            <a:ext cx="347527" cy="166167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27" idx="2"/>
            <a:endCxn id="60" idx="0"/>
          </p:cNvCxnSpPr>
          <p:nvPr/>
        </p:nvCxnSpPr>
        <p:spPr>
          <a:xfrm rot="5400000">
            <a:off x="4363468" y="2626990"/>
            <a:ext cx="347527" cy="2097"/>
          </a:xfrm>
          <a:prstGeom prst="bentConnector3">
            <a:avLst>
              <a:gd name="adj1" fmla="val 58309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27" idx="2"/>
            <a:endCxn id="63" idx="0"/>
          </p:cNvCxnSpPr>
          <p:nvPr/>
        </p:nvCxnSpPr>
        <p:spPr>
          <a:xfrm rot="16200000" flipH="1">
            <a:off x="5193257" y="1799297"/>
            <a:ext cx="347527" cy="1657482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27" idx="2"/>
            <a:endCxn id="66" idx="0"/>
          </p:cNvCxnSpPr>
          <p:nvPr/>
        </p:nvCxnSpPr>
        <p:spPr>
          <a:xfrm rot="16200000" flipH="1">
            <a:off x="6023046" y="969507"/>
            <a:ext cx="347527" cy="3317061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14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0014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think-cell Slide" r:id="rId12" imgW="524" imgH="526" progId="TCLayout.ActiveDocument.1">
                  <p:embed/>
                </p:oleObj>
              </mc:Choice>
              <mc:Fallback>
                <p:oleObj name="think-cell Slide" r:id="rId12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533400" y="449945"/>
            <a:ext cx="7772400" cy="960120"/>
          </a:xfrm>
        </p:spPr>
        <p:txBody>
          <a:bodyPr/>
          <a:lstStyle/>
          <a:p>
            <a:r>
              <a:rPr lang="en-US" dirty="0"/>
              <a:t>Statistical Programming</a:t>
            </a:r>
            <a:endParaRPr lang="de-CH" sz="2900" dirty="0"/>
          </a:p>
        </p:txBody>
      </p:sp>
      <p:sp>
        <p:nvSpPr>
          <p:cNvPr id="7" name="Rechteck 6"/>
          <p:cNvSpPr/>
          <p:nvPr/>
        </p:nvSpPr>
        <p:spPr bwMode="gray">
          <a:xfrm>
            <a:off x="461761" y="3638622"/>
            <a:ext cx="188815" cy="231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3" name="Rechteck 72"/>
          <p:cNvSpPr/>
          <p:nvPr/>
        </p:nvSpPr>
        <p:spPr bwMode="gray">
          <a:xfrm>
            <a:off x="2121340" y="3638622"/>
            <a:ext cx="188815" cy="231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4" name="Rechteck 73"/>
          <p:cNvSpPr/>
          <p:nvPr/>
        </p:nvSpPr>
        <p:spPr bwMode="gray">
          <a:xfrm>
            <a:off x="3780921" y="3638622"/>
            <a:ext cx="188815" cy="231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5" name="Rechteck 74"/>
          <p:cNvSpPr/>
          <p:nvPr/>
        </p:nvSpPr>
        <p:spPr bwMode="gray">
          <a:xfrm>
            <a:off x="5440500" y="3638622"/>
            <a:ext cx="188815" cy="231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6" name="Rechteck 75"/>
          <p:cNvSpPr/>
          <p:nvPr/>
        </p:nvSpPr>
        <p:spPr bwMode="gray">
          <a:xfrm>
            <a:off x="7100079" y="3638622"/>
            <a:ext cx="188815" cy="231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63" name="TextBox 133"/>
          <p:cNvSpPr txBox="1">
            <a:spLocks/>
          </p:cNvSpPr>
          <p:nvPr/>
        </p:nvSpPr>
        <p:spPr bwMode="gray">
          <a:xfrm>
            <a:off x="5440500" y="2895600"/>
            <a:ext cx="1510521" cy="1066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D</a:t>
            </a:r>
          </a:p>
          <a:p>
            <a:r>
              <a:rPr lang="en-US" sz="1100" dirty="0"/>
              <a:t>Sr Group Head,</a:t>
            </a:r>
          </a:p>
          <a:p>
            <a:r>
              <a:rPr lang="en-US" sz="1100" dirty="0"/>
              <a:t> ED, NS, </a:t>
            </a:r>
            <a:r>
              <a:rPr lang="en-US" sz="1100" dirty="0" err="1"/>
              <a:t>Ophtha</a:t>
            </a:r>
            <a:r>
              <a:rPr lang="en-US" sz="1100" dirty="0"/>
              <a:t>, Alcon</a:t>
            </a:r>
          </a:p>
          <a:p>
            <a:endParaRPr lang="en-GB" sz="1100" dirty="0"/>
          </a:p>
          <a:p>
            <a:r>
              <a:rPr lang="en-US" sz="1100" b="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Joseph Rowley</a:t>
            </a:r>
            <a:endParaRPr lang="en-US" sz="1100" b="0" dirty="0"/>
          </a:p>
        </p:txBody>
      </p:sp>
      <p:sp>
        <p:nvSpPr>
          <p:cNvPr id="66" name="TextBox 133"/>
          <p:cNvSpPr txBox="1">
            <a:spLocks/>
          </p:cNvSpPr>
          <p:nvPr/>
        </p:nvSpPr>
        <p:spPr bwMode="gray">
          <a:xfrm>
            <a:off x="7100079" y="2895600"/>
            <a:ext cx="1510521" cy="1066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CoE</a:t>
            </a:r>
            <a:br>
              <a:rPr lang="en-US" sz="1100" dirty="0"/>
            </a:br>
            <a:r>
              <a:rPr lang="en-US" sz="1100" dirty="0"/>
              <a:t>Sr Group Head,</a:t>
            </a:r>
          </a:p>
          <a:p>
            <a:r>
              <a:rPr lang="en-US" sz="1100" dirty="0"/>
              <a:t>Specialized Services*</a:t>
            </a:r>
          </a:p>
          <a:p>
            <a:endParaRPr lang="en-GB" sz="1100" dirty="0"/>
          </a:p>
          <a:p>
            <a:endParaRPr lang="en-US" sz="11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 b="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Satish Shetty</a:t>
            </a:r>
            <a:endParaRPr lang="en-US" sz="1100" b="0" dirty="0"/>
          </a:p>
        </p:txBody>
      </p:sp>
      <p:sp>
        <p:nvSpPr>
          <p:cNvPr id="27" name="Rectangle 230"/>
          <p:cNvSpPr txBox="1"/>
          <p:nvPr>
            <p:custDataLst>
              <p:tags r:id="rId3"/>
            </p:custDataLst>
          </p:nvPr>
        </p:nvSpPr>
        <p:spPr bwMode="gray">
          <a:xfrm>
            <a:off x="3216573" y="1676400"/>
            <a:ext cx="2643411" cy="784701"/>
          </a:xfrm>
          <a:prstGeom prst="rect">
            <a:avLst/>
          </a:prstGeom>
          <a:solidFill>
            <a:srgbClr val="0460A9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Global Head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S</a:t>
            </a:r>
            <a:r>
              <a:rPr lang="en-GB" sz="1200" b="1" dirty="0" err="1">
                <a:solidFill>
                  <a:schemeClr val="bg1"/>
                </a:solidFill>
              </a:rPr>
              <a:t>tatistical</a:t>
            </a:r>
            <a:r>
              <a:rPr lang="en-GB" sz="1200" b="1" dirty="0">
                <a:solidFill>
                  <a:schemeClr val="bg1"/>
                </a:solidFill>
              </a:rPr>
              <a:t> Programming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GB" sz="1200" b="1" dirty="0">
              <a:solidFill>
                <a:schemeClr val="bg1"/>
              </a:solidFill>
            </a:endParaRP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James Gallagher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0" name="TextBox 133"/>
          <p:cNvSpPr txBox="1">
            <a:spLocks/>
          </p:cNvSpPr>
          <p:nvPr/>
        </p:nvSpPr>
        <p:spPr bwMode="gray">
          <a:xfrm>
            <a:off x="3780921" y="2895600"/>
            <a:ext cx="1510521" cy="1066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C</a:t>
            </a:r>
          </a:p>
          <a:p>
            <a:r>
              <a:rPr lang="en-US" sz="1100" dirty="0"/>
              <a:t>Sr Group Head, Rare and other diseases (</a:t>
            </a:r>
            <a:r>
              <a:rPr lang="en-US" sz="1100" dirty="0" err="1"/>
              <a:t>Onc</a:t>
            </a:r>
            <a:r>
              <a:rPr lang="en-US" sz="1100" dirty="0"/>
              <a:t>), I&amp;D</a:t>
            </a:r>
          </a:p>
          <a:p>
            <a:endParaRPr lang="en-US" sz="1100" b="0" dirty="0">
              <a:latin typeface="Arial 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 b="0" dirty="0">
                <a:latin typeface="Arial "/>
                <a:ea typeface="Calibri" panose="020F0502020204030204" pitchFamily="34" charset="0"/>
                <a:cs typeface="Times New Roman" panose="02020603050405020304" pitchFamily="18" charset="0"/>
              </a:rPr>
              <a:t>Deepak </a:t>
            </a:r>
            <a:r>
              <a:rPr lang="en-US" sz="1100" b="0" dirty="0" err="1">
                <a:latin typeface="Arial "/>
                <a:ea typeface="Calibri" panose="020F0502020204030204" pitchFamily="34" charset="0"/>
                <a:cs typeface="Times New Roman" panose="02020603050405020304" pitchFamily="18" charset="0"/>
              </a:rPr>
              <a:t>Venkataraman</a:t>
            </a:r>
            <a:endParaRPr lang="en-US" sz="1100" b="0" dirty="0">
              <a:latin typeface="Arial "/>
            </a:endParaRPr>
          </a:p>
          <a:p>
            <a:endParaRPr lang="en-US" sz="1100" dirty="0"/>
          </a:p>
        </p:txBody>
      </p:sp>
      <p:sp>
        <p:nvSpPr>
          <p:cNvPr id="57" name="TextBox 133"/>
          <p:cNvSpPr txBox="1">
            <a:spLocks/>
          </p:cNvSpPr>
          <p:nvPr/>
        </p:nvSpPr>
        <p:spPr bwMode="gray">
          <a:xfrm>
            <a:off x="2121340" y="2895600"/>
            <a:ext cx="1510521" cy="1066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B</a:t>
            </a:r>
          </a:p>
          <a:p>
            <a:r>
              <a:rPr lang="en-US" sz="1100" dirty="0"/>
              <a:t>Sr Group Head,</a:t>
            </a:r>
          </a:p>
          <a:p>
            <a:r>
              <a:rPr lang="en-US" sz="1100" dirty="0"/>
              <a:t> Hematology, CM</a:t>
            </a:r>
          </a:p>
          <a:p>
            <a:endParaRPr lang="en-GB" sz="1100" dirty="0"/>
          </a:p>
          <a:p>
            <a:endParaRPr lang="en-US" sz="11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 b="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Krishnendu</a:t>
            </a:r>
            <a:r>
              <a:rPr lang="en-US" sz="1100" b="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Biswas</a:t>
            </a:r>
            <a:endParaRPr lang="en-US" sz="1100" b="0" dirty="0"/>
          </a:p>
        </p:txBody>
      </p:sp>
      <p:sp>
        <p:nvSpPr>
          <p:cNvPr id="45" name="TextBox 133"/>
          <p:cNvSpPr txBox="1">
            <a:spLocks/>
          </p:cNvSpPr>
          <p:nvPr/>
        </p:nvSpPr>
        <p:spPr bwMode="gray">
          <a:xfrm>
            <a:off x="461761" y="2895600"/>
            <a:ext cx="1510521" cy="1066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A</a:t>
            </a:r>
          </a:p>
          <a:p>
            <a:r>
              <a:rPr lang="en-US" sz="1100" dirty="0"/>
              <a:t>Sr Group Head,</a:t>
            </a:r>
          </a:p>
          <a:p>
            <a:r>
              <a:rPr lang="en-US" sz="1100" dirty="0"/>
              <a:t>S. Tumors, </a:t>
            </a:r>
            <a:r>
              <a:rPr lang="en-US" sz="1100" dirty="0" err="1"/>
              <a:t>Resp</a:t>
            </a:r>
            <a:r>
              <a:rPr lang="en-US" sz="1100" dirty="0"/>
              <a:t>, EM</a:t>
            </a:r>
          </a:p>
          <a:p>
            <a:endParaRPr lang="en-GB" sz="1100" dirty="0"/>
          </a:p>
          <a:p>
            <a:endParaRPr lang="en-US" sz="11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Kiran </a:t>
            </a:r>
            <a:r>
              <a:rPr lang="en-US" sz="1100" b="0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Jayam</a:t>
            </a:r>
            <a:endParaRPr lang="en-US" sz="1100" b="0" dirty="0"/>
          </a:p>
        </p:txBody>
      </p:sp>
      <p:sp>
        <p:nvSpPr>
          <p:cNvPr id="160" name="Rectangle 12"/>
          <p:cNvSpPr>
            <a:spLocks/>
          </p:cNvSpPr>
          <p:nvPr/>
        </p:nvSpPr>
        <p:spPr bwMode="gray">
          <a:xfrm>
            <a:off x="1008810" y="4493904"/>
            <a:ext cx="6928658" cy="12451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Cluster : </a:t>
            </a:r>
            <a:r>
              <a:rPr lang="en-GB" sz="1400" dirty="0">
                <a:solidFill>
                  <a:schemeClr val="tx1"/>
                </a:solidFill>
              </a:rPr>
              <a:t>A cluster is a collection of associates working on a specific set of TAs / franchises aiming to provide further flexibility and across franchise exchange</a:t>
            </a:r>
            <a:endParaRPr lang="en-GB" sz="14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 err="1">
                <a:solidFill>
                  <a:schemeClr val="tx1"/>
                </a:solidFill>
              </a:rPr>
              <a:t>CoE</a:t>
            </a:r>
            <a:r>
              <a:rPr lang="en-GB" sz="1400" b="1" dirty="0">
                <a:solidFill>
                  <a:schemeClr val="tx1"/>
                </a:solidFill>
              </a:rPr>
              <a:t>  : </a:t>
            </a:r>
            <a:r>
              <a:rPr lang="en-GB" sz="1400" dirty="0">
                <a:solidFill>
                  <a:schemeClr val="tx1"/>
                </a:solidFill>
              </a:rPr>
              <a:t>A </a:t>
            </a:r>
            <a:r>
              <a:rPr lang="en-GB" sz="1400" dirty="0" err="1">
                <a:solidFill>
                  <a:schemeClr val="tx1"/>
                </a:solidFill>
              </a:rPr>
              <a:t>center</a:t>
            </a:r>
            <a:r>
              <a:rPr lang="en-GB" sz="1400" dirty="0">
                <a:solidFill>
                  <a:schemeClr val="tx1"/>
                </a:solidFill>
              </a:rPr>
              <a:t> of excellence is created to support central activities </a:t>
            </a:r>
            <a:r>
              <a:rPr lang="en-GB" sz="1400" dirty="0" smtClean="0">
                <a:solidFill>
                  <a:schemeClr val="tx1"/>
                </a:solidFill>
              </a:rPr>
              <a:t>(Sandoz, GMA activity to sit within </a:t>
            </a:r>
            <a:r>
              <a:rPr lang="en-GB" sz="1400" dirty="0" err="1" smtClean="0">
                <a:solidFill>
                  <a:schemeClr val="tx1"/>
                </a:solidFill>
              </a:rPr>
              <a:t>CoE</a:t>
            </a:r>
            <a:r>
              <a:rPr lang="en-GB" sz="1400" dirty="0" smtClean="0">
                <a:solidFill>
                  <a:schemeClr val="tx1"/>
                </a:solidFill>
              </a:rPr>
              <a:t>)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1" name="Rectangle 230"/>
          <p:cNvSpPr txBox="1"/>
          <p:nvPr>
            <p:custDataLst>
              <p:tags r:id="rId4"/>
            </p:custDataLst>
          </p:nvPr>
        </p:nvSpPr>
        <p:spPr bwMode="gray">
          <a:xfrm>
            <a:off x="7162800" y="733925"/>
            <a:ext cx="926559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Basel / EH</a:t>
            </a:r>
            <a:endParaRPr lang="en-US" sz="1000" b="0" dirty="0"/>
          </a:p>
        </p:txBody>
      </p:sp>
      <p:sp>
        <p:nvSpPr>
          <p:cNvPr id="22" name="Rectangle 230"/>
          <p:cNvSpPr txBox="1"/>
          <p:nvPr>
            <p:custDataLst>
              <p:tags r:id="rId5"/>
            </p:custDataLst>
          </p:nvPr>
        </p:nvSpPr>
        <p:spPr bwMode="gray">
          <a:xfrm>
            <a:off x="7162800" y="950262"/>
            <a:ext cx="926559" cy="179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HYD / Others</a:t>
            </a:r>
            <a:endParaRPr lang="en-US" sz="1000" b="0" baseline="30000" dirty="0"/>
          </a:p>
        </p:txBody>
      </p:sp>
      <p:sp>
        <p:nvSpPr>
          <p:cNvPr id="25" name="Rectangle 230"/>
          <p:cNvSpPr txBox="1"/>
          <p:nvPr>
            <p:custDataLst>
              <p:tags r:id="rId6"/>
            </p:custDataLst>
          </p:nvPr>
        </p:nvSpPr>
        <p:spPr bwMode="gray">
          <a:xfrm>
            <a:off x="7162800" y="1162250"/>
            <a:ext cx="926559" cy="203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Total</a:t>
            </a:r>
            <a:endParaRPr 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7294784" y="449945"/>
            <a:ext cx="1409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n-4 distribution</a:t>
            </a:r>
            <a:endParaRPr lang="en-US" sz="1200" b="1" dirty="0"/>
          </a:p>
        </p:txBody>
      </p:sp>
      <p:sp>
        <p:nvSpPr>
          <p:cNvPr id="29" name="Rectangle 230"/>
          <p:cNvSpPr txBox="1"/>
          <p:nvPr>
            <p:custDataLst>
              <p:tags r:id="rId7"/>
            </p:custDataLst>
          </p:nvPr>
        </p:nvSpPr>
        <p:spPr bwMode="gray">
          <a:xfrm>
            <a:off x="8142600" y="733925"/>
            <a:ext cx="468000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1</a:t>
            </a:r>
            <a:endParaRPr lang="en-US" sz="1000" b="0" dirty="0"/>
          </a:p>
        </p:txBody>
      </p:sp>
      <p:sp>
        <p:nvSpPr>
          <p:cNvPr id="30" name="Rectangle 230"/>
          <p:cNvSpPr txBox="1"/>
          <p:nvPr>
            <p:custDataLst>
              <p:tags r:id="rId8"/>
            </p:custDataLst>
          </p:nvPr>
        </p:nvSpPr>
        <p:spPr bwMode="gray">
          <a:xfrm>
            <a:off x="8142600" y="950262"/>
            <a:ext cx="468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4</a:t>
            </a:r>
            <a:endParaRPr lang="en-US" sz="1000" b="0" dirty="0"/>
          </a:p>
        </p:txBody>
      </p:sp>
      <p:sp>
        <p:nvSpPr>
          <p:cNvPr id="31" name="Rectangle 230"/>
          <p:cNvSpPr txBox="1"/>
          <p:nvPr>
            <p:custDataLst>
              <p:tags r:id="rId9"/>
            </p:custDataLst>
          </p:nvPr>
        </p:nvSpPr>
        <p:spPr bwMode="gray">
          <a:xfrm>
            <a:off x="8144188" y="1162250"/>
            <a:ext cx="468000" cy="203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5</a:t>
            </a:r>
            <a:endParaRPr lang="en-US" sz="1000" dirty="0"/>
          </a:p>
        </p:txBody>
      </p:sp>
      <p:sp>
        <p:nvSpPr>
          <p:cNvPr id="37" name="TextBox 13"/>
          <p:cNvSpPr txBox="1">
            <a:spLocks/>
          </p:cNvSpPr>
          <p:nvPr/>
        </p:nvSpPr>
        <p:spPr bwMode="gray">
          <a:xfrm>
            <a:off x="1032912" y="5835134"/>
            <a:ext cx="608616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lvl="1" indent="0">
              <a:spcBef>
                <a:spcPts val="1800"/>
              </a:spcBef>
              <a:buClrTx/>
              <a:buSzPct val="120000"/>
              <a:buNone/>
            </a:pPr>
            <a:r>
              <a:rPr lang="en-US" sz="1200" i="1" dirty="0"/>
              <a:t>* Includes responsibility for Sandoz</a:t>
            </a:r>
          </a:p>
        </p:txBody>
      </p:sp>
      <p:cxnSp>
        <p:nvCxnSpPr>
          <p:cNvPr id="12" name="Elbow Connector 11"/>
          <p:cNvCxnSpPr>
            <a:stCxn id="27" idx="2"/>
            <a:endCxn id="45" idx="0"/>
          </p:cNvCxnSpPr>
          <p:nvPr/>
        </p:nvCxnSpPr>
        <p:spPr>
          <a:xfrm rot="5400000">
            <a:off x="2660402" y="1017722"/>
            <a:ext cx="434499" cy="3321257"/>
          </a:xfrm>
          <a:prstGeom prst="bentConnector3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27" idx="2"/>
            <a:endCxn id="57" idx="0"/>
          </p:cNvCxnSpPr>
          <p:nvPr/>
        </p:nvCxnSpPr>
        <p:spPr>
          <a:xfrm rot="5400000">
            <a:off x="3490191" y="1847511"/>
            <a:ext cx="434499" cy="166167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27" idx="2"/>
            <a:endCxn id="60" idx="0"/>
          </p:cNvCxnSpPr>
          <p:nvPr/>
        </p:nvCxnSpPr>
        <p:spPr>
          <a:xfrm rot="5400000">
            <a:off x="4319982" y="2677302"/>
            <a:ext cx="434499" cy="2097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27" idx="2"/>
            <a:endCxn id="63" idx="0"/>
          </p:cNvCxnSpPr>
          <p:nvPr/>
        </p:nvCxnSpPr>
        <p:spPr>
          <a:xfrm rot="16200000" flipH="1">
            <a:off x="5149771" y="1849609"/>
            <a:ext cx="434499" cy="1657482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27" idx="2"/>
            <a:endCxn id="66" idx="0"/>
          </p:cNvCxnSpPr>
          <p:nvPr/>
        </p:nvCxnSpPr>
        <p:spPr>
          <a:xfrm rot="16200000" flipH="1">
            <a:off x="5979560" y="1019819"/>
            <a:ext cx="434499" cy="3317061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15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0456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think-cell Slide" r:id="rId12" imgW="524" imgH="526" progId="TCLayout.ActiveDocument.1">
                  <p:embed/>
                </p:oleObj>
              </mc:Choice>
              <mc:Fallback>
                <p:oleObj name="think-cell Slide" r:id="rId12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461761" y="449945"/>
            <a:ext cx="7772400" cy="960120"/>
          </a:xfrm>
        </p:spPr>
        <p:txBody>
          <a:bodyPr/>
          <a:lstStyle/>
          <a:p>
            <a:r>
              <a:rPr lang="en-US" dirty="0"/>
              <a:t>Data Base Development</a:t>
            </a:r>
            <a:endParaRPr lang="de-CH" sz="2900" dirty="0"/>
          </a:p>
        </p:txBody>
      </p:sp>
      <p:sp>
        <p:nvSpPr>
          <p:cNvPr id="7" name="Rechteck 6"/>
          <p:cNvSpPr/>
          <p:nvPr/>
        </p:nvSpPr>
        <p:spPr bwMode="gray">
          <a:xfrm>
            <a:off x="482308" y="3823772"/>
            <a:ext cx="188339" cy="2148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3" name="Rechteck 72"/>
          <p:cNvSpPr/>
          <p:nvPr/>
        </p:nvSpPr>
        <p:spPr bwMode="gray">
          <a:xfrm>
            <a:off x="2137703" y="3823772"/>
            <a:ext cx="188339" cy="2148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4" name="Rechteck 73"/>
          <p:cNvSpPr/>
          <p:nvPr/>
        </p:nvSpPr>
        <p:spPr bwMode="gray">
          <a:xfrm>
            <a:off x="3793099" y="3823772"/>
            <a:ext cx="188339" cy="2148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5" name="Rechteck 74"/>
          <p:cNvSpPr/>
          <p:nvPr/>
        </p:nvSpPr>
        <p:spPr bwMode="gray">
          <a:xfrm>
            <a:off x="5448494" y="3823772"/>
            <a:ext cx="188339" cy="2148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sp>
        <p:nvSpPr>
          <p:cNvPr id="76" name="Rechteck 75"/>
          <p:cNvSpPr/>
          <p:nvPr/>
        </p:nvSpPr>
        <p:spPr bwMode="gray">
          <a:xfrm>
            <a:off x="7103887" y="3823772"/>
            <a:ext cx="188339" cy="2148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dirty="0"/>
          </a:p>
        </p:txBody>
      </p:sp>
      <p:cxnSp>
        <p:nvCxnSpPr>
          <p:cNvPr id="80" name="Gerade Verbindung 79"/>
          <p:cNvCxnSpPr>
            <a:stCxn id="27" idx="2"/>
            <a:endCxn id="60" idx="0"/>
          </p:cNvCxnSpPr>
          <p:nvPr/>
        </p:nvCxnSpPr>
        <p:spPr bwMode="gray">
          <a:xfrm flipH="1">
            <a:off x="4546456" y="2489888"/>
            <a:ext cx="2091" cy="47457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33"/>
          <p:cNvSpPr txBox="1">
            <a:spLocks/>
          </p:cNvSpPr>
          <p:nvPr/>
        </p:nvSpPr>
        <p:spPr bwMode="gray">
          <a:xfrm>
            <a:off x="5448494" y="2964458"/>
            <a:ext cx="1506713" cy="1074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D</a:t>
            </a:r>
          </a:p>
          <a:p>
            <a:r>
              <a:rPr lang="en-US" sz="1100" dirty="0"/>
              <a:t>Sr Group Head,</a:t>
            </a:r>
          </a:p>
          <a:p>
            <a:r>
              <a:rPr lang="en-US" sz="1100" dirty="0"/>
              <a:t> ED, NS, </a:t>
            </a:r>
            <a:r>
              <a:rPr lang="en-US" sz="1100" dirty="0" err="1"/>
              <a:t>Ophtha</a:t>
            </a:r>
            <a:r>
              <a:rPr lang="en-US" sz="1100" dirty="0"/>
              <a:t>, Alcon</a:t>
            </a:r>
          </a:p>
          <a:p>
            <a:endParaRPr lang="en-GB" sz="1100" dirty="0"/>
          </a:p>
          <a:p>
            <a:r>
              <a:rPr lang="en-US" altLang="en-US" sz="1100" b="0" dirty="0" err="1">
                <a:ea typeface="Calibri" panose="020F0502020204030204" pitchFamily="34" charset="0"/>
                <a:cs typeface="Arial" panose="020B0604020202020204" pitchFamily="34" charset="0"/>
              </a:rPr>
              <a:t>Dhananjaya</a:t>
            </a:r>
            <a:r>
              <a:rPr lang="en-US" altLang="en-US" sz="1100" b="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altLang="en-US" sz="1100" b="0" dirty="0" err="1">
                <a:ea typeface="Calibri" panose="020F0502020204030204" pitchFamily="34" charset="0"/>
                <a:cs typeface="Arial" panose="020B0604020202020204" pitchFamily="34" charset="0"/>
              </a:rPr>
              <a:t>Sriram</a:t>
            </a:r>
            <a:endParaRPr lang="en-US" altLang="en-US" sz="1100" b="0" dirty="0"/>
          </a:p>
          <a:p>
            <a:endParaRPr lang="en-US" sz="1100" dirty="0"/>
          </a:p>
        </p:txBody>
      </p:sp>
      <p:sp>
        <p:nvSpPr>
          <p:cNvPr id="66" name="TextBox 133"/>
          <p:cNvSpPr txBox="1">
            <a:spLocks/>
          </p:cNvSpPr>
          <p:nvPr/>
        </p:nvSpPr>
        <p:spPr bwMode="gray">
          <a:xfrm>
            <a:off x="7103887" y="2964458"/>
            <a:ext cx="1506713" cy="1074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CoE</a:t>
            </a:r>
            <a:br>
              <a:rPr lang="en-US" sz="1100" dirty="0"/>
            </a:br>
            <a:r>
              <a:rPr lang="en-US" sz="1100" dirty="0"/>
              <a:t>Sr Group Head,</a:t>
            </a:r>
          </a:p>
          <a:p>
            <a:r>
              <a:rPr lang="en-US" sz="1100" dirty="0"/>
              <a:t>Specialized Services*</a:t>
            </a:r>
          </a:p>
          <a:p>
            <a:endParaRPr lang="en-US" altLang="en-US" sz="1100" b="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altLang="en-US" sz="1100" b="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altLang="en-US" sz="1100" b="0" dirty="0" err="1">
                <a:ea typeface="Calibri" panose="020F0502020204030204" pitchFamily="34" charset="0"/>
                <a:cs typeface="Arial" panose="020B0604020202020204" pitchFamily="34" charset="0"/>
              </a:rPr>
              <a:t>Laxman</a:t>
            </a:r>
            <a:r>
              <a:rPr lang="en-US" altLang="en-US" sz="1100" b="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altLang="en-US" sz="1100" b="0" dirty="0" err="1">
                <a:ea typeface="Calibri" panose="020F0502020204030204" pitchFamily="34" charset="0"/>
                <a:cs typeface="Arial" panose="020B0604020202020204" pitchFamily="34" charset="0"/>
              </a:rPr>
              <a:t>Chavan</a:t>
            </a:r>
            <a:endParaRPr lang="en-US" altLang="en-US" sz="1100" b="0" dirty="0"/>
          </a:p>
          <a:p>
            <a:endParaRPr lang="en-US" sz="1100" dirty="0"/>
          </a:p>
        </p:txBody>
      </p:sp>
      <p:sp>
        <p:nvSpPr>
          <p:cNvPr id="27" name="Rectangle 230"/>
          <p:cNvSpPr txBox="1"/>
          <p:nvPr>
            <p:custDataLst>
              <p:tags r:id="rId3"/>
            </p:custDataLst>
          </p:nvPr>
        </p:nvSpPr>
        <p:spPr bwMode="gray">
          <a:xfrm>
            <a:off x="3230174" y="1696441"/>
            <a:ext cx="2636746" cy="793447"/>
          </a:xfrm>
          <a:prstGeom prst="rect">
            <a:avLst/>
          </a:prstGeom>
          <a:solidFill>
            <a:srgbClr val="0460A9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Global Head</a:t>
            </a:r>
          </a:p>
          <a:p>
            <a:pPr algn="ctr"/>
            <a:r>
              <a:rPr lang="en-GB" sz="1200" b="1" dirty="0">
                <a:solidFill>
                  <a:schemeClr val="bg1"/>
                </a:solidFill>
              </a:rPr>
              <a:t>Data Base Development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/>
            <a:endParaRPr lang="en-GB" sz="1200" b="1" dirty="0">
              <a:solidFill>
                <a:schemeClr val="bg1"/>
              </a:solidFill>
            </a:endParaRP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Raghu </a:t>
            </a:r>
            <a:r>
              <a:rPr lang="en-GB" sz="1200" dirty="0" err="1">
                <a:solidFill>
                  <a:schemeClr val="bg1"/>
                </a:solidFill>
              </a:rPr>
              <a:t>Tahta</a:t>
            </a:r>
            <a:endParaRPr lang="en-GB" sz="1200" dirty="0">
              <a:solidFill>
                <a:schemeClr val="bg1"/>
              </a:solidFill>
            </a:endParaRPr>
          </a:p>
          <a:p>
            <a:pPr algn="ctr"/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60" name="TextBox 133"/>
          <p:cNvSpPr txBox="1">
            <a:spLocks/>
          </p:cNvSpPr>
          <p:nvPr/>
        </p:nvSpPr>
        <p:spPr bwMode="gray">
          <a:xfrm>
            <a:off x="3793099" y="2964458"/>
            <a:ext cx="1506713" cy="1074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C</a:t>
            </a:r>
          </a:p>
          <a:p>
            <a:r>
              <a:rPr lang="en-US" sz="1100" dirty="0"/>
              <a:t>Sr Group Head, Rare and other diseases (</a:t>
            </a:r>
            <a:r>
              <a:rPr lang="en-US" sz="1100" dirty="0" err="1"/>
              <a:t>Onc</a:t>
            </a:r>
            <a:r>
              <a:rPr lang="en-US" sz="1100" dirty="0"/>
              <a:t>), I&amp;D</a:t>
            </a:r>
          </a:p>
          <a:p>
            <a:endParaRPr lang="en-GB" sz="1100" dirty="0"/>
          </a:p>
          <a:p>
            <a:r>
              <a:rPr lang="en-US" altLang="en-US" sz="1100" b="0" dirty="0">
                <a:ea typeface="Calibri" panose="020F0502020204030204" pitchFamily="34" charset="0"/>
                <a:cs typeface="Arial" panose="020B0604020202020204" pitchFamily="34" charset="0"/>
              </a:rPr>
              <a:t>Sandeep </a:t>
            </a:r>
            <a:r>
              <a:rPr lang="en-US" altLang="en-US" sz="1100" b="0" dirty="0" err="1">
                <a:ea typeface="Calibri" panose="020F0502020204030204" pitchFamily="34" charset="0"/>
                <a:cs typeface="Arial" panose="020B0604020202020204" pitchFamily="34" charset="0"/>
              </a:rPr>
              <a:t>Marathe</a:t>
            </a:r>
            <a:endParaRPr lang="en-US" altLang="en-US" sz="1100" b="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57" name="TextBox 133"/>
          <p:cNvSpPr txBox="1">
            <a:spLocks/>
          </p:cNvSpPr>
          <p:nvPr/>
        </p:nvSpPr>
        <p:spPr bwMode="gray">
          <a:xfrm>
            <a:off x="2137703" y="2964458"/>
            <a:ext cx="1506713" cy="1074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B</a:t>
            </a:r>
          </a:p>
          <a:p>
            <a:r>
              <a:rPr lang="en-US" sz="1100" dirty="0"/>
              <a:t>Sr Group Head,</a:t>
            </a:r>
          </a:p>
          <a:p>
            <a:r>
              <a:rPr lang="en-US" sz="1100" dirty="0"/>
              <a:t> Hematology, CM</a:t>
            </a:r>
          </a:p>
          <a:p>
            <a:endParaRPr lang="en-GB" sz="1100" dirty="0"/>
          </a:p>
          <a:p>
            <a:endParaRPr lang="it-IT" altLang="en-US" sz="1100" b="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it-IT" altLang="en-US" sz="1100" b="0" dirty="0" err="1">
                <a:ea typeface="Calibri" panose="020F0502020204030204" pitchFamily="34" charset="0"/>
                <a:cs typeface="Arial" panose="020B0604020202020204" pitchFamily="34" charset="0"/>
              </a:rPr>
              <a:t>Abhipsa</a:t>
            </a:r>
            <a:r>
              <a:rPr lang="it-IT" altLang="en-US" sz="1100" b="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it-IT" altLang="en-US" sz="1100" b="0" dirty="0" err="1">
                <a:ea typeface="Calibri" panose="020F0502020204030204" pitchFamily="34" charset="0"/>
                <a:cs typeface="Arial" panose="020B0604020202020204" pitchFamily="34" charset="0"/>
              </a:rPr>
              <a:t>Nayak</a:t>
            </a:r>
            <a:endParaRPr lang="en-US" sz="1100" dirty="0"/>
          </a:p>
        </p:txBody>
      </p:sp>
      <p:sp>
        <p:nvSpPr>
          <p:cNvPr id="45" name="TextBox 133"/>
          <p:cNvSpPr txBox="1">
            <a:spLocks/>
          </p:cNvSpPr>
          <p:nvPr/>
        </p:nvSpPr>
        <p:spPr bwMode="gray">
          <a:xfrm>
            <a:off x="482308" y="2964458"/>
            <a:ext cx="1506713" cy="1074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Cluster A</a:t>
            </a:r>
          </a:p>
          <a:p>
            <a:r>
              <a:rPr lang="en-US" sz="1100" dirty="0"/>
              <a:t>Sr Group Head,</a:t>
            </a:r>
          </a:p>
          <a:p>
            <a:r>
              <a:rPr lang="en-US" sz="1100" dirty="0"/>
              <a:t>S. Tumors, </a:t>
            </a:r>
            <a:r>
              <a:rPr lang="en-US" sz="1100" dirty="0" err="1"/>
              <a:t>Resp</a:t>
            </a:r>
            <a:r>
              <a:rPr lang="en-US" sz="1100" dirty="0"/>
              <a:t>, EM</a:t>
            </a:r>
          </a:p>
          <a:p>
            <a:endParaRPr lang="en-GB" sz="1100" dirty="0"/>
          </a:p>
          <a:p>
            <a:r>
              <a:rPr lang="it-IT" altLang="en-US" sz="1100" b="0" dirty="0">
                <a:ea typeface="Calibri" panose="020F0502020204030204" pitchFamily="34" charset="0"/>
                <a:cs typeface="Arial" panose="020B0604020202020204" pitchFamily="34" charset="0"/>
              </a:rPr>
              <a:t>Appalla </a:t>
            </a:r>
            <a:r>
              <a:rPr lang="it-IT" altLang="en-US" sz="1100" b="0" dirty="0" err="1">
                <a:ea typeface="Calibri" panose="020F0502020204030204" pitchFamily="34" charset="0"/>
                <a:cs typeface="Arial" panose="020B0604020202020204" pitchFamily="34" charset="0"/>
              </a:rPr>
              <a:t>Venkata</a:t>
            </a:r>
            <a:r>
              <a:rPr lang="it-IT" altLang="en-US" sz="1100" b="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it-IT" altLang="en-US" sz="1100" b="0" dirty="0" err="1">
                <a:ea typeface="Calibri" panose="020F0502020204030204" pitchFamily="34" charset="0"/>
                <a:cs typeface="Arial" panose="020B0604020202020204" pitchFamily="34" charset="0"/>
              </a:rPr>
              <a:t>Prabhakar</a:t>
            </a:r>
            <a:endParaRPr lang="en-US" sz="1100" dirty="0"/>
          </a:p>
        </p:txBody>
      </p:sp>
      <p:sp>
        <p:nvSpPr>
          <p:cNvPr id="21" name="Rectangle 230"/>
          <p:cNvSpPr txBox="1"/>
          <p:nvPr>
            <p:custDataLst>
              <p:tags r:id="rId4"/>
            </p:custDataLst>
          </p:nvPr>
        </p:nvSpPr>
        <p:spPr bwMode="gray">
          <a:xfrm>
            <a:off x="7169771" y="722999"/>
            <a:ext cx="926559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Basel / EH</a:t>
            </a:r>
            <a:endParaRPr lang="en-US" sz="1000" b="0" dirty="0"/>
          </a:p>
        </p:txBody>
      </p:sp>
      <p:sp>
        <p:nvSpPr>
          <p:cNvPr id="22" name="Rectangle 230"/>
          <p:cNvSpPr txBox="1"/>
          <p:nvPr>
            <p:custDataLst>
              <p:tags r:id="rId5"/>
            </p:custDataLst>
          </p:nvPr>
        </p:nvSpPr>
        <p:spPr bwMode="gray">
          <a:xfrm>
            <a:off x="7169771" y="939336"/>
            <a:ext cx="926559" cy="179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HYD / Others</a:t>
            </a:r>
            <a:endParaRPr lang="en-US" sz="1000" b="0" baseline="30000" dirty="0"/>
          </a:p>
        </p:txBody>
      </p:sp>
      <p:sp>
        <p:nvSpPr>
          <p:cNvPr id="25" name="Rectangle 230"/>
          <p:cNvSpPr txBox="1"/>
          <p:nvPr>
            <p:custDataLst>
              <p:tags r:id="rId6"/>
            </p:custDataLst>
          </p:nvPr>
        </p:nvSpPr>
        <p:spPr bwMode="gray">
          <a:xfrm>
            <a:off x="7169771" y="1165415"/>
            <a:ext cx="926559" cy="203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Total</a:t>
            </a:r>
            <a:endParaRPr 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7292226" y="433452"/>
            <a:ext cx="1409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n-4 distribution</a:t>
            </a:r>
            <a:endParaRPr lang="en-US" sz="1200" b="1" dirty="0"/>
          </a:p>
        </p:txBody>
      </p:sp>
      <p:sp>
        <p:nvSpPr>
          <p:cNvPr id="32" name="Rectangle 230"/>
          <p:cNvSpPr txBox="1"/>
          <p:nvPr>
            <p:custDataLst>
              <p:tags r:id="rId7"/>
            </p:custDataLst>
          </p:nvPr>
        </p:nvSpPr>
        <p:spPr bwMode="gray">
          <a:xfrm>
            <a:off x="8149669" y="722999"/>
            <a:ext cx="468000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0</a:t>
            </a:r>
            <a:endParaRPr lang="en-US" sz="1000" b="0" dirty="0"/>
          </a:p>
        </p:txBody>
      </p:sp>
      <p:sp>
        <p:nvSpPr>
          <p:cNvPr id="33" name="Rectangle 230"/>
          <p:cNvSpPr txBox="1"/>
          <p:nvPr>
            <p:custDataLst>
              <p:tags r:id="rId8"/>
            </p:custDataLst>
          </p:nvPr>
        </p:nvSpPr>
        <p:spPr bwMode="gray">
          <a:xfrm>
            <a:off x="8149669" y="939336"/>
            <a:ext cx="468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5</a:t>
            </a:r>
            <a:endParaRPr lang="en-US" sz="1000" b="0" dirty="0"/>
          </a:p>
        </p:txBody>
      </p:sp>
      <p:sp>
        <p:nvSpPr>
          <p:cNvPr id="34" name="Rectangle 230"/>
          <p:cNvSpPr txBox="1"/>
          <p:nvPr>
            <p:custDataLst>
              <p:tags r:id="rId9"/>
            </p:custDataLst>
          </p:nvPr>
        </p:nvSpPr>
        <p:spPr bwMode="gray">
          <a:xfrm>
            <a:off x="8151257" y="1165415"/>
            <a:ext cx="468000" cy="21581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5</a:t>
            </a:r>
            <a:endParaRPr lang="en-US" sz="1000" dirty="0"/>
          </a:p>
        </p:txBody>
      </p:sp>
      <p:sp>
        <p:nvSpPr>
          <p:cNvPr id="37" name="TextBox 13"/>
          <p:cNvSpPr txBox="1">
            <a:spLocks/>
          </p:cNvSpPr>
          <p:nvPr/>
        </p:nvSpPr>
        <p:spPr bwMode="gray">
          <a:xfrm>
            <a:off x="1083603" y="5835134"/>
            <a:ext cx="608616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lvl="1" indent="0">
              <a:spcBef>
                <a:spcPts val="1800"/>
              </a:spcBef>
              <a:buClrTx/>
              <a:buSzPct val="120000"/>
              <a:buNone/>
            </a:pPr>
            <a:r>
              <a:rPr lang="en-US" sz="1200" i="1" dirty="0"/>
              <a:t>* Includes responsibility for Sandoz</a:t>
            </a:r>
          </a:p>
        </p:txBody>
      </p:sp>
      <p:sp>
        <p:nvSpPr>
          <p:cNvPr id="38" name="Rectangle 12"/>
          <p:cNvSpPr>
            <a:spLocks/>
          </p:cNvSpPr>
          <p:nvPr/>
        </p:nvSpPr>
        <p:spPr bwMode="gray">
          <a:xfrm>
            <a:off x="1008810" y="4493904"/>
            <a:ext cx="6928658" cy="12451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Cluster : </a:t>
            </a:r>
            <a:r>
              <a:rPr lang="en-GB" sz="1400" dirty="0">
                <a:solidFill>
                  <a:schemeClr val="tx1"/>
                </a:solidFill>
              </a:rPr>
              <a:t>A cluster is a collection of associates working on a specific set of TAs / franchises aiming to provide further flexibility and across franchise exchange</a:t>
            </a:r>
            <a:endParaRPr lang="en-GB" sz="14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 err="1">
                <a:solidFill>
                  <a:schemeClr val="tx1"/>
                </a:solidFill>
              </a:rPr>
              <a:t>CoE</a:t>
            </a:r>
            <a:r>
              <a:rPr lang="en-GB" sz="1400" b="1" dirty="0">
                <a:solidFill>
                  <a:schemeClr val="tx1"/>
                </a:solidFill>
              </a:rPr>
              <a:t>  : </a:t>
            </a:r>
            <a:r>
              <a:rPr lang="en-GB" sz="1400" dirty="0">
                <a:solidFill>
                  <a:schemeClr val="tx1"/>
                </a:solidFill>
              </a:rPr>
              <a:t>A </a:t>
            </a:r>
            <a:r>
              <a:rPr lang="en-GB" sz="1400" dirty="0" err="1">
                <a:solidFill>
                  <a:schemeClr val="tx1"/>
                </a:solidFill>
              </a:rPr>
              <a:t>center</a:t>
            </a:r>
            <a:r>
              <a:rPr lang="en-GB" sz="1400" dirty="0">
                <a:solidFill>
                  <a:schemeClr val="tx1"/>
                </a:solidFill>
              </a:rPr>
              <a:t> of excellence is created to support central activities 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12" name="Elbow Connector 11"/>
          <p:cNvCxnSpPr>
            <a:stCxn id="27" idx="2"/>
            <a:endCxn id="57" idx="0"/>
          </p:cNvCxnSpPr>
          <p:nvPr/>
        </p:nvCxnSpPr>
        <p:spPr>
          <a:xfrm rot="5400000">
            <a:off x="3482519" y="1898430"/>
            <a:ext cx="474570" cy="1657487"/>
          </a:xfrm>
          <a:prstGeom prst="bentConnector3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27" idx="2"/>
            <a:endCxn id="45" idx="0"/>
          </p:cNvCxnSpPr>
          <p:nvPr/>
        </p:nvCxnSpPr>
        <p:spPr>
          <a:xfrm rot="5400000">
            <a:off x="2654821" y="1070732"/>
            <a:ext cx="474570" cy="3312882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27" idx="2"/>
            <a:endCxn id="60" idx="0"/>
          </p:cNvCxnSpPr>
          <p:nvPr/>
        </p:nvCxnSpPr>
        <p:spPr>
          <a:xfrm rot="5400000">
            <a:off x="4310217" y="2726128"/>
            <a:ext cx="474570" cy="2091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/>
          <p:cNvCxnSpPr>
            <a:stCxn id="27" idx="2"/>
            <a:endCxn id="63" idx="0"/>
          </p:cNvCxnSpPr>
          <p:nvPr/>
        </p:nvCxnSpPr>
        <p:spPr>
          <a:xfrm rot="16200000" flipH="1">
            <a:off x="5137914" y="1900521"/>
            <a:ext cx="474570" cy="1653304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27" idx="2"/>
            <a:endCxn id="66" idx="0"/>
          </p:cNvCxnSpPr>
          <p:nvPr/>
        </p:nvCxnSpPr>
        <p:spPr>
          <a:xfrm rot="16200000" flipH="1">
            <a:off x="5965610" y="1072824"/>
            <a:ext cx="474570" cy="3308697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16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6205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/>
          <p:cNvSpPr>
            <a:spLocks noGrp="1"/>
          </p:cNvSpPr>
          <p:nvPr>
            <p:ph type="title"/>
          </p:nvPr>
        </p:nvSpPr>
        <p:spPr bwMode="gray">
          <a:xfrm>
            <a:off x="499879" y="457200"/>
            <a:ext cx="7772400" cy="960120"/>
          </a:xfrm>
        </p:spPr>
        <p:txBody>
          <a:bodyPr/>
          <a:lstStyle/>
          <a:p>
            <a:r>
              <a:rPr lang="en-US" dirty="0"/>
              <a:t>Clinical Data Standards</a:t>
            </a:r>
            <a:br>
              <a:rPr lang="en-US" dirty="0"/>
            </a:br>
            <a:endParaRPr lang="de-CH" sz="2900" dirty="0"/>
          </a:p>
        </p:txBody>
      </p:sp>
      <p:cxnSp>
        <p:nvCxnSpPr>
          <p:cNvPr id="58" name="Elbow Connector 191"/>
          <p:cNvCxnSpPr>
            <a:stCxn id="33" idx="2"/>
            <a:endCxn id="24" idx="0"/>
          </p:cNvCxnSpPr>
          <p:nvPr/>
        </p:nvCxnSpPr>
        <p:spPr bwMode="gray">
          <a:xfrm rot="16200000" flipH="1">
            <a:off x="5682648" y="1284515"/>
            <a:ext cx="623638" cy="2963157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91"/>
          <p:cNvCxnSpPr>
            <a:stCxn id="96" idx="0"/>
            <a:endCxn id="33" idx="2"/>
          </p:cNvCxnSpPr>
          <p:nvPr/>
        </p:nvCxnSpPr>
        <p:spPr bwMode="gray">
          <a:xfrm rot="5400000" flipH="1" flipV="1">
            <a:off x="2736534" y="1301558"/>
            <a:ext cx="623638" cy="2929072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107"/>
          <p:cNvCxnSpPr>
            <a:stCxn id="33" idx="2"/>
            <a:endCxn id="48" idx="0"/>
          </p:cNvCxnSpPr>
          <p:nvPr/>
        </p:nvCxnSpPr>
        <p:spPr bwMode="gray">
          <a:xfrm>
            <a:off x="4512889" y="2454275"/>
            <a:ext cx="1" cy="6236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hteck 82"/>
          <p:cNvSpPr/>
          <p:nvPr/>
        </p:nvSpPr>
        <p:spPr bwMode="gray">
          <a:xfrm>
            <a:off x="457200" y="3838235"/>
            <a:ext cx="225323" cy="190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3" name="Rectangle 230"/>
          <p:cNvSpPr txBox="1"/>
          <p:nvPr>
            <p:custDataLst>
              <p:tags r:id="rId1"/>
            </p:custDataLst>
          </p:nvPr>
        </p:nvSpPr>
        <p:spPr bwMode="gray">
          <a:xfrm>
            <a:off x="2935626" y="1676400"/>
            <a:ext cx="3154526" cy="777875"/>
          </a:xfrm>
          <a:prstGeom prst="rect">
            <a:avLst/>
          </a:prstGeom>
          <a:solidFill>
            <a:srgbClr val="0460A9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100" b="1" baseline="0">
                <a:solidFill>
                  <a:schemeClr val="bg1"/>
                </a:solidFill>
              </a:defRPr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200" dirty="0"/>
              <a:t>Global Head</a:t>
            </a:r>
            <a:br>
              <a:rPr lang="en-US" sz="1200" dirty="0"/>
            </a:br>
            <a:r>
              <a:rPr lang="en-US" sz="1200" dirty="0"/>
              <a:t>Clinical Data Standards</a:t>
            </a:r>
          </a:p>
          <a:p>
            <a:endParaRPr lang="en-US" sz="1200" dirty="0"/>
          </a:p>
          <a:p>
            <a:r>
              <a:rPr lang="en-GB" sz="1200" b="0" dirty="0"/>
              <a:t>Simon Walsh</a:t>
            </a:r>
            <a:endParaRPr lang="en-US" sz="1200" b="0" dirty="0"/>
          </a:p>
        </p:txBody>
      </p:sp>
      <p:sp>
        <p:nvSpPr>
          <p:cNvPr id="96" name="TextBox 133"/>
          <p:cNvSpPr txBox="1">
            <a:spLocks/>
          </p:cNvSpPr>
          <p:nvPr/>
        </p:nvSpPr>
        <p:spPr bwMode="gray">
          <a:xfrm>
            <a:off x="457200" y="3077913"/>
            <a:ext cx="2253233" cy="9504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72000" rIns="36000" bIns="72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AD (Group Head)</a:t>
            </a:r>
            <a:br>
              <a:rPr lang="en-US" sz="1100" dirty="0"/>
            </a:br>
            <a:r>
              <a:rPr lang="en-US" sz="1100" dirty="0"/>
              <a:t>Data Acquisition and Tabulation Standards</a:t>
            </a:r>
          </a:p>
          <a:p>
            <a:endParaRPr lang="en-GB" dirty="0"/>
          </a:p>
          <a:p>
            <a:r>
              <a:rPr lang="en-US" sz="1100" b="0" dirty="0" err="1"/>
              <a:t>Jagannadh</a:t>
            </a:r>
            <a:r>
              <a:rPr lang="en-US" sz="1100" b="0" dirty="0"/>
              <a:t> </a:t>
            </a:r>
            <a:r>
              <a:rPr lang="en-US" sz="1100" b="0" dirty="0" err="1"/>
              <a:t>Motamarri</a:t>
            </a:r>
            <a:endParaRPr lang="en-US" sz="1100" b="0" dirty="0"/>
          </a:p>
        </p:txBody>
      </p:sp>
      <p:sp>
        <p:nvSpPr>
          <p:cNvPr id="24" name="TextBox 133"/>
          <p:cNvSpPr txBox="1">
            <a:spLocks/>
          </p:cNvSpPr>
          <p:nvPr/>
        </p:nvSpPr>
        <p:spPr bwMode="gray">
          <a:xfrm>
            <a:off x="6349429" y="3077913"/>
            <a:ext cx="2253233" cy="9504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72000" rIns="36000" bIns="72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AD (Group Head)</a:t>
            </a:r>
            <a:br>
              <a:rPr lang="en-US" sz="1100" dirty="0"/>
            </a:br>
            <a:r>
              <a:rPr lang="en-US" sz="1100" dirty="0"/>
              <a:t>Regulatory Data Submission Standards</a:t>
            </a:r>
          </a:p>
          <a:p>
            <a:endParaRPr lang="en-GB" dirty="0"/>
          </a:p>
          <a:p>
            <a:r>
              <a:rPr lang="en-GB" sz="1100" b="0" dirty="0" smtClean="0"/>
              <a:t>TBD (US)</a:t>
            </a:r>
            <a:endParaRPr lang="en-US" sz="1100" b="0" dirty="0"/>
          </a:p>
        </p:txBody>
      </p:sp>
      <p:sp>
        <p:nvSpPr>
          <p:cNvPr id="48" name="TextBox 133"/>
          <p:cNvSpPr txBox="1">
            <a:spLocks/>
          </p:cNvSpPr>
          <p:nvPr/>
        </p:nvSpPr>
        <p:spPr bwMode="gray">
          <a:xfrm>
            <a:off x="3386273" y="3077913"/>
            <a:ext cx="2253233" cy="9504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72000" rIns="36000" bIns="72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0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b="1" dirty="0"/>
              <a:t>AD (Group Head)</a:t>
            </a:r>
            <a:br>
              <a:rPr lang="en-US" sz="1100" b="1" dirty="0"/>
            </a:br>
            <a:r>
              <a:rPr lang="en-US" sz="1100" b="1" dirty="0"/>
              <a:t>Reporting Analysis Standards</a:t>
            </a:r>
          </a:p>
          <a:p>
            <a:endParaRPr lang="en-GB" sz="1100" b="1" dirty="0"/>
          </a:p>
          <a:p>
            <a:endParaRPr lang="en-GB" sz="1100" dirty="0"/>
          </a:p>
          <a:p>
            <a:r>
              <a:rPr lang="en-US" sz="1100" dirty="0"/>
              <a:t>Marjorie Nowak</a:t>
            </a:r>
          </a:p>
        </p:txBody>
      </p:sp>
      <p:sp>
        <p:nvSpPr>
          <p:cNvPr id="11" name="Rectangle 230"/>
          <p:cNvSpPr txBox="1"/>
          <p:nvPr>
            <p:custDataLst>
              <p:tags r:id="rId2"/>
            </p:custDataLst>
          </p:nvPr>
        </p:nvSpPr>
        <p:spPr bwMode="gray">
          <a:xfrm>
            <a:off x="7162800" y="749184"/>
            <a:ext cx="926559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Basel / EH</a:t>
            </a:r>
            <a:endParaRPr lang="en-US" sz="1000" b="0" dirty="0"/>
          </a:p>
        </p:txBody>
      </p:sp>
      <p:sp>
        <p:nvSpPr>
          <p:cNvPr id="12" name="Rectangle 230"/>
          <p:cNvSpPr txBox="1"/>
          <p:nvPr>
            <p:custDataLst>
              <p:tags r:id="rId3"/>
            </p:custDataLst>
          </p:nvPr>
        </p:nvSpPr>
        <p:spPr bwMode="gray">
          <a:xfrm>
            <a:off x="7162800" y="980975"/>
            <a:ext cx="926559" cy="179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HYD </a:t>
            </a:r>
            <a:endParaRPr lang="en-US" sz="1000" b="0" baseline="30000" dirty="0"/>
          </a:p>
        </p:txBody>
      </p:sp>
      <p:sp>
        <p:nvSpPr>
          <p:cNvPr id="13" name="Rectangle 230"/>
          <p:cNvSpPr txBox="1"/>
          <p:nvPr>
            <p:custDataLst>
              <p:tags r:id="rId4"/>
            </p:custDataLst>
          </p:nvPr>
        </p:nvSpPr>
        <p:spPr bwMode="gray">
          <a:xfrm>
            <a:off x="8134662" y="749184"/>
            <a:ext cx="468000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2</a:t>
            </a:r>
            <a:endParaRPr lang="en-US" sz="1000" b="0" dirty="0"/>
          </a:p>
        </p:txBody>
      </p:sp>
      <p:sp>
        <p:nvSpPr>
          <p:cNvPr id="14" name="Rectangle 230"/>
          <p:cNvSpPr txBox="1"/>
          <p:nvPr>
            <p:custDataLst>
              <p:tags r:id="rId5"/>
            </p:custDataLst>
          </p:nvPr>
        </p:nvSpPr>
        <p:spPr bwMode="gray">
          <a:xfrm>
            <a:off x="8134662" y="980975"/>
            <a:ext cx="468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1</a:t>
            </a:r>
            <a:endParaRPr lang="en-US" sz="1000" b="0" dirty="0"/>
          </a:p>
        </p:txBody>
      </p:sp>
      <p:sp>
        <p:nvSpPr>
          <p:cNvPr id="15" name="Rectangle 230"/>
          <p:cNvSpPr txBox="1"/>
          <p:nvPr>
            <p:custDataLst>
              <p:tags r:id="rId6"/>
            </p:custDataLst>
          </p:nvPr>
        </p:nvSpPr>
        <p:spPr bwMode="gray">
          <a:xfrm>
            <a:off x="7162800" y="1207054"/>
            <a:ext cx="926559" cy="16956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Total</a:t>
            </a:r>
            <a:endParaRPr lang="en-US" sz="1000" dirty="0"/>
          </a:p>
        </p:txBody>
      </p:sp>
      <p:sp>
        <p:nvSpPr>
          <p:cNvPr id="16" name="Rectangle 230"/>
          <p:cNvSpPr txBox="1"/>
          <p:nvPr>
            <p:custDataLst>
              <p:tags r:id="rId7"/>
            </p:custDataLst>
          </p:nvPr>
        </p:nvSpPr>
        <p:spPr bwMode="gray">
          <a:xfrm>
            <a:off x="8136250" y="1207054"/>
            <a:ext cx="468000" cy="1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3</a:t>
            </a:r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7256756" y="444751"/>
            <a:ext cx="1409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n-4 distribution</a:t>
            </a:r>
            <a:endParaRPr lang="en-US" sz="12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17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9815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think-cell Slide" r:id="rId12" imgW="524" imgH="526" progId="TCLayout.ActiveDocument.1">
                  <p:embed/>
                </p:oleObj>
              </mc:Choice>
              <mc:Fallback>
                <p:oleObj name="think-cell Slide" r:id="rId12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540400" y="457200"/>
            <a:ext cx="5926975" cy="960120"/>
          </a:xfrm>
        </p:spPr>
        <p:txBody>
          <a:bodyPr>
            <a:noAutofit/>
          </a:bodyPr>
          <a:lstStyle/>
          <a:p>
            <a:r>
              <a:rPr lang="en-US" dirty="0"/>
              <a:t>Data Provisioning &amp; Analytics</a:t>
            </a:r>
            <a:br>
              <a:rPr lang="en-US" dirty="0"/>
            </a:br>
            <a:endParaRPr lang="de-CH" dirty="0"/>
          </a:p>
        </p:txBody>
      </p:sp>
      <p:sp>
        <p:nvSpPr>
          <p:cNvPr id="16" name="Rectangle 230"/>
          <p:cNvSpPr txBox="1"/>
          <p:nvPr>
            <p:custDataLst>
              <p:tags r:id="rId3"/>
            </p:custDataLst>
          </p:nvPr>
        </p:nvSpPr>
        <p:spPr bwMode="gray">
          <a:xfrm>
            <a:off x="2900422" y="1676400"/>
            <a:ext cx="3262153" cy="777876"/>
          </a:xfrm>
          <a:prstGeom prst="rect">
            <a:avLst/>
          </a:prstGeom>
          <a:solidFill>
            <a:srgbClr val="0460A9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Global Head 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Data Provisioning and Analytics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Ramesh Venkataraman</a:t>
            </a:r>
          </a:p>
        </p:txBody>
      </p:sp>
      <p:sp>
        <p:nvSpPr>
          <p:cNvPr id="25" name="TextBox 133"/>
          <p:cNvSpPr txBox="1">
            <a:spLocks/>
          </p:cNvSpPr>
          <p:nvPr/>
        </p:nvSpPr>
        <p:spPr bwMode="gray">
          <a:xfrm>
            <a:off x="483449" y="3351568"/>
            <a:ext cx="1496926" cy="1111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Group Head, LSH/Data Loading Operations</a:t>
            </a:r>
          </a:p>
          <a:p>
            <a:endParaRPr lang="en-GB" sz="1100" dirty="0"/>
          </a:p>
          <a:p>
            <a:endParaRPr lang="en-GB" sz="1100" dirty="0"/>
          </a:p>
          <a:p>
            <a:r>
              <a:rPr lang="en-US" sz="1100" b="0" dirty="0"/>
              <a:t>Praveen Jetty</a:t>
            </a:r>
            <a:endParaRPr lang="en-US" sz="1100" b="0" dirty="0">
              <a:solidFill>
                <a:srgbClr val="000000"/>
              </a:solidFill>
            </a:endParaRPr>
          </a:p>
          <a:p>
            <a:endParaRPr lang="en-US" sz="1100" dirty="0"/>
          </a:p>
        </p:txBody>
      </p:sp>
      <p:sp>
        <p:nvSpPr>
          <p:cNvPr id="40" name="TextBox 133"/>
          <p:cNvSpPr txBox="1">
            <a:spLocks/>
          </p:cNvSpPr>
          <p:nvPr/>
        </p:nvSpPr>
        <p:spPr bwMode="gray">
          <a:xfrm>
            <a:off x="2129308" y="3351568"/>
            <a:ext cx="1492448" cy="1111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Group Head,</a:t>
            </a:r>
            <a:br>
              <a:rPr lang="en-US" sz="1100" dirty="0"/>
            </a:br>
            <a:r>
              <a:rPr lang="en-US" sz="1100" dirty="0"/>
              <a:t>Data Review</a:t>
            </a:r>
            <a:br>
              <a:rPr lang="en-US" sz="1100" dirty="0"/>
            </a:br>
            <a:r>
              <a:rPr lang="en-US" sz="1100" dirty="0"/>
              <a:t>&amp; Reporting</a:t>
            </a:r>
          </a:p>
          <a:p>
            <a:endParaRPr lang="en-GB" sz="1100" dirty="0"/>
          </a:p>
          <a:p>
            <a:endParaRPr lang="en-GB" sz="1100" dirty="0"/>
          </a:p>
          <a:p>
            <a:r>
              <a:rPr lang="en-US" sz="1100" b="0" dirty="0"/>
              <a:t>Arnab </a:t>
            </a:r>
            <a:r>
              <a:rPr lang="en-US" sz="1100" b="0" dirty="0" err="1"/>
              <a:t>Sengupta</a:t>
            </a:r>
            <a:endParaRPr lang="en-US" sz="1100" b="0" dirty="0">
              <a:solidFill>
                <a:srgbClr val="000000"/>
              </a:solidFill>
            </a:endParaRPr>
          </a:p>
          <a:p>
            <a:endParaRPr lang="en-US" sz="1100" b="0" dirty="0"/>
          </a:p>
        </p:txBody>
      </p:sp>
      <p:sp>
        <p:nvSpPr>
          <p:cNvPr id="46" name="TextBox 133"/>
          <p:cNvSpPr txBox="1">
            <a:spLocks/>
          </p:cNvSpPr>
          <p:nvPr/>
        </p:nvSpPr>
        <p:spPr bwMode="gray">
          <a:xfrm>
            <a:off x="5429450" y="3351568"/>
            <a:ext cx="1493879" cy="1111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Functional Head, Data review, Reporting &amp; Analytics</a:t>
            </a:r>
          </a:p>
          <a:p>
            <a:endParaRPr lang="en-US" sz="1100" dirty="0"/>
          </a:p>
          <a:p>
            <a:r>
              <a:rPr lang="en-US" sz="1100" b="0" dirty="0"/>
              <a:t>Amit Narayan</a:t>
            </a:r>
            <a:endParaRPr lang="en-US" sz="1100" b="0" dirty="0">
              <a:solidFill>
                <a:srgbClr val="000000"/>
              </a:solidFill>
            </a:endParaRPr>
          </a:p>
          <a:p>
            <a:endParaRPr lang="en-US" sz="1100" dirty="0"/>
          </a:p>
        </p:txBody>
      </p:sp>
      <p:sp>
        <p:nvSpPr>
          <p:cNvPr id="49" name="TextBox 133"/>
          <p:cNvSpPr txBox="1">
            <a:spLocks/>
          </p:cNvSpPr>
          <p:nvPr/>
        </p:nvSpPr>
        <p:spPr bwMode="gray">
          <a:xfrm>
            <a:off x="7113513" y="3353272"/>
            <a:ext cx="1506712" cy="1111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Functional Head, SDTM Trans-</a:t>
            </a:r>
            <a:br>
              <a:rPr lang="en-US" sz="1100" dirty="0"/>
            </a:br>
            <a:r>
              <a:rPr lang="en-US" sz="1100" dirty="0"/>
              <a:t>formations</a:t>
            </a:r>
          </a:p>
          <a:p>
            <a:endParaRPr lang="en-GB" sz="1100" dirty="0"/>
          </a:p>
          <a:p>
            <a:endParaRPr lang="en-GB" sz="1100" dirty="0"/>
          </a:p>
          <a:p>
            <a:r>
              <a:rPr lang="en-GB" sz="1100" b="0" dirty="0"/>
              <a:t>TBA</a:t>
            </a:r>
            <a:endParaRPr lang="en-US" sz="1100" b="0" dirty="0"/>
          </a:p>
        </p:txBody>
      </p:sp>
      <p:sp>
        <p:nvSpPr>
          <p:cNvPr id="52" name="TextBox 133"/>
          <p:cNvSpPr txBox="1">
            <a:spLocks/>
          </p:cNvSpPr>
          <p:nvPr/>
        </p:nvSpPr>
        <p:spPr bwMode="gray">
          <a:xfrm>
            <a:off x="3774728" y="3351568"/>
            <a:ext cx="1506713" cy="1111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Group Head, SDTM Mapping</a:t>
            </a:r>
          </a:p>
          <a:p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r>
              <a:rPr lang="en-US" sz="1100" b="0" dirty="0" err="1"/>
              <a:t>Sadanand</a:t>
            </a:r>
            <a:r>
              <a:rPr lang="en-US" sz="1100" b="0" dirty="0"/>
              <a:t> </a:t>
            </a:r>
            <a:r>
              <a:rPr lang="en-US" sz="1100" b="0" dirty="0" err="1"/>
              <a:t>Deshmukh</a:t>
            </a:r>
            <a:endParaRPr lang="en-US" sz="1100" b="0" dirty="0">
              <a:solidFill>
                <a:srgbClr val="000000"/>
              </a:solidFill>
            </a:endParaRPr>
          </a:p>
          <a:p>
            <a:endParaRPr lang="en-US" sz="1100" dirty="0"/>
          </a:p>
        </p:txBody>
      </p:sp>
      <p:cxnSp>
        <p:nvCxnSpPr>
          <p:cNvPr id="6" name="Elbow Connector 5"/>
          <p:cNvCxnSpPr>
            <a:cxnSpLocks/>
            <a:stCxn id="16" idx="2"/>
            <a:endCxn id="25" idx="0"/>
          </p:cNvCxnSpPr>
          <p:nvPr/>
        </p:nvCxnSpPr>
        <p:spPr>
          <a:xfrm rot="5400000">
            <a:off x="2433060" y="1253129"/>
            <a:ext cx="897292" cy="3299587"/>
          </a:xfrm>
          <a:prstGeom prst="bentConnector3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cxnSpLocks/>
            <a:stCxn id="16" idx="2"/>
            <a:endCxn id="40" idx="0"/>
          </p:cNvCxnSpPr>
          <p:nvPr/>
        </p:nvCxnSpPr>
        <p:spPr>
          <a:xfrm rot="5400000">
            <a:off x="3254870" y="2074939"/>
            <a:ext cx="897292" cy="1655967"/>
          </a:xfrm>
          <a:prstGeom prst="bentConnector3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cxnSpLocks/>
            <a:stCxn id="16" idx="2"/>
            <a:endCxn id="52" idx="0"/>
          </p:cNvCxnSpPr>
          <p:nvPr/>
        </p:nvCxnSpPr>
        <p:spPr>
          <a:xfrm rot="5400000">
            <a:off x="4081146" y="2901215"/>
            <a:ext cx="897292" cy="3414"/>
          </a:xfrm>
          <a:prstGeom prst="bentConnector3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cxnSpLocks/>
            <a:stCxn id="16" idx="2"/>
            <a:endCxn id="46" idx="0"/>
          </p:cNvCxnSpPr>
          <p:nvPr/>
        </p:nvCxnSpPr>
        <p:spPr>
          <a:xfrm rot="16200000" flipH="1">
            <a:off x="4905298" y="2080476"/>
            <a:ext cx="897292" cy="1644891"/>
          </a:xfrm>
          <a:prstGeom prst="bentConnector3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cxnSpLocks/>
            <a:stCxn id="16" idx="2"/>
            <a:endCxn id="49" idx="0"/>
          </p:cNvCxnSpPr>
          <p:nvPr/>
        </p:nvCxnSpPr>
        <p:spPr>
          <a:xfrm rot="16200000" flipH="1">
            <a:off x="5749686" y="1236089"/>
            <a:ext cx="898996" cy="3335370"/>
          </a:xfrm>
          <a:prstGeom prst="bentConnector3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18</a:t>
            </a:fld>
            <a:endParaRPr lang="uk-UA" dirty="0"/>
          </a:p>
        </p:txBody>
      </p:sp>
      <p:sp>
        <p:nvSpPr>
          <p:cNvPr id="17" name="Rectangle 230"/>
          <p:cNvSpPr txBox="1"/>
          <p:nvPr>
            <p:custDataLst>
              <p:tags r:id="rId4"/>
            </p:custDataLst>
          </p:nvPr>
        </p:nvSpPr>
        <p:spPr bwMode="gray">
          <a:xfrm>
            <a:off x="7144350" y="749184"/>
            <a:ext cx="926559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Basel / EH</a:t>
            </a:r>
            <a:endParaRPr lang="en-US" sz="1000" b="0" dirty="0"/>
          </a:p>
        </p:txBody>
      </p:sp>
      <p:sp>
        <p:nvSpPr>
          <p:cNvPr id="19" name="Rectangle 230"/>
          <p:cNvSpPr txBox="1"/>
          <p:nvPr>
            <p:custDataLst>
              <p:tags r:id="rId5"/>
            </p:custDataLst>
          </p:nvPr>
        </p:nvSpPr>
        <p:spPr bwMode="gray">
          <a:xfrm>
            <a:off x="7144350" y="984771"/>
            <a:ext cx="926559" cy="179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HYD / Others</a:t>
            </a:r>
            <a:endParaRPr lang="en-US" sz="1000" b="0" baseline="30000" dirty="0"/>
          </a:p>
        </p:txBody>
      </p:sp>
      <p:sp>
        <p:nvSpPr>
          <p:cNvPr id="20" name="Rectangle 230"/>
          <p:cNvSpPr txBox="1"/>
          <p:nvPr>
            <p:custDataLst>
              <p:tags r:id="rId6"/>
            </p:custDataLst>
          </p:nvPr>
        </p:nvSpPr>
        <p:spPr bwMode="gray">
          <a:xfrm>
            <a:off x="8135462" y="749184"/>
            <a:ext cx="468000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0</a:t>
            </a:r>
            <a:endParaRPr lang="en-US" sz="1000" b="0" dirty="0"/>
          </a:p>
        </p:txBody>
      </p:sp>
      <p:sp>
        <p:nvSpPr>
          <p:cNvPr id="21" name="Rectangle 230"/>
          <p:cNvSpPr txBox="1"/>
          <p:nvPr>
            <p:custDataLst>
              <p:tags r:id="rId7"/>
            </p:custDataLst>
          </p:nvPr>
        </p:nvSpPr>
        <p:spPr bwMode="gray">
          <a:xfrm>
            <a:off x="8135462" y="984771"/>
            <a:ext cx="468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5</a:t>
            </a:r>
            <a:endParaRPr lang="en-US" sz="1000" b="0" dirty="0"/>
          </a:p>
        </p:txBody>
      </p:sp>
      <p:sp>
        <p:nvSpPr>
          <p:cNvPr id="23" name="Rectangle 230"/>
          <p:cNvSpPr txBox="1"/>
          <p:nvPr>
            <p:custDataLst>
              <p:tags r:id="rId8"/>
            </p:custDataLst>
          </p:nvPr>
        </p:nvSpPr>
        <p:spPr bwMode="gray">
          <a:xfrm>
            <a:off x="7144350" y="1210850"/>
            <a:ext cx="926559" cy="16956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Total</a:t>
            </a:r>
            <a:endParaRPr lang="en-US" sz="1000" dirty="0"/>
          </a:p>
        </p:txBody>
      </p:sp>
      <p:sp>
        <p:nvSpPr>
          <p:cNvPr id="24" name="Rectangle 230"/>
          <p:cNvSpPr txBox="1"/>
          <p:nvPr>
            <p:custDataLst>
              <p:tags r:id="rId9"/>
            </p:custDataLst>
          </p:nvPr>
        </p:nvSpPr>
        <p:spPr bwMode="gray">
          <a:xfrm>
            <a:off x="8137050" y="1210850"/>
            <a:ext cx="468000" cy="1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5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7199806" y="457200"/>
            <a:ext cx="1409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n-4 distribution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59994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think-cell Slide" r:id="rId12" imgW="524" imgH="526" progId="TCLayout.ActiveDocument.1">
                  <p:embed/>
                </p:oleObj>
              </mc:Choice>
              <mc:Fallback>
                <p:oleObj name="think-cell Slide" r:id="rId12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529399" y="488104"/>
            <a:ext cx="6328601" cy="891382"/>
          </a:xfrm>
        </p:spPr>
        <p:txBody>
          <a:bodyPr>
            <a:normAutofit fontScale="90000"/>
          </a:bodyPr>
          <a:lstStyle/>
          <a:p>
            <a:r>
              <a:rPr lang="en-US" dirty="0"/>
              <a:t>Training, Operations &amp; Process Improvement (TOPI)</a:t>
            </a:r>
            <a:br>
              <a:rPr lang="en-US" dirty="0"/>
            </a:br>
            <a:endParaRPr lang="de-CH" sz="2900" dirty="0"/>
          </a:p>
        </p:txBody>
      </p:sp>
      <p:cxnSp>
        <p:nvCxnSpPr>
          <p:cNvPr id="15" name="Elbow Connector 191"/>
          <p:cNvCxnSpPr>
            <a:stCxn id="115" idx="1"/>
            <a:endCxn id="32" idx="0"/>
          </p:cNvCxnSpPr>
          <p:nvPr/>
        </p:nvCxnSpPr>
        <p:spPr bwMode="gray">
          <a:xfrm rot="10800000" flipH="1">
            <a:off x="2774574" y="2919598"/>
            <a:ext cx="2950052" cy="2655442"/>
          </a:xfrm>
          <a:prstGeom prst="bentConnector4">
            <a:avLst>
              <a:gd name="adj1" fmla="val -7749"/>
              <a:gd name="adj2" fmla="val 106072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91"/>
          <p:cNvCxnSpPr>
            <a:stCxn id="56" idx="2"/>
            <a:endCxn id="35" idx="0"/>
          </p:cNvCxnSpPr>
          <p:nvPr/>
        </p:nvCxnSpPr>
        <p:spPr bwMode="gray">
          <a:xfrm rot="16200000" flipH="1">
            <a:off x="5789124" y="970451"/>
            <a:ext cx="465323" cy="3432970"/>
          </a:xfrm>
          <a:prstGeom prst="bentConnector3">
            <a:avLst>
              <a:gd name="adj1" fmla="val 6448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Gerade Verbindung 136"/>
          <p:cNvCxnSpPr>
            <a:stCxn id="71" idx="3"/>
            <a:endCxn id="59" idx="1"/>
          </p:cNvCxnSpPr>
          <p:nvPr/>
        </p:nvCxnSpPr>
        <p:spPr bwMode="gray">
          <a:xfrm>
            <a:off x="2209800" y="3394339"/>
            <a:ext cx="56477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 Verbindung 139"/>
          <p:cNvCxnSpPr>
            <a:stCxn id="126" idx="3"/>
            <a:endCxn id="112" idx="1"/>
          </p:cNvCxnSpPr>
          <p:nvPr/>
        </p:nvCxnSpPr>
        <p:spPr bwMode="gray">
          <a:xfrm>
            <a:off x="2209800" y="4582955"/>
            <a:ext cx="56477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230"/>
          <p:cNvSpPr txBox="1"/>
          <p:nvPr>
            <p:custDataLst>
              <p:tags r:id="rId3"/>
            </p:custDataLst>
          </p:nvPr>
        </p:nvSpPr>
        <p:spPr bwMode="gray">
          <a:xfrm>
            <a:off x="2590800" y="1676400"/>
            <a:ext cx="3429000" cy="777875"/>
          </a:xfrm>
          <a:prstGeom prst="rect">
            <a:avLst/>
          </a:prstGeom>
          <a:solidFill>
            <a:srgbClr val="0460A9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Global Head</a:t>
            </a:r>
            <a:br>
              <a:rPr lang="en-US" sz="1200" b="1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DO Training Ops &amp; Process Improvement</a:t>
            </a: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Leianne Ebert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1" name="TextBox 133"/>
          <p:cNvSpPr txBox="1">
            <a:spLocks/>
          </p:cNvSpPr>
          <p:nvPr/>
        </p:nvSpPr>
        <p:spPr bwMode="gray">
          <a:xfrm>
            <a:off x="457200" y="2919598"/>
            <a:ext cx="1752600" cy="949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GH Organizational Finance, Budget</a:t>
            </a:r>
            <a:br>
              <a:rPr lang="en-US" sz="1100" dirty="0"/>
            </a:br>
            <a:r>
              <a:rPr lang="en-US" sz="1100" dirty="0"/>
              <a:t>(Project / Study)</a:t>
            </a:r>
          </a:p>
          <a:p>
            <a:endParaRPr lang="en-US" sz="1100" dirty="0"/>
          </a:p>
          <a:p>
            <a:r>
              <a:rPr lang="en-US" sz="1100" b="0" dirty="0" err="1"/>
              <a:t>Venkatachallam</a:t>
            </a:r>
            <a:r>
              <a:rPr lang="en-US" sz="1100" b="0" dirty="0"/>
              <a:t> </a:t>
            </a:r>
            <a:r>
              <a:rPr lang="en-US" sz="1100" b="0" dirty="0" err="1"/>
              <a:t>Rampalli</a:t>
            </a:r>
            <a:endParaRPr lang="en-US" sz="1100" b="0" dirty="0">
              <a:solidFill>
                <a:srgbClr val="000000"/>
              </a:solidFill>
            </a:endParaRPr>
          </a:p>
          <a:p>
            <a:endParaRPr lang="en-US" sz="1100" dirty="0"/>
          </a:p>
        </p:txBody>
      </p:sp>
      <p:sp>
        <p:nvSpPr>
          <p:cNvPr id="59" name="TextBox 133"/>
          <p:cNvSpPr txBox="1">
            <a:spLocks/>
          </p:cNvSpPr>
          <p:nvPr/>
        </p:nvSpPr>
        <p:spPr bwMode="gray">
          <a:xfrm>
            <a:off x="2774574" y="2919598"/>
            <a:ext cx="1797426" cy="949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GH Vendor Management Contracts</a:t>
            </a:r>
            <a:br>
              <a:rPr lang="en-US" sz="1100" dirty="0"/>
            </a:br>
            <a:r>
              <a:rPr lang="en-US" sz="1100" dirty="0"/>
              <a:t>(SLA/Biz Acct.)</a:t>
            </a:r>
          </a:p>
          <a:p>
            <a:endParaRPr lang="en-US" sz="1100" b="0" dirty="0">
              <a:latin typeface="Arial "/>
            </a:endParaRPr>
          </a:p>
          <a:p>
            <a:r>
              <a:rPr lang="en-US" sz="1100" b="0" dirty="0" err="1">
                <a:latin typeface="Arial "/>
              </a:rPr>
              <a:t>Surrendra</a:t>
            </a:r>
            <a:r>
              <a:rPr lang="en-US" sz="1100" b="0" dirty="0">
                <a:latin typeface="Arial "/>
              </a:rPr>
              <a:t> </a:t>
            </a:r>
            <a:r>
              <a:rPr lang="en-US" sz="1100" b="0" dirty="0" err="1">
                <a:latin typeface="Arial "/>
              </a:rPr>
              <a:t>Kandregula</a:t>
            </a:r>
            <a:endParaRPr lang="en-US" sz="1100" b="0" dirty="0">
              <a:solidFill>
                <a:srgbClr val="000000"/>
              </a:solidFill>
              <a:latin typeface="Arial "/>
            </a:endParaRPr>
          </a:p>
          <a:p>
            <a:endParaRPr lang="en-US" sz="1100" dirty="0"/>
          </a:p>
        </p:txBody>
      </p:sp>
      <p:sp>
        <p:nvSpPr>
          <p:cNvPr id="32" name="TextBox 133"/>
          <p:cNvSpPr txBox="1">
            <a:spLocks/>
          </p:cNvSpPr>
          <p:nvPr/>
        </p:nvSpPr>
        <p:spPr bwMode="gray">
          <a:xfrm>
            <a:off x="4810226" y="2919598"/>
            <a:ext cx="1828799" cy="949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GH Process &amp;Training</a:t>
            </a:r>
          </a:p>
          <a:p>
            <a:endParaRPr lang="en-GB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b="0" dirty="0" err="1"/>
              <a:t>Snehal</a:t>
            </a:r>
            <a:r>
              <a:rPr lang="en-US" sz="1100" b="0" dirty="0"/>
              <a:t> </a:t>
            </a:r>
            <a:r>
              <a:rPr lang="en-US" sz="1100" b="0" dirty="0" err="1"/>
              <a:t>Pingle</a:t>
            </a:r>
            <a:endParaRPr lang="en-US" sz="1100" b="0" dirty="0"/>
          </a:p>
          <a:p>
            <a:endParaRPr lang="en-US" sz="1100" dirty="0"/>
          </a:p>
        </p:txBody>
      </p:sp>
      <p:sp>
        <p:nvSpPr>
          <p:cNvPr id="112" name="TextBox 133"/>
          <p:cNvSpPr txBox="1">
            <a:spLocks/>
          </p:cNvSpPr>
          <p:nvPr/>
        </p:nvSpPr>
        <p:spPr bwMode="gray">
          <a:xfrm>
            <a:off x="2774574" y="4108634"/>
            <a:ext cx="1797426" cy="948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GH Resource &amp;</a:t>
            </a:r>
            <a:br>
              <a:rPr lang="en-US" sz="1100" dirty="0"/>
            </a:br>
            <a:r>
              <a:rPr lang="en-US" sz="1100" dirty="0"/>
              <a:t>Portfolio</a:t>
            </a:r>
            <a:br>
              <a:rPr lang="en-US" sz="1100" dirty="0"/>
            </a:br>
            <a:r>
              <a:rPr lang="en-US" sz="1100" dirty="0"/>
              <a:t>Management</a:t>
            </a:r>
          </a:p>
          <a:p>
            <a:endParaRPr lang="en-US" sz="1100" dirty="0"/>
          </a:p>
          <a:p>
            <a:r>
              <a:rPr lang="en-US" sz="1100" b="0" dirty="0" err="1"/>
              <a:t>Ishani</a:t>
            </a:r>
            <a:r>
              <a:rPr lang="en-US" sz="1100" b="0" dirty="0"/>
              <a:t> </a:t>
            </a:r>
            <a:r>
              <a:rPr lang="en-US" sz="1100" b="0" dirty="0" err="1"/>
              <a:t>Banik</a:t>
            </a:r>
            <a:endParaRPr lang="en-US" sz="1100" b="0" dirty="0"/>
          </a:p>
          <a:p>
            <a:endParaRPr lang="en-US" sz="1100" dirty="0"/>
          </a:p>
        </p:txBody>
      </p:sp>
      <p:sp>
        <p:nvSpPr>
          <p:cNvPr id="115" name="TextBox 133"/>
          <p:cNvSpPr txBox="1">
            <a:spLocks/>
          </p:cNvSpPr>
          <p:nvPr/>
        </p:nvSpPr>
        <p:spPr bwMode="gray">
          <a:xfrm>
            <a:off x="2774574" y="5282680"/>
            <a:ext cx="1797426" cy="584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endParaRPr lang="en-US" sz="1100" dirty="0"/>
          </a:p>
          <a:p>
            <a:r>
              <a:rPr lang="en-US" sz="1100" dirty="0"/>
              <a:t>Admin Support</a:t>
            </a:r>
          </a:p>
        </p:txBody>
      </p:sp>
      <p:sp>
        <p:nvSpPr>
          <p:cNvPr id="126" name="TextBox 133"/>
          <p:cNvSpPr txBox="1">
            <a:spLocks/>
          </p:cNvSpPr>
          <p:nvPr/>
        </p:nvSpPr>
        <p:spPr bwMode="gray">
          <a:xfrm>
            <a:off x="457200" y="4108634"/>
            <a:ext cx="1752600" cy="948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GH Quantitative</a:t>
            </a:r>
            <a:br>
              <a:rPr lang="en-US" sz="1100" dirty="0"/>
            </a:br>
            <a:r>
              <a:rPr lang="en-US" sz="1100" dirty="0"/>
              <a:t>Analytics &amp; Metrics</a:t>
            </a:r>
          </a:p>
          <a:p>
            <a:endParaRPr lang="en-US" sz="1100" dirty="0"/>
          </a:p>
          <a:p>
            <a:endParaRPr lang="en-US" sz="1100" b="0" dirty="0"/>
          </a:p>
          <a:p>
            <a:r>
              <a:rPr lang="en-US" sz="1100" b="0" dirty="0"/>
              <a:t>Manish Pathak</a:t>
            </a:r>
            <a:endParaRPr lang="en-US" sz="1100" b="0" dirty="0">
              <a:solidFill>
                <a:srgbClr val="000000"/>
              </a:solidFill>
            </a:endParaRPr>
          </a:p>
          <a:p>
            <a:endParaRPr lang="en-US" sz="1100" dirty="0"/>
          </a:p>
        </p:txBody>
      </p:sp>
      <p:sp>
        <p:nvSpPr>
          <p:cNvPr id="35" name="TextBox 133"/>
          <p:cNvSpPr txBox="1">
            <a:spLocks/>
          </p:cNvSpPr>
          <p:nvPr/>
        </p:nvSpPr>
        <p:spPr bwMode="gray">
          <a:xfrm>
            <a:off x="6865939" y="2919598"/>
            <a:ext cx="1744661" cy="949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100" dirty="0"/>
              <a:t>GH Process Standards &amp; Control</a:t>
            </a:r>
          </a:p>
          <a:p>
            <a:endParaRPr lang="en-GB" sz="1100" dirty="0"/>
          </a:p>
          <a:p>
            <a:endParaRPr lang="en-US" sz="1100" dirty="0"/>
          </a:p>
          <a:p>
            <a:r>
              <a:rPr lang="en-US" sz="1100" b="0" dirty="0" err="1"/>
              <a:t>Varsha</a:t>
            </a:r>
            <a:r>
              <a:rPr lang="en-US" sz="1100" b="0" dirty="0"/>
              <a:t> Srivastava</a:t>
            </a:r>
          </a:p>
          <a:p>
            <a:endParaRPr lang="en-US" sz="11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19</a:t>
            </a:fld>
            <a:endParaRPr lang="uk-UA" dirty="0"/>
          </a:p>
        </p:txBody>
      </p:sp>
      <p:sp>
        <p:nvSpPr>
          <p:cNvPr id="19" name="Rectangle 230"/>
          <p:cNvSpPr txBox="1"/>
          <p:nvPr>
            <p:custDataLst>
              <p:tags r:id="rId4"/>
            </p:custDataLst>
          </p:nvPr>
        </p:nvSpPr>
        <p:spPr bwMode="gray">
          <a:xfrm>
            <a:off x="7162800" y="739559"/>
            <a:ext cx="926559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Basel / EH</a:t>
            </a:r>
            <a:endParaRPr lang="en-US" sz="1000" b="0" dirty="0"/>
          </a:p>
        </p:txBody>
      </p:sp>
      <p:sp>
        <p:nvSpPr>
          <p:cNvPr id="20" name="Rectangle 230"/>
          <p:cNvSpPr txBox="1"/>
          <p:nvPr>
            <p:custDataLst>
              <p:tags r:id="rId5"/>
            </p:custDataLst>
          </p:nvPr>
        </p:nvSpPr>
        <p:spPr bwMode="gray">
          <a:xfrm>
            <a:off x="7162800" y="975146"/>
            <a:ext cx="926559" cy="179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HYD / Others</a:t>
            </a:r>
            <a:endParaRPr lang="en-US" sz="1000" b="0" baseline="30000" dirty="0"/>
          </a:p>
        </p:txBody>
      </p:sp>
      <p:sp>
        <p:nvSpPr>
          <p:cNvPr id="21" name="Rectangle 230"/>
          <p:cNvSpPr txBox="1"/>
          <p:nvPr>
            <p:custDataLst>
              <p:tags r:id="rId6"/>
            </p:custDataLst>
          </p:nvPr>
        </p:nvSpPr>
        <p:spPr bwMode="gray">
          <a:xfrm>
            <a:off x="8134662" y="739559"/>
            <a:ext cx="468000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0</a:t>
            </a:r>
            <a:endParaRPr lang="en-US" sz="1000" b="0" dirty="0"/>
          </a:p>
        </p:txBody>
      </p:sp>
      <p:sp>
        <p:nvSpPr>
          <p:cNvPr id="22" name="Rectangle 230"/>
          <p:cNvSpPr txBox="1"/>
          <p:nvPr>
            <p:custDataLst>
              <p:tags r:id="rId7"/>
            </p:custDataLst>
          </p:nvPr>
        </p:nvSpPr>
        <p:spPr bwMode="gray">
          <a:xfrm>
            <a:off x="8134662" y="975146"/>
            <a:ext cx="468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6</a:t>
            </a:r>
            <a:endParaRPr lang="en-US" sz="1000" b="0" dirty="0"/>
          </a:p>
        </p:txBody>
      </p:sp>
      <p:sp>
        <p:nvSpPr>
          <p:cNvPr id="23" name="Rectangle 230"/>
          <p:cNvSpPr txBox="1"/>
          <p:nvPr>
            <p:custDataLst>
              <p:tags r:id="rId8"/>
            </p:custDataLst>
          </p:nvPr>
        </p:nvSpPr>
        <p:spPr bwMode="gray">
          <a:xfrm>
            <a:off x="7162800" y="1201225"/>
            <a:ext cx="926559" cy="16956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Total</a:t>
            </a:r>
            <a:endParaRPr lang="en-US" sz="1000" dirty="0"/>
          </a:p>
        </p:txBody>
      </p:sp>
      <p:sp>
        <p:nvSpPr>
          <p:cNvPr id="24" name="Rectangle 230"/>
          <p:cNvSpPr txBox="1"/>
          <p:nvPr>
            <p:custDataLst>
              <p:tags r:id="rId9"/>
            </p:custDataLst>
          </p:nvPr>
        </p:nvSpPr>
        <p:spPr bwMode="gray">
          <a:xfrm>
            <a:off x="8136250" y="1201225"/>
            <a:ext cx="468000" cy="1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6</a:t>
            </a:r>
            <a:endParaRPr lang="en-US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7256756" y="457200"/>
            <a:ext cx="1409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n-4 distribution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522411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think-cell Slide" r:id="rId12" imgW="524" imgH="526" progId="TCLayout.ActiveDocument.1">
                  <p:embed/>
                </p:oleObj>
              </mc:Choice>
              <mc:Fallback>
                <p:oleObj name="think-cell Slide" r:id="rId12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542223" y="462116"/>
            <a:ext cx="7772400" cy="960120"/>
          </a:xfrm>
        </p:spPr>
        <p:txBody>
          <a:bodyPr>
            <a:normAutofit fontScale="90000"/>
          </a:bodyPr>
          <a:lstStyle/>
          <a:p>
            <a:r>
              <a:rPr lang="en-US" dirty="0"/>
              <a:t>Innovation &amp; Technical Implementation</a:t>
            </a:r>
            <a:br>
              <a:rPr lang="en-US" dirty="0"/>
            </a:br>
            <a:endParaRPr lang="de-CH" dirty="0"/>
          </a:p>
        </p:txBody>
      </p:sp>
      <p:cxnSp>
        <p:nvCxnSpPr>
          <p:cNvPr id="109" name="Elbow Connector 191"/>
          <p:cNvCxnSpPr>
            <a:stCxn id="56" idx="2"/>
            <a:endCxn id="35" idx="0"/>
          </p:cNvCxnSpPr>
          <p:nvPr/>
        </p:nvCxnSpPr>
        <p:spPr bwMode="gray">
          <a:xfrm rot="16200000" flipH="1">
            <a:off x="5839210" y="1203681"/>
            <a:ext cx="663472" cy="312824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191"/>
          <p:cNvCxnSpPr>
            <a:stCxn id="56" idx="2"/>
            <a:endCxn id="32" idx="0"/>
          </p:cNvCxnSpPr>
          <p:nvPr/>
        </p:nvCxnSpPr>
        <p:spPr bwMode="gray">
          <a:xfrm rot="16200000" flipH="1">
            <a:off x="4277065" y="2765827"/>
            <a:ext cx="663472" cy="395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91"/>
          <p:cNvCxnSpPr>
            <a:stCxn id="56" idx="2"/>
            <a:endCxn id="79" idx="0"/>
          </p:cNvCxnSpPr>
          <p:nvPr/>
        </p:nvCxnSpPr>
        <p:spPr bwMode="gray">
          <a:xfrm rot="5400000">
            <a:off x="2673505" y="1166225"/>
            <a:ext cx="663472" cy="3203162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230"/>
          <p:cNvSpPr txBox="1"/>
          <p:nvPr>
            <p:custDataLst>
              <p:tags r:id="rId3"/>
            </p:custDataLst>
          </p:nvPr>
        </p:nvSpPr>
        <p:spPr bwMode="gray">
          <a:xfrm>
            <a:off x="3088538" y="1676400"/>
            <a:ext cx="3036568" cy="759670"/>
          </a:xfrm>
          <a:prstGeom prst="rect">
            <a:avLst/>
          </a:prstGeom>
          <a:solidFill>
            <a:srgbClr val="0460A9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Global Head</a:t>
            </a:r>
            <a:br>
              <a:rPr lang="en-US" sz="1200" b="1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DO Innovation &amp; Tech. Implementation</a:t>
            </a: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TBD</a:t>
            </a:r>
          </a:p>
        </p:txBody>
      </p:sp>
      <p:sp>
        <p:nvSpPr>
          <p:cNvPr id="32" name="TextBox 133"/>
          <p:cNvSpPr txBox="1">
            <a:spLocks/>
          </p:cNvSpPr>
          <p:nvPr/>
        </p:nvSpPr>
        <p:spPr bwMode="gray">
          <a:xfrm>
            <a:off x="3674682" y="3099542"/>
            <a:ext cx="1872196" cy="9316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Innovation</a:t>
            </a:r>
            <a:br>
              <a:rPr lang="en-US" sz="1100" dirty="0"/>
            </a:br>
            <a:r>
              <a:rPr lang="en-US" sz="1100" dirty="0"/>
              <a:t>Programme Group Head</a:t>
            </a:r>
          </a:p>
          <a:p>
            <a:endParaRPr lang="en-GB" sz="1100" dirty="0"/>
          </a:p>
          <a:p>
            <a:r>
              <a:rPr lang="en-US" sz="1100" b="0" dirty="0"/>
              <a:t>Dante </a:t>
            </a:r>
            <a:r>
              <a:rPr lang="en-US" sz="1100" b="0" dirty="0" err="1"/>
              <a:t>DiTomasso</a:t>
            </a:r>
            <a:endParaRPr lang="en-US" sz="1100" b="0" dirty="0">
              <a:solidFill>
                <a:srgbClr val="000000"/>
              </a:solidFill>
            </a:endParaRPr>
          </a:p>
          <a:p>
            <a:endParaRPr lang="en-US" sz="1100" dirty="0"/>
          </a:p>
        </p:txBody>
      </p:sp>
      <p:sp>
        <p:nvSpPr>
          <p:cNvPr id="79" name="TextBox 133"/>
          <p:cNvSpPr txBox="1">
            <a:spLocks/>
          </p:cNvSpPr>
          <p:nvPr/>
        </p:nvSpPr>
        <p:spPr bwMode="gray">
          <a:xfrm>
            <a:off x="457199" y="3099542"/>
            <a:ext cx="1892921" cy="931641"/>
          </a:xfrm>
          <a:prstGeom prst="rect">
            <a:avLst/>
          </a:prstGeom>
          <a:solidFill>
            <a:srgbClr val="D2EBFE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Innovation</a:t>
            </a:r>
            <a:br>
              <a:rPr lang="en-US" sz="1100" dirty="0"/>
            </a:br>
            <a:r>
              <a:rPr lang="en-US" sz="1100" dirty="0"/>
              <a:t>Programme Group Head</a:t>
            </a:r>
          </a:p>
          <a:p>
            <a:endParaRPr lang="en-US" sz="1100" dirty="0"/>
          </a:p>
          <a:p>
            <a:r>
              <a:rPr lang="en-US" sz="1100" dirty="0"/>
              <a:t> </a:t>
            </a:r>
            <a:r>
              <a:rPr lang="en-US" sz="1100" b="0" dirty="0"/>
              <a:t>Nara </a:t>
            </a:r>
            <a:r>
              <a:rPr lang="en-US" sz="1100" b="0" dirty="0" err="1"/>
              <a:t>Iyer</a:t>
            </a:r>
            <a:endParaRPr lang="en-US" sz="11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1100" dirty="0"/>
          </a:p>
        </p:txBody>
      </p:sp>
      <p:sp>
        <p:nvSpPr>
          <p:cNvPr id="35" name="TextBox 133"/>
          <p:cNvSpPr txBox="1">
            <a:spLocks/>
          </p:cNvSpPr>
          <p:nvPr/>
        </p:nvSpPr>
        <p:spPr bwMode="gray">
          <a:xfrm>
            <a:off x="6867480" y="3099542"/>
            <a:ext cx="1735182" cy="9316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0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US" sz="1100" dirty="0"/>
              <a:t>Technical Implementation Director</a:t>
            </a:r>
          </a:p>
          <a:p>
            <a:endParaRPr lang="en-GB" sz="1100" dirty="0"/>
          </a:p>
          <a:p>
            <a:r>
              <a:rPr lang="en-US" sz="1100" b="0" dirty="0"/>
              <a:t>Laurent  Le </a:t>
            </a:r>
            <a:r>
              <a:rPr lang="en-US" sz="1100" b="0" dirty="0" err="1"/>
              <a:t>Renard</a:t>
            </a:r>
            <a:endParaRPr lang="en-US" sz="1100" b="0" dirty="0"/>
          </a:p>
        </p:txBody>
      </p:sp>
      <p:sp>
        <p:nvSpPr>
          <p:cNvPr id="52" name="Speech Bubble: Rectangle 55">
            <a:extLst>
              <a:ext uri="{FF2B5EF4-FFF2-40B4-BE49-F238E27FC236}">
                <a16:creationId xmlns="" xmlns:a16="http://schemas.microsoft.com/office/drawing/2014/main" id="{9B0AA013-7361-45C6-96C5-E5793821885B}"/>
              </a:ext>
            </a:extLst>
          </p:cNvPr>
          <p:cNvSpPr/>
          <p:nvPr/>
        </p:nvSpPr>
        <p:spPr bwMode="gray">
          <a:xfrm>
            <a:off x="5594068" y="4572000"/>
            <a:ext cx="2546824" cy="9633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Will support an externally sourced macro development / Technical Implementation Team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20</a:t>
            </a:fld>
            <a:endParaRPr lang="uk-UA" dirty="0"/>
          </a:p>
        </p:txBody>
      </p:sp>
      <p:sp>
        <p:nvSpPr>
          <p:cNvPr id="43" name="Freeform 42"/>
          <p:cNvSpPr/>
          <p:nvPr/>
        </p:nvSpPr>
        <p:spPr>
          <a:xfrm flipH="1">
            <a:off x="6966661" y="4089413"/>
            <a:ext cx="348538" cy="664037"/>
          </a:xfrm>
          <a:custGeom>
            <a:avLst/>
            <a:gdLst>
              <a:gd name="connsiteX0" fmla="*/ 257175 w 257175"/>
              <a:gd name="connsiteY0" fmla="*/ 314325 h 323850"/>
              <a:gd name="connsiteX1" fmla="*/ 0 w 257175"/>
              <a:gd name="connsiteY1" fmla="*/ 0 h 323850"/>
              <a:gd name="connsiteX2" fmla="*/ 133350 w 257175"/>
              <a:gd name="connsiteY2" fmla="*/ 323850 h 32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175" h="323850">
                <a:moveTo>
                  <a:pt x="257175" y="314325"/>
                </a:moveTo>
                <a:lnTo>
                  <a:pt x="0" y="0"/>
                </a:lnTo>
                <a:lnTo>
                  <a:pt x="133350" y="323850"/>
                </a:ln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64945" y="4068716"/>
            <a:ext cx="12499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STRIDE-NEO</a:t>
            </a:r>
          </a:p>
        </p:txBody>
      </p:sp>
      <p:sp>
        <p:nvSpPr>
          <p:cNvPr id="6" name="Rectangle 5"/>
          <p:cNvSpPr/>
          <p:nvPr/>
        </p:nvSpPr>
        <p:spPr>
          <a:xfrm>
            <a:off x="3870314" y="4068716"/>
            <a:ext cx="14730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STRIDE </a:t>
            </a:r>
            <a:r>
              <a:rPr lang="en-US" sz="1200" i="1" dirty="0" err="1"/>
              <a:t>DaVinci</a:t>
            </a:r>
            <a:endParaRPr lang="en-US" sz="1200" i="1" dirty="0"/>
          </a:p>
        </p:txBody>
      </p:sp>
      <p:sp>
        <p:nvSpPr>
          <p:cNvPr id="19" name="Rectangle 230"/>
          <p:cNvSpPr txBox="1"/>
          <p:nvPr>
            <p:custDataLst>
              <p:tags r:id="rId4"/>
            </p:custDataLst>
          </p:nvPr>
        </p:nvSpPr>
        <p:spPr bwMode="gray">
          <a:xfrm>
            <a:off x="7162800" y="710684"/>
            <a:ext cx="926559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Basel / EH</a:t>
            </a:r>
            <a:endParaRPr lang="en-US" sz="1000" b="0" dirty="0"/>
          </a:p>
        </p:txBody>
      </p:sp>
      <p:sp>
        <p:nvSpPr>
          <p:cNvPr id="20" name="Rectangle 230"/>
          <p:cNvSpPr txBox="1"/>
          <p:nvPr>
            <p:custDataLst>
              <p:tags r:id="rId5"/>
            </p:custDataLst>
          </p:nvPr>
        </p:nvSpPr>
        <p:spPr bwMode="gray">
          <a:xfrm>
            <a:off x="7162800" y="955896"/>
            <a:ext cx="926559" cy="179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HYD / Others</a:t>
            </a:r>
            <a:endParaRPr lang="en-US" sz="1000" b="0" baseline="30000" dirty="0"/>
          </a:p>
        </p:txBody>
      </p:sp>
      <p:sp>
        <p:nvSpPr>
          <p:cNvPr id="21" name="Rectangle 230"/>
          <p:cNvSpPr txBox="1"/>
          <p:nvPr>
            <p:custDataLst>
              <p:tags r:id="rId6"/>
            </p:custDataLst>
          </p:nvPr>
        </p:nvSpPr>
        <p:spPr bwMode="gray">
          <a:xfrm>
            <a:off x="8134662" y="710684"/>
            <a:ext cx="468000" cy="18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1</a:t>
            </a:r>
            <a:endParaRPr lang="en-US" sz="1000" b="0" dirty="0"/>
          </a:p>
        </p:txBody>
      </p:sp>
      <p:sp>
        <p:nvSpPr>
          <p:cNvPr id="22" name="Rectangle 230"/>
          <p:cNvSpPr txBox="1"/>
          <p:nvPr>
            <p:custDataLst>
              <p:tags r:id="rId7"/>
            </p:custDataLst>
          </p:nvPr>
        </p:nvSpPr>
        <p:spPr bwMode="gray">
          <a:xfrm>
            <a:off x="8134662" y="955896"/>
            <a:ext cx="468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indent="0" algn="ctr" defTabSz="913429">
              <a:buClr>
                <a:schemeClr val="tx2"/>
              </a:buClr>
              <a:defRPr sz="1050" b="1" baseline="0"/>
            </a:lvl1pPr>
            <a:lvl2pPr marL="197586" lvl="1" indent="-195966" defTabSz="913429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/>
            </a:lvl2pPr>
            <a:lvl3pPr marL="466431" lvl="2" indent="-267227" defTabSz="913429">
              <a:buClr>
                <a:schemeClr val="tx2"/>
              </a:buClr>
              <a:buSzPct val="120000"/>
              <a:buFont typeface="Arial" charset="0"/>
              <a:buChar char="–"/>
              <a:defRPr baseline="0"/>
            </a:lvl3pPr>
            <a:lvl4pPr marL="626768" lvl="3" indent="-158716" defTabSz="913429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/>
            </a:lvl4pPr>
            <a:lvl5pPr marL="764947" lvl="4" indent="-132804" defTabSz="913429">
              <a:buClr>
                <a:schemeClr val="tx2"/>
              </a:buClr>
              <a:buSzPct val="89000"/>
              <a:buFont typeface="Arial" charset="0"/>
              <a:buChar char="-"/>
              <a:defRPr baseline="0"/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en-GB" sz="1000" b="0" dirty="0"/>
              <a:t>2</a:t>
            </a:r>
            <a:endParaRPr lang="en-US" sz="1000" b="0" dirty="0"/>
          </a:p>
        </p:txBody>
      </p:sp>
      <p:sp>
        <p:nvSpPr>
          <p:cNvPr id="23" name="Rectangle 230"/>
          <p:cNvSpPr txBox="1"/>
          <p:nvPr>
            <p:custDataLst>
              <p:tags r:id="rId8"/>
            </p:custDataLst>
          </p:nvPr>
        </p:nvSpPr>
        <p:spPr bwMode="gray">
          <a:xfrm>
            <a:off x="7162800" y="1181975"/>
            <a:ext cx="926559" cy="16956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Total</a:t>
            </a:r>
            <a:endParaRPr lang="en-US" sz="1000" dirty="0"/>
          </a:p>
        </p:txBody>
      </p:sp>
      <p:sp>
        <p:nvSpPr>
          <p:cNvPr id="24" name="Rectangle 230"/>
          <p:cNvSpPr txBox="1"/>
          <p:nvPr>
            <p:custDataLst>
              <p:tags r:id="rId9"/>
            </p:custDataLst>
          </p:nvPr>
        </p:nvSpPr>
        <p:spPr bwMode="gray">
          <a:xfrm>
            <a:off x="8136250" y="1181975"/>
            <a:ext cx="468000" cy="1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vert="horz" wrap="square" lIns="0" tIns="0" rIns="36000" bIns="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lvl="0" indent="0" algn="ctr" defTabSz="913429" eaLnBrk="1" hangingPunct="1">
              <a:buClr>
                <a:schemeClr val="tx2"/>
              </a:buClr>
              <a:defRPr sz="1200" baseline="0">
                <a:solidFill>
                  <a:schemeClr val="bg1"/>
                </a:solidFill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GB" sz="1000" dirty="0"/>
              <a:t>3</a:t>
            </a:r>
            <a:endParaRPr lang="en-US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7256756" y="428051"/>
            <a:ext cx="1409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n-4 distribution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5208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="" xmlns:a16="http://schemas.microsoft.com/office/drawing/2014/main" id="{2C98177C-97DD-4AC7-8A32-168C5D219C6B}"/>
              </a:ext>
            </a:extLst>
          </p:cNvPr>
          <p:cNvSpPr/>
          <p:nvPr/>
        </p:nvSpPr>
        <p:spPr bwMode="gray">
          <a:xfrm>
            <a:off x="1223325" y="3236256"/>
            <a:ext cx="5955799" cy="100626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think-cell Slide" r:id="rId5" imgW="524" imgH="526" progId="TCLayout.ActiveDocument.1">
                  <p:embed/>
                </p:oleObj>
              </mc:Choice>
              <mc:Fallback>
                <p:oleObj name="think-cell Slide" r:id="rId5" imgW="524" imgH="52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el 10"/>
          <p:cNvSpPr>
            <a:spLocks noGrp="1"/>
          </p:cNvSpPr>
          <p:nvPr>
            <p:ph type="title"/>
          </p:nvPr>
        </p:nvSpPr>
        <p:spPr bwMode="gray">
          <a:xfrm>
            <a:off x="533400" y="403214"/>
            <a:ext cx="7772400" cy="960120"/>
          </a:xfrm>
        </p:spPr>
        <p:txBody>
          <a:bodyPr/>
          <a:lstStyle/>
          <a:p>
            <a:r>
              <a:rPr lang="en-US" dirty="0"/>
              <a:t>Objectives for this webcast</a:t>
            </a:r>
            <a:endParaRPr lang="de-CH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gray" r:id="rId7">
            <p14:nvContentPartPr>
              <p14:cNvPr id="7" name="Ink 14"/>
              <p14:cNvContentPartPr/>
              <p14:nvPr/>
            </p14:nvContentPartPr>
            <p14:xfrm>
              <a:off x="7220687" y="4726821"/>
              <a:ext cx="410" cy="322"/>
            </p14:xfrm>
          </p:contentPart>
        </mc:Choice>
        <mc:Fallback xmlns="">
          <p:pic>
            <p:nvPicPr>
              <p:cNvPr id="7" name="Ink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08797" y="4717483"/>
                <a:ext cx="23780" cy="18676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13"/>
          <p:cNvSpPr txBox="1">
            <a:spLocks/>
          </p:cNvSpPr>
          <p:nvPr/>
        </p:nvSpPr>
        <p:spPr bwMode="gray">
          <a:xfrm>
            <a:off x="1415774" y="1772486"/>
            <a:ext cx="608616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lvl="0" indent="0" defTabSz="913429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7586" lvl="1" indent="-195966" defTabSz="913429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baseline="0">
                <a:latin typeface="+mn-lt"/>
              </a:defRPr>
            </a:lvl2pPr>
            <a:lvl3pPr marL="466431" lvl="2" indent="-267227" defTabSz="913429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26768" lvl="3" indent="-158716" defTabSz="913429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baseline="0">
                <a:latin typeface="+mn-lt"/>
              </a:defRPr>
            </a:lvl4pPr>
            <a:lvl5pPr marL="764947" lvl="4" indent="-132804" defTabSz="913429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64947" indent="-132804" defTabSz="913429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288000" lvl="1" indent="-288000">
              <a:spcAft>
                <a:spcPts val="3000"/>
              </a:spcAft>
              <a:buClrTx/>
              <a:buSzPct val="120000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Share progress on the ongoing Data Operations transformation effort</a:t>
            </a:r>
            <a:endParaRPr lang="en-US" sz="2000" dirty="0">
              <a:solidFill>
                <a:schemeClr val="bg1"/>
              </a:solidFill>
            </a:endParaRPr>
          </a:p>
          <a:p>
            <a:pPr marL="288000" lvl="1" indent="-288000">
              <a:spcAft>
                <a:spcPts val="3000"/>
              </a:spcAft>
              <a:buClrTx/>
              <a:buSzPct val="120000"/>
            </a:pPr>
            <a:r>
              <a:rPr lang="en-GB" sz="2000" dirty="0"/>
              <a:t>Update on the n-4 </a:t>
            </a:r>
            <a:r>
              <a:rPr lang="en-GB" sz="2000" dirty="0" err="1"/>
              <a:t>organizational</a:t>
            </a:r>
            <a:r>
              <a:rPr lang="en-GB" sz="2000" dirty="0"/>
              <a:t> design</a:t>
            </a:r>
          </a:p>
          <a:p>
            <a:pPr marL="288000" lvl="1" indent="-288000">
              <a:spcAft>
                <a:spcPts val="3000"/>
              </a:spcAft>
              <a:buClrTx/>
              <a:buSzPct val="120000"/>
            </a:pPr>
            <a:r>
              <a:rPr lang="en-GB" sz="2000" b="1" dirty="0">
                <a:solidFill>
                  <a:schemeClr val="bg1"/>
                </a:solidFill>
              </a:rPr>
              <a:t>Outline the recruitment process for the remainder of DO </a:t>
            </a:r>
            <a:r>
              <a:rPr lang="en-GB" sz="2000" b="1" dirty="0" err="1">
                <a:solidFill>
                  <a:schemeClr val="bg1"/>
                </a:solidFill>
              </a:rPr>
              <a:t>organization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21</a:t>
            </a:fld>
            <a:endParaRPr lang="uk-UA" dirty="0"/>
          </a:p>
        </p:txBody>
      </p:sp>
      <p:sp>
        <p:nvSpPr>
          <p:cNvPr id="14" name="Rectangle 13"/>
          <p:cNvSpPr/>
          <p:nvPr/>
        </p:nvSpPr>
        <p:spPr>
          <a:xfrm>
            <a:off x="1690255" y="5742801"/>
            <a:ext cx="74537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 lvl="1" indent="-288000">
              <a:spcAft>
                <a:spcPts val="2200"/>
              </a:spcAft>
              <a:buClrTx/>
              <a:buSzPct val="120000"/>
            </a:pPr>
            <a:r>
              <a:rPr lang="en-GB" sz="1200" dirty="0"/>
              <a:t>*  n: Vas </a:t>
            </a:r>
            <a:r>
              <a:rPr lang="en-GB" sz="1200" dirty="0" err="1"/>
              <a:t>Narasimhan</a:t>
            </a:r>
            <a:r>
              <a:rPr lang="en-GB" sz="1200" dirty="0"/>
              <a:t>, n-4s are the direct reports of the Data Operations LT </a:t>
            </a:r>
          </a:p>
        </p:txBody>
      </p:sp>
    </p:spTree>
    <p:extLst>
      <p:ext uri="{BB962C8B-B14F-4D97-AF65-F5344CB8AC3E}">
        <p14:creationId xmlns:p14="http://schemas.microsoft.com/office/powerpoint/2010/main" val="164432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466" y="265236"/>
          <a:ext cx="1465" cy="1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think-cell Slide" r:id="rId5" imgW="501" imgH="501" progId="TCLayout.ActiveDocument.1">
                  <p:embed/>
                </p:oleObj>
              </mc:Choice>
              <mc:Fallback>
                <p:oleObj name="think-cell Slide" r:id="rId5" imgW="501" imgH="501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66" y="265236"/>
                        <a:ext cx="1465" cy="1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9744" y="465987"/>
            <a:ext cx="8351632" cy="490373"/>
          </a:xfrm>
        </p:spPr>
        <p:txBody>
          <a:bodyPr>
            <a:noAutofit/>
          </a:bodyPr>
          <a:lstStyle/>
          <a:p>
            <a:r>
              <a:rPr lang="en-GB" dirty="0"/>
              <a:t>Agreed selection processes for all remaining DO positions</a:t>
            </a:r>
            <a:endParaRPr lang="de-CH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22</a:t>
            </a:fld>
            <a:endParaRPr lang="uk-UA" dirty="0"/>
          </a:p>
        </p:txBody>
      </p:sp>
      <p:sp>
        <p:nvSpPr>
          <p:cNvPr id="152" name="Rectangle 151"/>
          <p:cNvSpPr/>
          <p:nvPr/>
        </p:nvSpPr>
        <p:spPr>
          <a:xfrm>
            <a:off x="1391348" y="1444809"/>
            <a:ext cx="1858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Rationale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3347" y="1444809"/>
            <a:ext cx="2147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N-5 positions/Areas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6410" y="1716693"/>
            <a:ext cx="990600" cy="13318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2203" rIns="42203"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Open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7692" y="3124094"/>
            <a:ext cx="959318" cy="31956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2203" rIns="42203"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Mapping/</a:t>
            </a:r>
          </a:p>
          <a:p>
            <a:pPr algn="ctr"/>
            <a:r>
              <a:rPr lang="en-GB" sz="1400" b="1" dirty="0">
                <a:solidFill>
                  <a:schemeClr val="bg1"/>
                </a:solidFill>
              </a:rPr>
              <a:t>Lift and shift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GB" sz="1400" b="1" dirty="0">
              <a:solidFill>
                <a:schemeClr val="bg1"/>
              </a:solidFill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344610" y="1716523"/>
            <a:ext cx="7499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5891" y="1760531"/>
            <a:ext cx="265471" cy="26547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1</a:t>
            </a:r>
            <a:endParaRPr lang="en-US" sz="1200" b="1" dirty="0"/>
          </a:p>
        </p:txBody>
      </p:sp>
      <p:sp>
        <p:nvSpPr>
          <p:cNvPr id="24" name="Oval 23"/>
          <p:cNvSpPr/>
          <p:nvPr/>
        </p:nvSpPr>
        <p:spPr>
          <a:xfrm>
            <a:off x="545891" y="3165766"/>
            <a:ext cx="265471" cy="26547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2</a:t>
            </a:r>
            <a:endParaRPr lang="en-US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1490597" y="1691933"/>
            <a:ext cx="175901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Arial" panose="020B0604020202020204" pitchFamily="34" charset="0"/>
              </a:rPr>
              <a:t>New </a:t>
            </a:r>
            <a:r>
              <a:rPr lang="en-US" sz="1400" dirty="0"/>
              <a:t>or significantly changed roles with no clear incumbents</a:t>
            </a:r>
            <a:r>
              <a:rPr lang="en-GB" sz="1400" dirty="0">
                <a:latin typeface="Arial" panose="020B0604020202020204" pitchFamily="34" charset="0"/>
              </a:rPr>
              <a:t> </a:t>
            </a:r>
            <a:endParaRPr lang="en-US" sz="1400" dirty="0"/>
          </a:p>
        </p:txBody>
      </p:sp>
      <p:sp>
        <p:nvSpPr>
          <p:cNvPr id="30" name="Rectangle 29"/>
          <p:cNvSpPr/>
          <p:nvPr/>
        </p:nvSpPr>
        <p:spPr>
          <a:xfrm>
            <a:off x="3122272" y="1444809"/>
            <a:ext cx="1543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Process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93771" y="1725838"/>
            <a:ext cx="253506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038" indent="-17303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Data Management (n-5 positions)</a:t>
            </a:r>
            <a:endParaRPr lang="en-US" sz="1400" dirty="0"/>
          </a:p>
          <a:p>
            <a:pPr marL="173038" indent="-17303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Statistical Pro</a:t>
            </a:r>
            <a:r>
              <a:rPr lang="en-GB" sz="1400" dirty="0" err="1"/>
              <a:t>gramming</a:t>
            </a:r>
            <a:r>
              <a:rPr lang="en-GB" sz="1400" dirty="0"/>
              <a:t> </a:t>
            </a:r>
            <a:r>
              <a:rPr lang="en-US" sz="1400" dirty="0"/>
              <a:t>Group Head positions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2" name="Rectangle 31"/>
          <p:cNvSpPr/>
          <p:nvPr/>
        </p:nvSpPr>
        <p:spPr>
          <a:xfrm>
            <a:off x="3195156" y="1705612"/>
            <a:ext cx="2308981" cy="1410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Selection process initially internally via </a:t>
            </a:r>
            <a:r>
              <a:rPr lang="en-US" sz="1400" dirty="0" err="1"/>
              <a:t>Brassring</a:t>
            </a:r>
            <a:r>
              <a:rPr lang="en-US" sz="1400" dirty="0"/>
              <a:t> 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Externally only if we fail to identify a suitable internal candidate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5157" y="3067250"/>
            <a:ext cx="211185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Survey sent through Survey Gizmo to provide all DO associates with the opportunity to expand their breadth in Data Operations for positions in TOPI, CDD and DP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92787" y="1781316"/>
            <a:ext cx="530941" cy="3285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15</a:t>
            </a:r>
            <a:endParaRPr lang="en-US" sz="1400" dirty="0"/>
          </a:p>
        </p:txBody>
      </p:sp>
      <p:sp>
        <p:nvSpPr>
          <p:cNvPr id="43" name="Rounded Rectangle 42"/>
          <p:cNvSpPr/>
          <p:nvPr/>
        </p:nvSpPr>
        <p:spPr>
          <a:xfrm>
            <a:off x="5462829" y="3130213"/>
            <a:ext cx="530941" cy="3285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14</a:t>
            </a:r>
            <a:endParaRPr lang="en-US" sz="1400" dirty="0"/>
          </a:p>
        </p:txBody>
      </p:sp>
      <p:cxnSp>
        <p:nvCxnSpPr>
          <p:cNvPr id="47" name="Straight Connector 46"/>
          <p:cNvCxnSpPr/>
          <p:nvPr/>
        </p:nvCxnSpPr>
        <p:spPr>
          <a:xfrm>
            <a:off x="506410" y="3076075"/>
            <a:ext cx="8338187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490597" y="3067250"/>
            <a:ext cx="1782702" cy="2082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Roles for which assessment of interest is required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Not a promotional exercise, mapping will be to equivalent GJFA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2" name="Rectangle 1"/>
          <p:cNvSpPr/>
          <p:nvPr/>
        </p:nvSpPr>
        <p:spPr>
          <a:xfrm>
            <a:off x="5993770" y="3067250"/>
            <a:ext cx="3068467" cy="2236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lvl="3" indent="-18256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TOPI:</a:t>
            </a:r>
          </a:p>
          <a:p>
            <a:pPr marL="355600" lvl="5" indent="-165100">
              <a:spcAft>
                <a:spcPts val="200"/>
              </a:spcAft>
              <a:buFont typeface="Segoe UI Semilight" panose="020B0402040204020203" pitchFamily="34" charset="0"/>
              <a:buChar char="-"/>
            </a:pPr>
            <a:r>
              <a:rPr lang="en-US" sz="1400" dirty="0"/>
              <a:t>Process and Training</a:t>
            </a:r>
          </a:p>
          <a:p>
            <a:pPr marL="355600" lvl="5" indent="-165100">
              <a:spcAft>
                <a:spcPts val="200"/>
              </a:spcAft>
              <a:buFont typeface="Segoe UI Semilight" panose="020B0402040204020203" pitchFamily="34" charset="0"/>
              <a:buChar char="-"/>
            </a:pPr>
            <a:r>
              <a:rPr lang="en-US" sz="1400" dirty="0"/>
              <a:t>Process and Standards Control</a:t>
            </a:r>
          </a:p>
          <a:p>
            <a:pPr marL="182563" lvl="4" indent="-18256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Clinical Data Standards </a:t>
            </a:r>
          </a:p>
          <a:p>
            <a:pPr marL="355600" lvl="5" indent="-165100">
              <a:spcAft>
                <a:spcPts val="200"/>
              </a:spcAft>
              <a:buFont typeface="Segoe UI Semilight" panose="020B0402040204020203" pitchFamily="34" charset="0"/>
              <a:buChar char="-"/>
            </a:pPr>
            <a:r>
              <a:rPr lang="en-US" sz="1400" dirty="0"/>
              <a:t>Acquisition/Tabulation</a:t>
            </a:r>
          </a:p>
          <a:p>
            <a:pPr marL="355600" lvl="5" indent="-165100">
              <a:spcAft>
                <a:spcPts val="200"/>
              </a:spcAft>
              <a:buFont typeface="Segoe UI Semilight" panose="020B0402040204020203" pitchFamily="34" charset="0"/>
              <a:buChar char="-"/>
            </a:pPr>
            <a:r>
              <a:rPr lang="en-US" sz="1400" dirty="0"/>
              <a:t>Reporting &amp; Analysis</a:t>
            </a:r>
          </a:p>
          <a:p>
            <a:pPr marL="355600" lvl="5" indent="-165100">
              <a:spcAft>
                <a:spcPts val="200"/>
              </a:spcAft>
              <a:buFont typeface="Segoe UI Semilight" panose="020B0402040204020203" pitchFamily="34" charset="0"/>
              <a:buChar char="-"/>
            </a:pPr>
            <a:r>
              <a:rPr lang="en-US" sz="1400" dirty="0"/>
              <a:t>Regulatory Submission </a:t>
            </a:r>
          </a:p>
          <a:p>
            <a:pPr marL="182563" lvl="4" indent="-18256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Clinical Data Provisioning</a:t>
            </a:r>
          </a:p>
          <a:p>
            <a:pPr marL="355600" lvl="5" indent="-165100">
              <a:spcAft>
                <a:spcPts val="200"/>
              </a:spcAft>
              <a:buFont typeface="Segoe UI Semilight" panose="020B0402040204020203" pitchFamily="34" charset="0"/>
              <a:buChar char="-"/>
            </a:pPr>
            <a:r>
              <a:rPr lang="en-US" sz="1400" dirty="0"/>
              <a:t>SDTM Programmer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92787" y="2253864"/>
            <a:ext cx="530941" cy="3285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21</a:t>
            </a:r>
            <a:endParaRPr lang="en-US" sz="1400" dirty="0"/>
          </a:p>
        </p:txBody>
      </p:sp>
      <p:sp>
        <p:nvSpPr>
          <p:cNvPr id="48" name="Rounded Rectangle 47"/>
          <p:cNvSpPr/>
          <p:nvPr/>
        </p:nvSpPr>
        <p:spPr>
          <a:xfrm>
            <a:off x="5462829" y="3810000"/>
            <a:ext cx="530941" cy="3285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14</a:t>
            </a:r>
            <a:endParaRPr lang="en-US" sz="1400" dirty="0"/>
          </a:p>
        </p:txBody>
      </p:sp>
      <p:sp>
        <p:nvSpPr>
          <p:cNvPr id="52" name="Rectangle 51"/>
          <p:cNvSpPr/>
          <p:nvPr/>
        </p:nvSpPr>
        <p:spPr>
          <a:xfrm>
            <a:off x="1490596" y="5294293"/>
            <a:ext cx="17827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Roles for which legacy org adaptation is required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95157" y="5294293"/>
            <a:ext cx="21118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Mapping based on legacy job title adapted to the new job descriptions/tittles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62829" y="4785329"/>
            <a:ext cx="530941" cy="3285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13</a:t>
            </a:r>
            <a:endParaRPr lang="en-US" sz="1400" dirty="0"/>
          </a:p>
        </p:txBody>
      </p:sp>
      <p:sp>
        <p:nvSpPr>
          <p:cNvPr id="57" name="Rectangle 56"/>
          <p:cNvSpPr/>
          <p:nvPr/>
        </p:nvSpPr>
        <p:spPr>
          <a:xfrm>
            <a:off x="5993770" y="5294293"/>
            <a:ext cx="29037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038" indent="-173038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All the rest of the DO organization: </a:t>
            </a:r>
            <a:r>
              <a:rPr lang="en-US" sz="1400" dirty="0"/>
              <a:t>211 job titles (legacy) mapped to 49 new DO positions</a:t>
            </a:r>
            <a:endParaRPr lang="en-GB" sz="1400" dirty="0"/>
          </a:p>
        </p:txBody>
      </p:sp>
      <p:cxnSp>
        <p:nvCxnSpPr>
          <p:cNvPr id="58" name="Straight Connector 57"/>
          <p:cNvCxnSpPr/>
          <p:nvPr/>
        </p:nvCxnSpPr>
        <p:spPr>
          <a:xfrm>
            <a:off x="496843" y="5299751"/>
            <a:ext cx="8338187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34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232549" y="1371601"/>
            <a:ext cx="0" cy="4751206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1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466" y="265236"/>
          <a:ext cx="1465" cy="1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think-cell Slide" r:id="rId5" imgW="501" imgH="501" progId="TCLayout.ActiveDocument.1">
                  <p:embed/>
                </p:oleObj>
              </mc:Choice>
              <mc:Fallback>
                <p:oleObj name="think-cell Slide" r:id="rId5" imgW="501" imgH="501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66" y="265236"/>
                        <a:ext cx="1465" cy="1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395566"/>
            <a:ext cx="8112505" cy="204578"/>
          </a:xfrm>
        </p:spPr>
        <p:txBody>
          <a:bodyPr>
            <a:noAutofit/>
          </a:bodyPr>
          <a:lstStyle/>
          <a:p>
            <a:r>
              <a:rPr lang="en-US" dirty="0" smtClean="0"/>
              <a:t>Rest of the organization </a:t>
            </a:r>
            <a:r>
              <a:rPr lang="en-US" dirty="0"/>
              <a:t>selection process</a:t>
            </a:r>
            <a:endParaRPr lang="de-CH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530002" y="2225526"/>
            <a:ext cx="917798" cy="10766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2203" rIns="42203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</a:rPr>
              <a:t>Open (DM &amp; SP)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30002" y="3586132"/>
            <a:ext cx="917798" cy="15215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2203" rIns="42203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</a:rPr>
              <a:t>Mapping/</a:t>
            </a:r>
          </a:p>
          <a:p>
            <a:pPr algn="ctr"/>
            <a:r>
              <a:rPr lang="en-GB" sz="1100" b="1" dirty="0">
                <a:solidFill>
                  <a:schemeClr val="bg1"/>
                </a:solidFill>
              </a:rPr>
              <a:t>Lift and </a:t>
            </a:r>
          </a:p>
          <a:p>
            <a:pPr algn="ctr"/>
            <a:r>
              <a:rPr lang="en-GB" sz="1100" b="1" dirty="0">
                <a:solidFill>
                  <a:schemeClr val="bg1"/>
                </a:solidFill>
              </a:rPr>
              <a:t>shift</a:t>
            </a:r>
            <a:endParaRPr lang="en-US" sz="1100" b="1" dirty="0">
              <a:solidFill>
                <a:schemeClr val="bg1"/>
              </a:solidFill>
            </a:endParaRPr>
          </a:p>
          <a:p>
            <a:pPr algn="ctr"/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352800" y="6290379"/>
            <a:ext cx="3116865" cy="184970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Diamond 74"/>
          <p:cNvSpPr/>
          <p:nvPr/>
        </p:nvSpPr>
        <p:spPr>
          <a:xfrm>
            <a:off x="3447130" y="6313701"/>
            <a:ext cx="140151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76" name="TextBox 75"/>
          <p:cNvSpPr txBox="1"/>
          <p:nvPr/>
        </p:nvSpPr>
        <p:spPr>
          <a:xfrm>
            <a:off x="3560050" y="6276134"/>
            <a:ext cx="113465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" i="1" dirty="0"/>
              <a:t>Critical milestones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01148" y="6276134"/>
            <a:ext cx="183355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i="1" dirty="0"/>
              <a:t>Communication Milestones</a:t>
            </a:r>
            <a:endParaRPr lang="en-US" sz="800" i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23</a:t>
            </a:fld>
            <a:endParaRPr lang="uk-UA" dirty="0"/>
          </a:p>
        </p:txBody>
      </p:sp>
      <p:sp>
        <p:nvSpPr>
          <p:cNvPr id="132" name="Rectangle 131"/>
          <p:cNvSpPr/>
          <p:nvPr/>
        </p:nvSpPr>
        <p:spPr>
          <a:xfrm>
            <a:off x="530002" y="5261646"/>
            <a:ext cx="917798" cy="9320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2203" rIns="42203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</a:rPr>
              <a:t>Final Org</a:t>
            </a:r>
          </a:p>
          <a:p>
            <a:pPr algn="ctr"/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87" name="Diamond 186"/>
          <p:cNvSpPr/>
          <p:nvPr/>
        </p:nvSpPr>
        <p:spPr>
          <a:xfrm>
            <a:off x="4889254" y="6315533"/>
            <a:ext cx="154498" cy="127056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198" name="Straight Connector 197"/>
          <p:cNvCxnSpPr/>
          <p:nvPr/>
        </p:nvCxnSpPr>
        <p:spPr>
          <a:xfrm>
            <a:off x="417783" y="3535321"/>
            <a:ext cx="8081724" cy="0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>
            <a:off x="458974" y="5159482"/>
            <a:ext cx="8081724" cy="0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700325" y="5839230"/>
            <a:ext cx="5781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b="1" dirty="0"/>
              <a:t>Today</a:t>
            </a:r>
            <a:endParaRPr lang="en-US" sz="900" b="1" dirty="0"/>
          </a:p>
        </p:txBody>
      </p:sp>
      <p:sp>
        <p:nvSpPr>
          <p:cNvPr id="127" name="Rectangle 126"/>
          <p:cNvSpPr/>
          <p:nvPr/>
        </p:nvSpPr>
        <p:spPr>
          <a:xfrm>
            <a:off x="2159483" y="3877043"/>
            <a:ext cx="6410222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rgbClr val="000000"/>
                </a:solidFill>
              </a:rPr>
              <a:t>10/11 </a:t>
            </a:r>
            <a:r>
              <a:rPr lang="en-US" sz="1000" i="1" dirty="0">
                <a:solidFill>
                  <a:srgbClr val="000000"/>
                </a:solidFill>
              </a:rPr>
              <a:t>TOPI, Standards &amp; CDP&amp;A </a:t>
            </a:r>
            <a:r>
              <a:rPr lang="en-US" sz="1000" b="1" i="1" dirty="0">
                <a:solidFill>
                  <a:srgbClr val="000000"/>
                </a:solidFill>
              </a:rPr>
              <a:t>Session 1:</a:t>
            </a:r>
            <a:r>
              <a:rPr lang="en-US" sz="1000" i="1" dirty="0">
                <a:solidFill>
                  <a:srgbClr val="000000"/>
                </a:solidFill>
              </a:rPr>
              <a:t> Explain Survey, Explain Group, Explain Roles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565300" y="4155606"/>
            <a:ext cx="6410222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rgbClr val="000000"/>
                </a:solidFill>
              </a:rPr>
              <a:t>13/11 </a:t>
            </a:r>
            <a:r>
              <a:rPr lang="en-US" sz="1000" i="1" dirty="0">
                <a:solidFill>
                  <a:srgbClr val="000000"/>
                </a:solidFill>
              </a:rPr>
              <a:t>TOPI, Standards &amp; CDP&amp;A </a:t>
            </a:r>
            <a:r>
              <a:rPr lang="en-US" sz="1000" b="1" i="1" dirty="0">
                <a:solidFill>
                  <a:srgbClr val="000000"/>
                </a:solidFill>
              </a:rPr>
              <a:t>Session 2</a:t>
            </a:r>
            <a:endParaRPr lang="en-US" sz="1000" i="1" dirty="0">
              <a:solidFill>
                <a:srgbClr val="000000"/>
              </a:solidFill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4832251" y="3335179"/>
            <a:ext cx="1797149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/>
              <a:t>Final selection</a:t>
            </a:r>
            <a:endParaRPr lang="en-GB" sz="1000" i="1" dirty="0">
              <a:solidFill>
                <a:srgbClr val="C00000"/>
              </a:solidFill>
            </a:endParaRPr>
          </a:p>
        </p:txBody>
      </p:sp>
      <p:sp>
        <p:nvSpPr>
          <p:cNvPr id="152" name="Rectangle 151"/>
          <p:cNvSpPr>
            <a:spLocks/>
          </p:cNvSpPr>
          <p:nvPr/>
        </p:nvSpPr>
        <p:spPr>
          <a:xfrm>
            <a:off x="1907496" y="4476979"/>
            <a:ext cx="780163" cy="2839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Survey Open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15" name="Diamond 114"/>
          <p:cNvSpPr/>
          <p:nvPr/>
        </p:nvSpPr>
        <p:spPr>
          <a:xfrm>
            <a:off x="1802362" y="2298735"/>
            <a:ext cx="187620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6" name="Rectangle 115"/>
          <p:cNvSpPr/>
          <p:nvPr/>
        </p:nvSpPr>
        <p:spPr>
          <a:xfrm>
            <a:off x="2011330" y="2250081"/>
            <a:ext cx="4618070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rgbClr val="000000"/>
                </a:solidFill>
              </a:rPr>
              <a:t> 9/11 DM &amp; SP Positions posted in </a:t>
            </a:r>
            <a:r>
              <a:rPr lang="en-GB" sz="1000" i="1" dirty="0" err="1">
                <a:solidFill>
                  <a:srgbClr val="000000"/>
                </a:solidFill>
              </a:rPr>
              <a:t>brassring</a:t>
            </a:r>
            <a:endParaRPr lang="en-US" sz="1000" i="1" dirty="0"/>
          </a:p>
        </p:txBody>
      </p:sp>
      <p:cxnSp>
        <p:nvCxnSpPr>
          <p:cNvPr id="117" name="Straight Connector 116"/>
          <p:cNvCxnSpPr>
            <a:stCxn id="115" idx="3"/>
          </p:cNvCxnSpPr>
          <p:nvPr/>
        </p:nvCxnSpPr>
        <p:spPr>
          <a:xfrm>
            <a:off x="1994798" y="2353327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Diamond 167"/>
          <p:cNvSpPr/>
          <p:nvPr/>
        </p:nvSpPr>
        <p:spPr>
          <a:xfrm>
            <a:off x="1719877" y="1978894"/>
            <a:ext cx="187620" cy="127056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9" name="Rectangle 168"/>
          <p:cNvSpPr/>
          <p:nvPr/>
        </p:nvSpPr>
        <p:spPr>
          <a:xfrm>
            <a:off x="2011330" y="1946342"/>
            <a:ext cx="357122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rgbClr val="000000"/>
                </a:solidFill>
              </a:rPr>
              <a:t>09/11 Webcast n-4 announcement</a:t>
            </a:r>
            <a:endParaRPr lang="en-US" sz="1000" i="1" dirty="0"/>
          </a:p>
        </p:txBody>
      </p:sp>
      <p:cxnSp>
        <p:nvCxnSpPr>
          <p:cNvPr id="170" name="Straight Connector 169"/>
          <p:cNvCxnSpPr/>
          <p:nvPr/>
        </p:nvCxnSpPr>
        <p:spPr>
          <a:xfrm>
            <a:off x="1920808" y="2049588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 bwMode="auto">
          <a:xfrm>
            <a:off x="1539734" y="1696783"/>
            <a:ext cx="536899" cy="1688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" b="1" dirty="0">
                <a:solidFill>
                  <a:srgbClr val="0460A9"/>
                </a:solidFill>
              </a:rPr>
              <a:t>6</a:t>
            </a:r>
          </a:p>
        </p:txBody>
      </p:sp>
      <p:sp>
        <p:nvSpPr>
          <p:cNvPr id="174" name="Rectangle 173"/>
          <p:cNvSpPr/>
          <p:nvPr/>
        </p:nvSpPr>
        <p:spPr bwMode="auto">
          <a:xfrm>
            <a:off x="2246227" y="1696783"/>
            <a:ext cx="536899" cy="1688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" b="1" dirty="0">
                <a:solidFill>
                  <a:srgbClr val="0460A9"/>
                </a:solidFill>
              </a:rPr>
              <a:t>13</a:t>
            </a:r>
          </a:p>
        </p:txBody>
      </p:sp>
      <p:sp>
        <p:nvSpPr>
          <p:cNvPr id="175" name="Rectangle 174"/>
          <p:cNvSpPr/>
          <p:nvPr/>
        </p:nvSpPr>
        <p:spPr bwMode="auto">
          <a:xfrm>
            <a:off x="2971971" y="1696783"/>
            <a:ext cx="536899" cy="1688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" b="1" dirty="0">
                <a:solidFill>
                  <a:srgbClr val="0460A9"/>
                </a:solidFill>
              </a:rPr>
              <a:t>20</a:t>
            </a:r>
          </a:p>
        </p:txBody>
      </p:sp>
      <p:sp>
        <p:nvSpPr>
          <p:cNvPr id="176" name="Rectangle 175"/>
          <p:cNvSpPr/>
          <p:nvPr/>
        </p:nvSpPr>
        <p:spPr bwMode="auto">
          <a:xfrm>
            <a:off x="3688088" y="1696783"/>
            <a:ext cx="536899" cy="1688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 b="1" dirty="0">
                <a:solidFill>
                  <a:srgbClr val="0460A9"/>
                </a:solidFill>
              </a:rPr>
              <a:t>27</a:t>
            </a:r>
            <a:endParaRPr lang="en-GB" sz="600" b="1" dirty="0">
              <a:solidFill>
                <a:srgbClr val="0460A9"/>
              </a:solidFill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1533540" y="1371413"/>
            <a:ext cx="2708634" cy="2286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1108" b="1" dirty="0">
                <a:solidFill>
                  <a:srgbClr val="FFFFFF"/>
                </a:solidFill>
              </a:rPr>
              <a:t>November</a:t>
            </a:r>
            <a:endParaRPr lang="en-US" sz="1108" b="1" dirty="0">
              <a:solidFill>
                <a:srgbClr val="FFFFFF"/>
              </a:solidFill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4494326" y="1371413"/>
            <a:ext cx="1820649" cy="23339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1108" b="1" dirty="0">
                <a:solidFill>
                  <a:srgbClr val="FFFFFF"/>
                </a:solidFill>
              </a:rPr>
              <a:t>December</a:t>
            </a:r>
            <a:endParaRPr lang="en-US" sz="1108" b="1" dirty="0">
              <a:solidFill>
                <a:srgbClr val="FFFFFF"/>
              </a:solidFill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6528310" y="1371411"/>
            <a:ext cx="1631322" cy="22860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1108" b="1" dirty="0" smtClean="0">
                <a:solidFill>
                  <a:srgbClr val="FFFFFF"/>
                </a:solidFill>
              </a:rPr>
              <a:t>Jan - Mar </a:t>
            </a:r>
            <a:r>
              <a:rPr lang="en-GB" sz="1108" b="1" dirty="0">
                <a:solidFill>
                  <a:srgbClr val="FFFFFF"/>
                </a:solidFill>
              </a:rPr>
              <a:t>‘18</a:t>
            </a:r>
            <a:endParaRPr lang="en-US" sz="1108" b="1" dirty="0">
              <a:solidFill>
                <a:srgbClr val="FFFFFF"/>
              </a:solidFill>
            </a:endParaRPr>
          </a:p>
        </p:txBody>
      </p:sp>
      <p:sp>
        <p:nvSpPr>
          <p:cNvPr id="101" name="Rectangle 100"/>
          <p:cNvSpPr>
            <a:spLocks/>
          </p:cNvSpPr>
          <p:nvPr/>
        </p:nvSpPr>
        <p:spPr>
          <a:xfrm>
            <a:off x="1907496" y="2551700"/>
            <a:ext cx="780163" cy="2839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Posting Open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07" name="Diamond 106"/>
          <p:cNvSpPr/>
          <p:nvPr/>
        </p:nvSpPr>
        <p:spPr>
          <a:xfrm>
            <a:off x="2637067" y="2609278"/>
            <a:ext cx="187620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8" name="Rectangle 107"/>
          <p:cNvSpPr/>
          <p:nvPr/>
        </p:nvSpPr>
        <p:spPr>
          <a:xfrm>
            <a:off x="2870979" y="2569560"/>
            <a:ext cx="3058516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rgbClr val="000000"/>
                </a:solidFill>
              </a:rPr>
              <a:t>15/11 Closing of </a:t>
            </a:r>
            <a:r>
              <a:rPr lang="en-GB" sz="1000" i="1" dirty="0" err="1">
                <a:solidFill>
                  <a:srgbClr val="000000"/>
                </a:solidFill>
              </a:rPr>
              <a:t>brassring</a:t>
            </a:r>
            <a:endParaRPr lang="en-US" sz="1000" i="1" dirty="0"/>
          </a:p>
        </p:txBody>
      </p:sp>
      <p:cxnSp>
        <p:nvCxnSpPr>
          <p:cNvPr id="110" name="Straight Connector 109"/>
          <p:cNvCxnSpPr/>
          <p:nvPr/>
        </p:nvCxnSpPr>
        <p:spPr>
          <a:xfrm>
            <a:off x="2732152" y="2672806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3075756" y="2815841"/>
            <a:ext cx="5134594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/>
              <a:t>17/11 Candidate identification  </a:t>
            </a:r>
            <a:endParaRPr lang="en-GB" sz="1000" i="1" dirty="0">
              <a:solidFill>
                <a:srgbClr val="C00000"/>
              </a:solidFill>
            </a:endParaRPr>
          </a:p>
        </p:txBody>
      </p:sp>
      <p:cxnSp>
        <p:nvCxnSpPr>
          <p:cNvPr id="113" name="Straight Connector 112"/>
          <p:cNvCxnSpPr/>
          <p:nvPr/>
        </p:nvCxnSpPr>
        <p:spPr>
          <a:xfrm>
            <a:off x="2819400" y="2686014"/>
            <a:ext cx="101332" cy="5369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Diamond 120"/>
          <p:cNvSpPr/>
          <p:nvPr/>
        </p:nvSpPr>
        <p:spPr>
          <a:xfrm>
            <a:off x="1802362" y="3655051"/>
            <a:ext cx="187620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3" name="Rectangle 122"/>
          <p:cNvSpPr/>
          <p:nvPr/>
        </p:nvSpPr>
        <p:spPr>
          <a:xfrm>
            <a:off x="2087530" y="3596772"/>
            <a:ext cx="4618070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rgbClr val="000000"/>
                </a:solidFill>
              </a:rPr>
              <a:t> 9/11 Survey Launch:  </a:t>
            </a:r>
            <a:r>
              <a:rPr lang="en-US" sz="1000" dirty="0"/>
              <a:t>TOPI, Standards &amp; CDP&amp;A</a:t>
            </a:r>
            <a:endParaRPr lang="en-US" sz="1000" i="1" dirty="0"/>
          </a:p>
        </p:txBody>
      </p:sp>
      <p:cxnSp>
        <p:nvCxnSpPr>
          <p:cNvPr id="125" name="Straight Connector 124"/>
          <p:cNvCxnSpPr>
            <a:stCxn id="121" idx="3"/>
          </p:cNvCxnSpPr>
          <p:nvPr/>
        </p:nvCxnSpPr>
        <p:spPr>
          <a:xfrm>
            <a:off x="1994798" y="3709643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Diamond 125"/>
          <p:cNvSpPr/>
          <p:nvPr/>
        </p:nvSpPr>
        <p:spPr>
          <a:xfrm>
            <a:off x="1956000" y="3951985"/>
            <a:ext cx="187620" cy="127056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128" name="Straight Connector 127"/>
          <p:cNvCxnSpPr/>
          <p:nvPr/>
        </p:nvCxnSpPr>
        <p:spPr>
          <a:xfrm>
            <a:off x="2156931" y="4022679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Diamond 133"/>
          <p:cNvSpPr/>
          <p:nvPr/>
        </p:nvSpPr>
        <p:spPr>
          <a:xfrm>
            <a:off x="2331818" y="4230548"/>
            <a:ext cx="187620" cy="127056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142" name="Straight Connector 141"/>
          <p:cNvCxnSpPr/>
          <p:nvPr/>
        </p:nvCxnSpPr>
        <p:spPr>
          <a:xfrm>
            <a:off x="2532749" y="4301242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Diamond 144"/>
          <p:cNvSpPr/>
          <p:nvPr/>
        </p:nvSpPr>
        <p:spPr>
          <a:xfrm>
            <a:off x="2584660" y="4534429"/>
            <a:ext cx="187620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47" name="Rectangle 146"/>
          <p:cNvSpPr/>
          <p:nvPr/>
        </p:nvSpPr>
        <p:spPr>
          <a:xfrm>
            <a:off x="2815910" y="4447019"/>
            <a:ext cx="30585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rgbClr val="000000"/>
                </a:solidFill>
              </a:rPr>
              <a:t>Survey close</a:t>
            </a:r>
            <a:endParaRPr lang="en-US" sz="1000" i="1" dirty="0"/>
          </a:p>
        </p:txBody>
      </p:sp>
      <p:cxnSp>
        <p:nvCxnSpPr>
          <p:cNvPr id="148" name="Straight Connector 147"/>
          <p:cNvCxnSpPr>
            <a:stCxn id="145" idx="3"/>
          </p:cNvCxnSpPr>
          <p:nvPr/>
        </p:nvCxnSpPr>
        <p:spPr>
          <a:xfrm>
            <a:off x="2772281" y="4597957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>
            <a:spLocks/>
          </p:cNvSpPr>
          <p:nvPr/>
        </p:nvSpPr>
        <p:spPr>
          <a:xfrm>
            <a:off x="3006575" y="3085240"/>
            <a:ext cx="691138" cy="2184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800" dirty="0" err="1">
                <a:solidFill>
                  <a:schemeClr val="tx1"/>
                </a:solidFill>
              </a:rPr>
              <a:t>Interv</a:t>
            </a:r>
            <a:r>
              <a:rPr lang="en-GB" sz="800" dirty="0">
                <a:solidFill>
                  <a:schemeClr val="tx1"/>
                </a:solidFill>
              </a:rPr>
              <a:t>.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863795" y="3065430"/>
            <a:ext cx="5134594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/>
              <a:t>24/11 End of interview period</a:t>
            </a:r>
            <a:endParaRPr lang="en-GB" sz="1000" i="1" dirty="0">
              <a:solidFill>
                <a:srgbClr val="C00000"/>
              </a:solidFill>
            </a:endParaRPr>
          </a:p>
        </p:txBody>
      </p:sp>
      <p:sp>
        <p:nvSpPr>
          <p:cNvPr id="157" name="Rectangle 156"/>
          <p:cNvSpPr>
            <a:spLocks/>
          </p:cNvSpPr>
          <p:nvPr/>
        </p:nvSpPr>
        <p:spPr>
          <a:xfrm>
            <a:off x="3006575" y="4816609"/>
            <a:ext cx="2479825" cy="2181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Mapping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80" name="Diamond 179"/>
          <p:cNvSpPr/>
          <p:nvPr/>
        </p:nvSpPr>
        <p:spPr>
          <a:xfrm>
            <a:off x="5416312" y="5231364"/>
            <a:ext cx="187620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6" name="Rectangle 185"/>
          <p:cNvSpPr/>
          <p:nvPr/>
        </p:nvSpPr>
        <p:spPr>
          <a:xfrm>
            <a:off x="5599506" y="5191646"/>
            <a:ext cx="3058516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rgbClr val="000000"/>
                </a:solidFill>
              </a:rPr>
              <a:t> n-5 selection finalized</a:t>
            </a:r>
            <a:endParaRPr lang="en-US" sz="1000" i="1" dirty="0"/>
          </a:p>
        </p:txBody>
      </p:sp>
      <p:cxnSp>
        <p:nvCxnSpPr>
          <p:cNvPr id="188" name="Straight Connector 187"/>
          <p:cNvCxnSpPr>
            <a:stCxn id="180" idx="3"/>
          </p:cNvCxnSpPr>
          <p:nvPr/>
        </p:nvCxnSpPr>
        <p:spPr>
          <a:xfrm>
            <a:off x="5603933" y="5294892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Diamond 188"/>
          <p:cNvSpPr/>
          <p:nvPr/>
        </p:nvSpPr>
        <p:spPr>
          <a:xfrm>
            <a:off x="5744811" y="5519795"/>
            <a:ext cx="187620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3" name="Rectangle 192"/>
          <p:cNvSpPr/>
          <p:nvPr/>
        </p:nvSpPr>
        <p:spPr>
          <a:xfrm>
            <a:off x="5928005" y="5480077"/>
            <a:ext cx="3058516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i="1" dirty="0">
                <a:solidFill>
                  <a:srgbClr val="000000"/>
                </a:solidFill>
              </a:rPr>
              <a:t>Final DO organization populated</a:t>
            </a:r>
            <a:endParaRPr lang="en-US" sz="1000" i="1" dirty="0"/>
          </a:p>
        </p:txBody>
      </p:sp>
      <p:cxnSp>
        <p:nvCxnSpPr>
          <p:cNvPr id="201" name="Straight Connector 200"/>
          <p:cNvCxnSpPr>
            <a:stCxn id="189" idx="3"/>
          </p:cNvCxnSpPr>
          <p:nvPr/>
        </p:nvCxnSpPr>
        <p:spPr>
          <a:xfrm>
            <a:off x="5932432" y="5583323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Diamond 202"/>
          <p:cNvSpPr/>
          <p:nvPr/>
        </p:nvSpPr>
        <p:spPr>
          <a:xfrm>
            <a:off x="8092257" y="5533815"/>
            <a:ext cx="154498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05" name="Rectangle 204"/>
          <p:cNvSpPr/>
          <p:nvPr/>
        </p:nvSpPr>
        <p:spPr>
          <a:xfrm>
            <a:off x="7568571" y="5772090"/>
            <a:ext cx="1529258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HR Core TBC end of Mar ‘18</a:t>
            </a:r>
            <a:endParaRPr lang="en-US" sz="1000" i="1" dirty="0"/>
          </a:p>
        </p:txBody>
      </p:sp>
      <p:sp>
        <p:nvSpPr>
          <p:cNvPr id="207" name="Diamond 206"/>
          <p:cNvSpPr/>
          <p:nvPr/>
        </p:nvSpPr>
        <p:spPr>
          <a:xfrm>
            <a:off x="3631510" y="3099392"/>
            <a:ext cx="187620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08" name="Straight Connector 207"/>
          <p:cNvCxnSpPr/>
          <p:nvPr/>
        </p:nvCxnSpPr>
        <p:spPr>
          <a:xfrm>
            <a:off x="3813843" y="3176128"/>
            <a:ext cx="101332" cy="5369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Diamond 208"/>
          <p:cNvSpPr/>
          <p:nvPr/>
        </p:nvSpPr>
        <p:spPr>
          <a:xfrm>
            <a:off x="2837418" y="2858899"/>
            <a:ext cx="187620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10" name="Straight Connector 209"/>
          <p:cNvCxnSpPr/>
          <p:nvPr/>
        </p:nvCxnSpPr>
        <p:spPr>
          <a:xfrm>
            <a:off x="3019751" y="2935635"/>
            <a:ext cx="101332" cy="5369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Diamond 210"/>
          <p:cNvSpPr/>
          <p:nvPr/>
        </p:nvSpPr>
        <p:spPr>
          <a:xfrm>
            <a:off x="4595363" y="3405481"/>
            <a:ext cx="187620" cy="127056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12" name="Straight Connector 211"/>
          <p:cNvCxnSpPr/>
          <p:nvPr/>
        </p:nvCxnSpPr>
        <p:spPr>
          <a:xfrm>
            <a:off x="4605790" y="3482217"/>
            <a:ext cx="101332" cy="5369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endCxn id="45" idx="1"/>
          </p:cNvCxnSpPr>
          <p:nvPr/>
        </p:nvCxnSpPr>
        <p:spPr>
          <a:xfrm flipH="1">
            <a:off x="1700325" y="1374318"/>
            <a:ext cx="11586" cy="4580328"/>
          </a:xfrm>
          <a:prstGeom prst="line">
            <a:avLst/>
          </a:prstGeom>
          <a:ln w="28575">
            <a:solidFill>
              <a:schemeClr val="accent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4742744" y="3474877"/>
            <a:ext cx="101332" cy="5369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505425" y="1371601"/>
            <a:ext cx="0" cy="4751206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305350" y="1371601"/>
            <a:ext cx="0" cy="4751206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534728" y="1371601"/>
            <a:ext cx="0" cy="4751206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8159632" y="1371601"/>
            <a:ext cx="0" cy="4751206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1540536" y="1371601"/>
            <a:ext cx="0" cy="4751206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rot="5400000">
            <a:off x="8134437" y="5692512"/>
            <a:ext cx="85172" cy="4476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40536" y="6134500"/>
            <a:ext cx="6619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7772400" cy="960120"/>
          </a:xfrm>
        </p:spPr>
        <p:txBody>
          <a:bodyPr/>
          <a:lstStyle/>
          <a:p>
            <a:r>
              <a:rPr lang="en-GB" dirty="0"/>
              <a:t>In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752600"/>
            <a:ext cx="6629400" cy="452628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GB" dirty="0"/>
              <a:t>Global organization design has been completed </a:t>
            </a:r>
            <a:r>
              <a:rPr lang="en-GB" i="1" dirty="0"/>
              <a:t>and </a:t>
            </a:r>
            <a:r>
              <a:rPr lang="en-GB" dirty="0"/>
              <a:t>endorsed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GB" dirty="0"/>
              <a:t>41 leadership roles will be appointed by mid November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GB" dirty="0"/>
              <a:t>Mapping </a:t>
            </a:r>
            <a:r>
              <a:rPr lang="en-GB" dirty="0" smtClean="0"/>
              <a:t>and recruitment </a:t>
            </a:r>
            <a:r>
              <a:rPr lang="en-GB" dirty="0"/>
              <a:t>of remaining roles </a:t>
            </a:r>
            <a:r>
              <a:rPr lang="en-GB" dirty="0" smtClean="0"/>
              <a:t>to </a:t>
            </a:r>
            <a:r>
              <a:rPr lang="en-GB" dirty="0"/>
              <a:t>be completed by the end of the year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GB" dirty="0"/>
              <a:t>Next </a:t>
            </a:r>
            <a:r>
              <a:rPr lang="en-GB" dirty="0" smtClean="0"/>
              <a:t>Webcast: </a:t>
            </a:r>
            <a:r>
              <a:rPr lang="en-GB" dirty="0"/>
              <a:t>December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800" y="4043616"/>
            <a:ext cx="457200" cy="374784"/>
          </a:xfrm>
          <a:prstGeom prst="rect">
            <a:avLst/>
          </a:prstGeom>
          <a:solidFill>
            <a:schemeClr val="bg1"/>
          </a:solidFill>
          <a:ln w="28575">
            <a:solidFill>
              <a:srgbClr val="539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7CF9-5B10-D24F-A8D7-45A9778164F7}" type="slidenum">
              <a:rPr lang="uk-UA" smtClean="0"/>
              <a:pPr/>
              <a:t>24</a:t>
            </a:fld>
            <a:endParaRPr lang="uk-U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48" y="1404851"/>
            <a:ext cx="1219105" cy="12191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48" y="2486892"/>
            <a:ext cx="1219105" cy="121910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149116"/>
            <a:ext cx="457200" cy="374784"/>
          </a:xfrm>
          <a:prstGeom prst="rect">
            <a:avLst/>
          </a:prstGeom>
          <a:solidFill>
            <a:schemeClr val="bg1"/>
          </a:solidFill>
          <a:ln w="28575">
            <a:solidFill>
              <a:srgbClr val="539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VHe8_kWBE2RF4omN3X63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Novartis 2016">
      <a:dk1>
        <a:srgbClr val="000000"/>
      </a:dk1>
      <a:lt1>
        <a:srgbClr val="FFFFFF"/>
      </a:lt1>
      <a:dk2>
        <a:srgbClr val="404040"/>
      </a:dk2>
      <a:lt2>
        <a:srgbClr val="CCCCCC"/>
      </a:lt2>
      <a:accent1>
        <a:srgbClr val="0460A9"/>
      </a:accent1>
      <a:accent2>
        <a:srgbClr val="E74A21"/>
      </a:accent2>
      <a:accent3>
        <a:srgbClr val="EC9A1E"/>
      </a:accent3>
      <a:accent4>
        <a:srgbClr val="8D1F1B"/>
      </a:accent4>
      <a:accent5>
        <a:srgbClr val="7F7F7F"/>
      </a:accent5>
      <a:accent6>
        <a:srgbClr val="404040"/>
      </a:accent6>
      <a:hlink>
        <a:srgbClr val="0460A9"/>
      </a:hlink>
      <a:folHlink>
        <a:srgbClr val="0460A9"/>
      </a:folHlink>
    </a:clrScheme>
    <a:fontScheme name="Novartis 2016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Novartis 2016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lank" id="{3F82403C-12A1-48DE-98CE-22D763759EA9}" vid="{29229F9C-5F03-4EAC-9AD9-5098AE5586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238</TotalTime>
  <Words>1783</Words>
  <Application>Microsoft Office PowerPoint</Application>
  <PresentationFormat>On-screen Show (4:3)</PresentationFormat>
  <Paragraphs>561</Paragraphs>
  <Slides>24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Arial</vt:lpstr>
      <vt:lpstr>Arial </vt:lpstr>
      <vt:lpstr>Arial Black</vt:lpstr>
      <vt:lpstr>Arial Body</vt:lpstr>
      <vt:lpstr>Calibri</vt:lpstr>
      <vt:lpstr>Gill Sans</vt:lpstr>
      <vt:lpstr>Marlett</vt:lpstr>
      <vt:lpstr>Roboto Light</vt:lpstr>
      <vt:lpstr>Segoe UI Semilight</vt:lpstr>
      <vt:lpstr>Symbol</vt:lpstr>
      <vt:lpstr>Times New Roman</vt:lpstr>
      <vt:lpstr>Wingdings</vt:lpstr>
      <vt:lpstr>blank</vt:lpstr>
      <vt:lpstr>think-cell Slide</vt:lpstr>
      <vt:lpstr>Data Operations Global Webcast November 9, 2017</vt:lpstr>
      <vt:lpstr>The puzzle is almost complete ...</vt:lpstr>
      <vt:lpstr>Objectives for this webcast</vt:lpstr>
      <vt:lpstr>RECAP: Data Management &amp; Statistical Programming:  focus areas</vt:lpstr>
      <vt:lpstr>RECAP: together we are stronger…</vt:lpstr>
      <vt:lpstr>What success looks like..</vt:lpstr>
      <vt:lpstr>Our achievements (Q3 / Q4)</vt:lpstr>
      <vt:lpstr>UPDATE : DO transformation</vt:lpstr>
      <vt:lpstr>Global DO organization</vt:lpstr>
      <vt:lpstr>Objectives for this webcast</vt:lpstr>
      <vt:lpstr>RECAP : Talent selection objectives for 41 n-4 roles</vt:lpstr>
      <vt:lpstr>3 differentiated selection processes, 41 n-4 positions, 37 confirmed</vt:lpstr>
      <vt:lpstr>DO Development Units </vt:lpstr>
      <vt:lpstr>Data Management</vt:lpstr>
      <vt:lpstr>Statistical Programming</vt:lpstr>
      <vt:lpstr>Data Base Development</vt:lpstr>
      <vt:lpstr>Clinical Data Standards </vt:lpstr>
      <vt:lpstr>Data Provisioning &amp; Analytics </vt:lpstr>
      <vt:lpstr>Training, Operations &amp; Process Improvement (TOPI) </vt:lpstr>
      <vt:lpstr>Innovation &amp; Technical Implementation </vt:lpstr>
      <vt:lpstr>Objectives for this webcast</vt:lpstr>
      <vt:lpstr>Agreed selection processes for all remaining DO positions</vt:lpstr>
      <vt:lpstr>Rest of the organization selection process</vt:lpstr>
      <vt:lpstr>In Summary</vt:lpstr>
    </vt:vector>
  </TitlesOfParts>
  <Company>Novartis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Footprint shift: Communications plan</dc:title>
  <dc:creator>Kenny, Dermot</dc:creator>
  <cp:lastModifiedBy>Kenny, Dermot</cp:lastModifiedBy>
  <cp:revision>315</cp:revision>
  <cp:lastPrinted>2017-08-14T09:01:58Z</cp:lastPrinted>
  <dcterms:created xsi:type="dcterms:W3CDTF">2016-10-18T17:30:32Z</dcterms:created>
  <dcterms:modified xsi:type="dcterms:W3CDTF">2017-11-10T09:42:30Z</dcterms:modified>
</cp:coreProperties>
</file>